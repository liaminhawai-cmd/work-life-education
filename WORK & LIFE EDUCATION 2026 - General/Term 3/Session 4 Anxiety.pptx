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sldIdLst>
    <p:sldId id="284" r:id="rId5"/>
    <p:sldId id="279" r:id="rId6"/>
    <p:sldId id="298" r:id="rId7"/>
    <p:sldId id="294" r:id="rId8"/>
    <p:sldId id="297" r:id="rId9"/>
    <p:sldId id="296" r:id="rId10"/>
    <p:sldId id="299" r:id="rId11"/>
    <p:sldId id="278" r:id="rId12"/>
    <p:sldId id="273" r:id="rId13"/>
    <p:sldId id="300" r:id="rId14"/>
    <p:sldId id="280" r:id="rId15"/>
    <p:sldId id="293" r:id="rId16"/>
    <p:sldId id="282" r:id="rId17"/>
    <p:sldId id="283" r:id="rId18"/>
    <p:sldId id="301" r:id="rId19"/>
    <p:sldId id="262" r:id="rId20"/>
    <p:sldId id="264" r:id="rId21"/>
    <p:sldId id="3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7F1"/>
    <a:srgbClr val="344529"/>
    <a:srgbClr val="2B3922"/>
    <a:srgbClr val="2E3722"/>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626EA9-5D91-4A4F-DD21-28C52B8E83D8}" v="2" dt="2026-08-10T04:39:06.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KYRIACOU" userId="S::08492146@kew.vic.edu.au::dba7d0c1-48fd-47a8-ab49-ef701137ab86" providerId="AD" clId="Web-{74626EA9-5D91-4A4F-DD21-28C52B8E83D8}"/>
    <pc:docChg chg="modSld">
      <pc:chgData name="Christopher KYRIACOU" userId="S::08492146@kew.vic.edu.au::dba7d0c1-48fd-47a8-ab49-ef701137ab86" providerId="AD" clId="Web-{74626EA9-5D91-4A4F-DD21-28C52B8E83D8}" dt="2026-08-10T04:39:06.635" v="1" actId="20577"/>
      <pc:docMkLst>
        <pc:docMk/>
      </pc:docMkLst>
      <pc:sldChg chg="modSp">
        <pc:chgData name="Christopher KYRIACOU" userId="S::08492146@kew.vic.edu.au::dba7d0c1-48fd-47a8-ab49-ef701137ab86" providerId="AD" clId="Web-{74626EA9-5D91-4A4F-DD21-28C52B8E83D8}" dt="2026-08-10T04:39:06.635" v="1" actId="20577"/>
        <pc:sldMkLst>
          <pc:docMk/>
          <pc:sldMk cId="3224633159" sldId="296"/>
        </pc:sldMkLst>
        <pc:spChg chg="mod">
          <ac:chgData name="Christopher KYRIACOU" userId="S::08492146@kew.vic.edu.au::dba7d0c1-48fd-47a8-ab49-ef701137ab86" providerId="AD" clId="Web-{74626EA9-5D91-4A4F-DD21-28C52B8E83D8}" dt="2026-08-10T04:39:06.635" v="1" actId="20577"/>
          <ac:spMkLst>
            <pc:docMk/>
            <pc:sldMk cId="3224633159" sldId="296"/>
            <ac:spMk id="3" creationId="{50240D35-C6E8-B4DC-F99F-8A915FCFFC97}"/>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www.beyondblue.org.au/about-us/research-projects/statistics-and-references?sec=sec-anx"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beyondblue.org.au/about-us/research-projects/statistics-and-references?sec=sec-anx" TargetMode="Externa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3CE36D-C610-42AF-9008-8BA176A6C9C2}" type="doc">
      <dgm:prSet loTypeId="urn:microsoft.com/office/officeart/2008/layout/LinedList" loCatId="list" qsTypeId="urn:microsoft.com/office/officeart/2005/8/quickstyle/simple1#1" qsCatId="simple" csTypeId="urn:microsoft.com/office/officeart/2005/8/colors/accent2_2#1" csCatId="accent2"/>
      <dgm:spPr/>
      <dgm:t>
        <a:bodyPr/>
        <a:lstStyle/>
        <a:p>
          <a:endParaRPr lang="en-US"/>
        </a:p>
      </dgm:t>
    </dgm:pt>
    <dgm:pt modelId="{85216C65-38BE-4D51-8934-41DD9C161DBA}">
      <dgm:prSet/>
      <dgm:spPr/>
      <dgm:t>
        <a:bodyPr/>
        <a:lstStyle/>
        <a:p>
          <a:r>
            <a:rPr lang="en-AU"/>
            <a:t>Anxiety is the most common mental health condition in Australia. On average, one in four people – one in three women and one in ﬁve men – will experience anxiety at some stage in their life</a:t>
          </a:r>
          <a:r>
            <a:rPr lang="en-AU" baseline="30000">
              <a:hlinkClick xmlns:r="http://schemas.openxmlformats.org/officeDocument/2006/relationships" r:id="rId1"/>
            </a:rPr>
            <a:t>1</a:t>
          </a:r>
          <a:r>
            <a:rPr lang="en-AU"/>
            <a:t>. </a:t>
          </a:r>
          <a:endParaRPr lang="en-US"/>
        </a:p>
      </dgm:t>
    </dgm:pt>
    <dgm:pt modelId="{1524AE44-02C6-405B-955A-6F413739D92B}" type="parTrans" cxnId="{71FF7B84-DD9A-4540-B76B-9B3C9FCDC5CC}">
      <dgm:prSet/>
      <dgm:spPr/>
      <dgm:t>
        <a:bodyPr/>
        <a:lstStyle/>
        <a:p>
          <a:endParaRPr lang="en-US"/>
        </a:p>
      </dgm:t>
    </dgm:pt>
    <dgm:pt modelId="{78F8AC5D-B6F1-4F71-9870-37040AEF3377}" type="sibTrans" cxnId="{71FF7B84-DD9A-4540-B76B-9B3C9FCDC5CC}">
      <dgm:prSet/>
      <dgm:spPr/>
      <dgm:t>
        <a:bodyPr/>
        <a:lstStyle/>
        <a:p>
          <a:endParaRPr lang="en-US"/>
        </a:p>
      </dgm:t>
    </dgm:pt>
    <dgm:pt modelId="{79955BF3-192D-4E20-86F3-3E99918294B7}">
      <dgm:prSet/>
      <dgm:spPr/>
      <dgm:t>
        <a:bodyPr/>
        <a:lstStyle/>
        <a:p>
          <a:r>
            <a:rPr lang="en-AU"/>
            <a:t>In a 12-month period, over two million Australians experience anxiety</a:t>
          </a:r>
          <a:r>
            <a:rPr lang="en-AU" baseline="30000">
              <a:hlinkClick xmlns:r="http://schemas.openxmlformats.org/officeDocument/2006/relationships" r:id="rId1"/>
            </a:rPr>
            <a:t>2</a:t>
          </a:r>
          <a:r>
            <a:rPr lang="en-AU"/>
            <a:t>.</a:t>
          </a:r>
          <a:endParaRPr lang="en-US"/>
        </a:p>
      </dgm:t>
    </dgm:pt>
    <dgm:pt modelId="{F53B7A8D-E458-48BB-990A-F955AC20F277}" type="parTrans" cxnId="{6C02257D-0813-4290-9B1B-8D2D16DC0FEF}">
      <dgm:prSet/>
      <dgm:spPr/>
      <dgm:t>
        <a:bodyPr/>
        <a:lstStyle/>
        <a:p>
          <a:endParaRPr lang="en-US"/>
        </a:p>
      </dgm:t>
    </dgm:pt>
    <dgm:pt modelId="{4055B328-73FC-40A3-89D9-3DF8509D0CE1}" type="sibTrans" cxnId="{6C02257D-0813-4290-9B1B-8D2D16DC0FEF}">
      <dgm:prSet/>
      <dgm:spPr/>
      <dgm:t>
        <a:bodyPr/>
        <a:lstStyle/>
        <a:p>
          <a:endParaRPr lang="en-US"/>
        </a:p>
      </dgm:t>
    </dgm:pt>
    <dgm:pt modelId="{E4B8A44F-7E4B-4550-ACF3-FB9C4F0AAB73}">
      <dgm:prSet/>
      <dgm:spPr/>
      <dgm:t>
        <a:bodyPr/>
        <a:lstStyle/>
        <a:p>
          <a:r>
            <a:rPr lang="en-AU"/>
            <a:t>Anxiety is common, but the sooner people with anxiety get support, the more likely they are to recover.</a:t>
          </a:r>
          <a:endParaRPr lang="en-US"/>
        </a:p>
      </dgm:t>
    </dgm:pt>
    <dgm:pt modelId="{64B8F47F-C779-479C-A03C-3804C027DBAC}" type="parTrans" cxnId="{EF5CA0B7-C595-48F7-8643-9AE7DA515F64}">
      <dgm:prSet/>
      <dgm:spPr/>
      <dgm:t>
        <a:bodyPr/>
        <a:lstStyle/>
        <a:p>
          <a:endParaRPr lang="en-US"/>
        </a:p>
      </dgm:t>
    </dgm:pt>
    <dgm:pt modelId="{7BEA53F7-1BF3-4FAB-9199-ED52FE8A32A0}" type="sibTrans" cxnId="{EF5CA0B7-C595-48F7-8643-9AE7DA515F64}">
      <dgm:prSet/>
      <dgm:spPr/>
      <dgm:t>
        <a:bodyPr/>
        <a:lstStyle/>
        <a:p>
          <a:endParaRPr lang="en-US"/>
        </a:p>
      </dgm:t>
    </dgm:pt>
    <dgm:pt modelId="{84D767D2-5749-453A-86EC-60840C8A630A}" type="pres">
      <dgm:prSet presAssocID="{BC3CE36D-C610-42AF-9008-8BA176A6C9C2}" presName="vert0" presStyleCnt="0">
        <dgm:presLayoutVars>
          <dgm:dir/>
          <dgm:animOne val="branch"/>
          <dgm:animLvl val="lvl"/>
        </dgm:presLayoutVars>
      </dgm:prSet>
      <dgm:spPr/>
    </dgm:pt>
    <dgm:pt modelId="{2B85B58B-4507-488C-8E29-81A649DBE375}" type="pres">
      <dgm:prSet presAssocID="{85216C65-38BE-4D51-8934-41DD9C161DBA}" presName="thickLine" presStyleLbl="alignNode1" presStyleIdx="0" presStyleCnt="3"/>
      <dgm:spPr/>
    </dgm:pt>
    <dgm:pt modelId="{16CA1932-AB09-424D-9996-F8AE6F8222FB}" type="pres">
      <dgm:prSet presAssocID="{85216C65-38BE-4D51-8934-41DD9C161DBA}" presName="horz1" presStyleCnt="0"/>
      <dgm:spPr/>
    </dgm:pt>
    <dgm:pt modelId="{4E8B4BB9-7A8D-44B4-997A-7CD8B40798D7}" type="pres">
      <dgm:prSet presAssocID="{85216C65-38BE-4D51-8934-41DD9C161DBA}" presName="tx1" presStyleLbl="revTx" presStyleIdx="0" presStyleCnt="3"/>
      <dgm:spPr/>
    </dgm:pt>
    <dgm:pt modelId="{08BAF131-E462-4636-A0FE-12F3103E368D}" type="pres">
      <dgm:prSet presAssocID="{85216C65-38BE-4D51-8934-41DD9C161DBA}" presName="vert1" presStyleCnt="0"/>
      <dgm:spPr/>
    </dgm:pt>
    <dgm:pt modelId="{926BB081-8C9C-4485-A04F-56EDBEC32F7A}" type="pres">
      <dgm:prSet presAssocID="{79955BF3-192D-4E20-86F3-3E99918294B7}" presName="thickLine" presStyleLbl="alignNode1" presStyleIdx="1" presStyleCnt="3"/>
      <dgm:spPr/>
    </dgm:pt>
    <dgm:pt modelId="{6E0210CD-F4FC-442A-8E3F-D3CDE8F3AE55}" type="pres">
      <dgm:prSet presAssocID="{79955BF3-192D-4E20-86F3-3E99918294B7}" presName="horz1" presStyleCnt="0"/>
      <dgm:spPr/>
    </dgm:pt>
    <dgm:pt modelId="{AFC9377E-C4B4-4DCA-9C9A-4487494971ED}" type="pres">
      <dgm:prSet presAssocID="{79955BF3-192D-4E20-86F3-3E99918294B7}" presName="tx1" presStyleLbl="revTx" presStyleIdx="1" presStyleCnt="3"/>
      <dgm:spPr/>
    </dgm:pt>
    <dgm:pt modelId="{9E5659DA-B1F6-404B-87F3-7DFA49042683}" type="pres">
      <dgm:prSet presAssocID="{79955BF3-192D-4E20-86F3-3E99918294B7}" presName="vert1" presStyleCnt="0"/>
      <dgm:spPr/>
    </dgm:pt>
    <dgm:pt modelId="{961ABFB0-F67B-47BF-89C4-727EEA393B4C}" type="pres">
      <dgm:prSet presAssocID="{E4B8A44F-7E4B-4550-ACF3-FB9C4F0AAB73}" presName="thickLine" presStyleLbl="alignNode1" presStyleIdx="2" presStyleCnt="3"/>
      <dgm:spPr/>
    </dgm:pt>
    <dgm:pt modelId="{E83AF268-B9D9-4197-A970-DDCAC401C00A}" type="pres">
      <dgm:prSet presAssocID="{E4B8A44F-7E4B-4550-ACF3-FB9C4F0AAB73}" presName="horz1" presStyleCnt="0"/>
      <dgm:spPr/>
    </dgm:pt>
    <dgm:pt modelId="{CFA72971-3221-4B67-8044-73065E9E13E2}" type="pres">
      <dgm:prSet presAssocID="{E4B8A44F-7E4B-4550-ACF3-FB9C4F0AAB73}" presName="tx1" presStyleLbl="revTx" presStyleIdx="2" presStyleCnt="3"/>
      <dgm:spPr/>
    </dgm:pt>
    <dgm:pt modelId="{B0FD3089-8E3D-4418-B6A6-0AA4FD00349F}" type="pres">
      <dgm:prSet presAssocID="{E4B8A44F-7E4B-4550-ACF3-FB9C4F0AAB73}" presName="vert1" presStyleCnt="0"/>
      <dgm:spPr/>
    </dgm:pt>
  </dgm:ptLst>
  <dgm:cxnLst>
    <dgm:cxn modelId="{FCD9BF0E-FFE7-43F6-A5A2-B457B5300043}" type="presOf" srcId="{E4B8A44F-7E4B-4550-ACF3-FB9C4F0AAB73}" destId="{CFA72971-3221-4B67-8044-73065E9E13E2}" srcOrd="0" destOrd="0" presId="urn:microsoft.com/office/officeart/2008/layout/LinedList"/>
    <dgm:cxn modelId="{936D5513-EA8A-4F37-8129-F09CFC6A4586}" type="presOf" srcId="{BC3CE36D-C610-42AF-9008-8BA176A6C9C2}" destId="{84D767D2-5749-453A-86EC-60840C8A630A}" srcOrd="0" destOrd="0" presId="urn:microsoft.com/office/officeart/2008/layout/LinedList"/>
    <dgm:cxn modelId="{3CA28444-C736-4C30-B769-069997388A76}" type="presOf" srcId="{85216C65-38BE-4D51-8934-41DD9C161DBA}" destId="{4E8B4BB9-7A8D-44B4-997A-7CD8B40798D7}" srcOrd="0" destOrd="0" presId="urn:microsoft.com/office/officeart/2008/layout/LinedList"/>
    <dgm:cxn modelId="{6ACF7845-7F05-44E5-9D5F-A95549738261}" type="presOf" srcId="{79955BF3-192D-4E20-86F3-3E99918294B7}" destId="{AFC9377E-C4B4-4DCA-9C9A-4487494971ED}" srcOrd="0" destOrd="0" presId="urn:microsoft.com/office/officeart/2008/layout/LinedList"/>
    <dgm:cxn modelId="{6C02257D-0813-4290-9B1B-8D2D16DC0FEF}" srcId="{BC3CE36D-C610-42AF-9008-8BA176A6C9C2}" destId="{79955BF3-192D-4E20-86F3-3E99918294B7}" srcOrd="1" destOrd="0" parTransId="{F53B7A8D-E458-48BB-990A-F955AC20F277}" sibTransId="{4055B328-73FC-40A3-89D9-3DF8509D0CE1}"/>
    <dgm:cxn modelId="{71FF7B84-DD9A-4540-B76B-9B3C9FCDC5CC}" srcId="{BC3CE36D-C610-42AF-9008-8BA176A6C9C2}" destId="{85216C65-38BE-4D51-8934-41DD9C161DBA}" srcOrd="0" destOrd="0" parTransId="{1524AE44-02C6-405B-955A-6F413739D92B}" sibTransId="{78F8AC5D-B6F1-4F71-9870-37040AEF3377}"/>
    <dgm:cxn modelId="{EF5CA0B7-C595-48F7-8643-9AE7DA515F64}" srcId="{BC3CE36D-C610-42AF-9008-8BA176A6C9C2}" destId="{E4B8A44F-7E4B-4550-ACF3-FB9C4F0AAB73}" srcOrd="2" destOrd="0" parTransId="{64B8F47F-C779-479C-A03C-3804C027DBAC}" sibTransId="{7BEA53F7-1BF3-4FAB-9199-ED52FE8A32A0}"/>
    <dgm:cxn modelId="{833B7D29-1EBC-4F4B-AA56-B28560F207E1}" type="presParOf" srcId="{84D767D2-5749-453A-86EC-60840C8A630A}" destId="{2B85B58B-4507-488C-8E29-81A649DBE375}" srcOrd="0" destOrd="0" presId="urn:microsoft.com/office/officeart/2008/layout/LinedList"/>
    <dgm:cxn modelId="{4D0A0993-E087-4A60-985F-24798AC0C218}" type="presParOf" srcId="{84D767D2-5749-453A-86EC-60840C8A630A}" destId="{16CA1932-AB09-424D-9996-F8AE6F8222FB}" srcOrd="1" destOrd="0" presId="urn:microsoft.com/office/officeart/2008/layout/LinedList"/>
    <dgm:cxn modelId="{A851B41B-12A0-413F-A418-51A9448DE535}" type="presParOf" srcId="{16CA1932-AB09-424D-9996-F8AE6F8222FB}" destId="{4E8B4BB9-7A8D-44B4-997A-7CD8B40798D7}" srcOrd="0" destOrd="0" presId="urn:microsoft.com/office/officeart/2008/layout/LinedList"/>
    <dgm:cxn modelId="{FC972850-A3CC-40A5-A4DB-6584DF437C47}" type="presParOf" srcId="{16CA1932-AB09-424D-9996-F8AE6F8222FB}" destId="{08BAF131-E462-4636-A0FE-12F3103E368D}" srcOrd="1" destOrd="0" presId="urn:microsoft.com/office/officeart/2008/layout/LinedList"/>
    <dgm:cxn modelId="{67CEA805-555A-4204-B77F-52FEE37A98B1}" type="presParOf" srcId="{84D767D2-5749-453A-86EC-60840C8A630A}" destId="{926BB081-8C9C-4485-A04F-56EDBEC32F7A}" srcOrd="2" destOrd="0" presId="urn:microsoft.com/office/officeart/2008/layout/LinedList"/>
    <dgm:cxn modelId="{CD539372-1BDB-4147-B126-F2E7D2F048EC}" type="presParOf" srcId="{84D767D2-5749-453A-86EC-60840C8A630A}" destId="{6E0210CD-F4FC-442A-8E3F-D3CDE8F3AE55}" srcOrd="3" destOrd="0" presId="urn:microsoft.com/office/officeart/2008/layout/LinedList"/>
    <dgm:cxn modelId="{836ABB82-BBD4-4C37-A9CC-08477999BB6F}" type="presParOf" srcId="{6E0210CD-F4FC-442A-8E3F-D3CDE8F3AE55}" destId="{AFC9377E-C4B4-4DCA-9C9A-4487494971ED}" srcOrd="0" destOrd="0" presId="urn:microsoft.com/office/officeart/2008/layout/LinedList"/>
    <dgm:cxn modelId="{42175C23-8730-44E7-8861-12F10471B89F}" type="presParOf" srcId="{6E0210CD-F4FC-442A-8E3F-D3CDE8F3AE55}" destId="{9E5659DA-B1F6-404B-87F3-7DFA49042683}" srcOrd="1" destOrd="0" presId="urn:microsoft.com/office/officeart/2008/layout/LinedList"/>
    <dgm:cxn modelId="{17C7D833-6867-4517-9DC9-C205CE0D2976}" type="presParOf" srcId="{84D767D2-5749-453A-86EC-60840C8A630A}" destId="{961ABFB0-F67B-47BF-89C4-727EEA393B4C}" srcOrd="4" destOrd="0" presId="urn:microsoft.com/office/officeart/2008/layout/LinedList"/>
    <dgm:cxn modelId="{7BC69F51-10EF-4D54-AC59-EB0C5E72C362}" type="presParOf" srcId="{84D767D2-5749-453A-86EC-60840C8A630A}" destId="{E83AF268-B9D9-4197-A970-DDCAC401C00A}" srcOrd="5" destOrd="0" presId="urn:microsoft.com/office/officeart/2008/layout/LinedList"/>
    <dgm:cxn modelId="{6BAB9C9A-4909-42C3-A4B5-4F57F6FBAB9B}" type="presParOf" srcId="{E83AF268-B9D9-4197-A970-DDCAC401C00A}" destId="{CFA72971-3221-4B67-8044-73065E9E13E2}" srcOrd="0" destOrd="0" presId="urn:microsoft.com/office/officeart/2008/layout/LinedList"/>
    <dgm:cxn modelId="{9E60C0EA-712E-4D9D-97C1-FAF3D1643B2C}" type="presParOf" srcId="{E83AF268-B9D9-4197-A970-DDCAC401C00A}" destId="{B0FD3089-8E3D-4418-B6A6-0AA4FD00349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8C1998-1DE4-4C52-9792-5C988C0AE059}" type="doc">
      <dgm:prSet loTypeId="urn:microsoft.com/office/officeart/2008/layout/LinedList" loCatId="list" qsTypeId="urn:microsoft.com/office/officeart/2005/8/quickstyle/simple1#2" qsCatId="simple" csTypeId="urn:microsoft.com/office/officeart/2005/8/colors/accent2_2#2" csCatId="accent2"/>
      <dgm:spPr/>
      <dgm:t>
        <a:bodyPr/>
        <a:lstStyle/>
        <a:p>
          <a:endParaRPr lang="en-US"/>
        </a:p>
      </dgm:t>
    </dgm:pt>
    <dgm:pt modelId="{822A49BB-252A-407A-B4B0-770BE8122D75}">
      <dgm:prSet/>
      <dgm:spPr/>
      <dgm:t>
        <a:bodyPr/>
        <a:lstStyle/>
        <a:p>
          <a:r>
            <a:rPr lang="en-AU" b="1"/>
            <a:t>Anxiety is more than just feeling stressed or worried. While stress and anxious feelings are a common response to a situation where we feel under pressure, they usually pass once the stressful situation has passed, or ‘stressor’ is removed.</a:t>
          </a:r>
          <a:endParaRPr lang="en-US"/>
        </a:p>
      </dgm:t>
    </dgm:pt>
    <dgm:pt modelId="{3A4F5D7A-57DC-4EC3-8B85-EAFAB7402BF3}" type="parTrans" cxnId="{13AC1EB8-BE37-4C7D-B02D-56E91446EA67}">
      <dgm:prSet/>
      <dgm:spPr/>
      <dgm:t>
        <a:bodyPr/>
        <a:lstStyle/>
        <a:p>
          <a:endParaRPr lang="en-US"/>
        </a:p>
      </dgm:t>
    </dgm:pt>
    <dgm:pt modelId="{52470D66-CB34-4D33-9EF2-B7C2BF8F9D6C}" type="sibTrans" cxnId="{13AC1EB8-BE37-4C7D-B02D-56E91446EA67}">
      <dgm:prSet/>
      <dgm:spPr/>
      <dgm:t>
        <a:bodyPr/>
        <a:lstStyle/>
        <a:p>
          <a:endParaRPr lang="en-US"/>
        </a:p>
      </dgm:t>
    </dgm:pt>
    <dgm:pt modelId="{9458D9E0-FA22-4963-987A-A8D3A9D96369}">
      <dgm:prSet/>
      <dgm:spPr/>
      <dgm:t>
        <a:bodyPr/>
        <a:lstStyle/>
        <a:p>
          <a:r>
            <a:rPr lang="en-AU"/>
            <a:t>Anxiety is when these anxious feelings don't go away – when they're ongoing and happen without any particular reason or cause. It’s a serious condition that makes it hard to cope with daily life. Everyone feels anxious from time to time, but for someone experiencing anxiety, these feelings aren't easily controlled.</a:t>
          </a:r>
          <a:endParaRPr lang="en-US"/>
        </a:p>
      </dgm:t>
    </dgm:pt>
    <dgm:pt modelId="{E9BD12D7-2094-4AF6-B6A5-D3703C338D4E}" type="parTrans" cxnId="{9ECFD0BD-EEBB-446E-9661-F036D7F49129}">
      <dgm:prSet/>
      <dgm:spPr/>
      <dgm:t>
        <a:bodyPr/>
        <a:lstStyle/>
        <a:p>
          <a:endParaRPr lang="en-US"/>
        </a:p>
      </dgm:t>
    </dgm:pt>
    <dgm:pt modelId="{B4F9507C-172E-497C-AD91-F891F2EBD280}" type="sibTrans" cxnId="{9ECFD0BD-EEBB-446E-9661-F036D7F49129}">
      <dgm:prSet/>
      <dgm:spPr/>
      <dgm:t>
        <a:bodyPr/>
        <a:lstStyle/>
        <a:p>
          <a:endParaRPr lang="en-US"/>
        </a:p>
      </dgm:t>
    </dgm:pt>
    <dgm:pt modelId="{F1273901-CDEA-4282-A9AD-14D844096C6D}" type="pres">
      <dgm:prSet presAssocID="{7A8C1998-1DE4-4C52-9792-5C988C0AE059}" presName="vert0" presStyleCnt="0">
        <dgm:presLayoutVars>
          <dgm:dir/>
          <dgm:animOne val="branch"/>
          <dgm:animLvl val="lvl"/>
        </dgm:presLayoutVars>
      </dgm:prSet>
      <dgm:spPr/>
    </dgm:pt>
    <dgm:pt modelId="{4AE2E2D8-8021-4FC4-933E-C416A831FC4B}" type="pres">
      <dgm:prSet presAssocID="{822A49BB-252A-407A-B4B0-770BE8122D75}" presName="thickLine" presStyleLbl="alignNode1" presStyleIdx="0" presStyleCnt="2"/>
      <dgm:spPr/>
    </dgm:pt>
    <dgm:pt modelId="{90CE1FB5-0A51-41F7-927F-DA9FBAAA1BBB}" type="pres">
      <dgm:prSet presAssocID="{822A49BB-252A-407A-B4B0-770BE8122D75}" presName="horz1" presStyleCnt="0"/>
      <dgm:spPr/>
    </dgm:pt>
    <dgm:pt modelId="{663413CC-2DAF-4909-93F7-ACFE2E0CAADB}" type="pres">
      <dgm:prSet presAssocID="{822A49BB-252A-407A-B4B0-770BE8122D75}" presName="tx1" presStyleLbl="revTx" presStyleIdx="0" presStyleCnt="2"/>
      <dgm:spPr/>
    </dgm:pt>
    <dgm:pt modelId="{8BEC2E0E-AE9D-44D1-8093-6E28EA065E42}" type="pres">
      <dgm:prSet presAssocID="{822A49BB-252A-407A-B4B0-770BE8122D75}" presName="vert1" presStyleCnt="0"/>
      <dgm:spPr/>
    </dgm:pt>
    <dgm:pt modelId="{C5670604-4F33-45ED-A3C4-DE7E2E530BF5}" type="pres">
      <dgm:prSet presAssocID="{9458D9E0-FA22-4963-987A-A8D3A9D96369}" presName="thickLine" presStyleLbl="alignNode1" presStyleIdx="1" presStyleCnt="2"/>
      <dgm:spPr/>
    </dgm:pt>
    <dgm:pt modelId="{01FCD4C2-0556-4A09-B153-224C0963F1E9}" type="pres">
      <dgm:prSet presAssocID="{9458D9E0-FA22-4963-987A-A8D3A9D96369}" presName="horz1" presStyleCnt="0"/>
      <dgm:spPr/>
    </dgm:pt>
    <dgm:pt modelId="{F1423FE0-3509-4F25-9F05-A355AAAFEBBE}" type="pres">
      <dgm:prSet presAssocID="{9458D9E0-FA22-4963-987A-A8D3A9D96369}" presName="tx1" presStyleLbl="revTx" presStyleIdx="1" presStyleCnt="2"/>
      <dgm:spPr/>
    </dgm:pt>
    <dgm:pt modelId="{ED840072-7370-4A43-9B8D-2E875A0E0AD5}" type="pres">
      <dgm:prSet presAssocID="{9458D9E0-FA22-4963-987A-A8D3A9D96369}" presName="vert1" presStyleCnt="0"/>
      <dgm:spPr/>
    </dgm:pt>
  </dgm:ptLst>
  <dgm:cxnLst>
    <dgm:cxn modelId="{03E1533A-D548-4A17-AD50-60EB62937D2F}" type="presOf" srcId="{822A49BB-252A-407A-B4B0-770BE8122D75}" destId="{663413CC-2DAF-4909-93F7-ACFE2E0CAADB}" srcOrd="0" destOrd="0" presId="urn:microsoft.com/office/officeart/2008/layout/LinedList"/>
    <dgm:cxn modelId="{6E594A49-CC00-4F30-B6C3-EDD7873EA71A}" type="presOf" srcId="{7A8C1998-1DE4-4C52-9792-5C988C0AE059}" destId="{F1273901-CDEA-4282-A9AD-14D844096C6D}" srcOrd="0" destOrd="0" presId="urn:microsoft.com/office/officeart/2008/layout/LinedList"/>
    <dgm:cxn modelId="{13AC1EB8-BE37-4C7D-B02D-56E91446EA67}" srcId="{7A8C1998-1DE4-4C52-9792-5C988C0AE059}" destId="{822A49BB-252A-407A-B4B0-770BE8122D75}" srcOrd="0" destOrd="0" parTransId="{3A4F5D7A-57DC-4EC3-8B85-EAFAB7402BF3}" sibTransId="{52470D66-CB34-4D33-9EF2-B7C2BF8F9D6C}"/>
    <dgm:cxn modelId="{9ECFD0BD-EEBB-446E-9661-F036D7F49129}" srcId="{7A8C1998-1DE4-4C52-9792-5C988C0AE059}" destId="{9458D9E0-FA22-4963-987A-A8D3A9D96369}" srcOrd="1" destOrd="0" parTransId="{E9BD12D7-2094-4AF6-B6A5-D3703C338D4E}" sibTransId="{B4F9507C-172E-497C-AD91-F891F2EBD280}"/>
    <dgm:cxn modelId="{E50D5EE5-C27C-4B80-9F91-297EC09A9E39}" type="presOf" srcId="{9458D9E0-FA22-4963-987A-A8D3A9D96369}" destId="{F1423FE0-3509-4F25-9F05-A355AAAFEBBE}" srcOrd="0" destOrd="0" presId="urn:microsoft.com/office/officeart/2008/layout/LinedList"/>
    <dgm:cxn modelId="{6F2F2588-E0AE-4B9D-B99D-55DA1559C8F4}" type="presParOf" srcId="{F1273901-CDEA-4282-A9AD-14D844096C6D}" destId="{4AE2E2D8-8021-4FC4-933E-C416A831FC4B}" srcOrd="0" destOrd="0" presId="urn:microsoft.com/office/officeart/2008/layout/LinedList"/>
    <dgm:cxn modelId="{D92AA21A-A721-48ED-8DF5-74EF360B4C58}" type="presParOf" srcId="{F1273901-CDEA-4282-A9AD-14D844096C6D}" destId="{90CE1FB5-0A51-41F7-927F-DA9FBAAA1BBB}" srcOrd="1" destOrd="0" presId="urn:microsoft.com/office/officeart/2008/layout/LinedList"/>
    <dgm:cxn modelId="{3D844CAA-FC3A-4198-8BF5-0486D47AB376}" type="presParOf" srcId="{90CE1FB5-0A51-41F7-927F-DA9FBAAA1BBB}" destId="{663413CC-2DAF-4909-93F7-ACFE2E0CAADB}" srcOrd="0" destOrd="0" presId="urn:microsoft.com/office/officeart/2008/layout/LinedList"/>
    <dgm:cxn modelId="{4AF70F0D-BBB3-437F-8CB5-907263FA4A9F}" type="presParOf" srcId="{90CE1FB5-0A51-41F7-927F-DA9FBAAA1BBB}" destId="{8BEC2E0E-AE9D-44D1-8093-6E28EA065E42}" srcOrd="1" destOrd="0" presId="urn:microsoft.com/office/officeart/2008/layout/LinedList"/>
    <dgm:cxn modelId="{9F54E355-F56E-436D-8EC1-B7D15351635E}" type="presParOf" srcId="{F1273901-CDEA-4282-A9AD-14D844096C6D}" destId="{C5670604-4F33-45ED-A3C4-DE7E2E530BF5}" srcOrd="2" destOrd="0" presId="urn:microsoft.com/office/officeart/2008/layout/LinedList"/>
    <dgm:cxn modelId="{AC3B4726-FEF5-498E-9214-6EB0323720B5}" type="presParOf" srcId="{F1273901-CDEA-4282-A9AD-14D844096C6D}" destId="{01FCD4C2-0556-4A09-B153-224C0963F1E9}" srcOrd="3" destOrd="0" presId="urn:microsoft.com/office/officeart/2008/layout/LinedList"/>
    <dgm:cxn modelId="{1E036A12-AB05-44A9-8401-A3046E8F09CB}" type="presParOf" srcId="{01FCD4C2-0556-4A09-B153-224C0963F1E9}" destId="{F1423FE0-3509-4F25-9F05-A355AAAFEBBE}" srcOrd="0" destOrd="0" presId="urn:microsoft.com/office/officeart/2008/layout/LinedList"/>
    <dgm:cxn modelId="{E4BAAA96-58B9-4CE1-A6D2-A6DA00954F2A}" type="presParOf" srcId="{01FCD4C2-0556-4A09-B153-224C0963F1E9}" destId="{ED840072-7370-4A43-9B8D-2E875A0E0AD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85B58B-4507-488C-8E29-81A649DBE375}">
      <dsp:nvSpPr>
        <dsp:cNvPr id="0" name=""/>
        <dsp:cNvSpPr/>
      </dsp:nvSpPr>
      <dsp:spPr>
        <a:xfrm>
          <a:off x="0" y="1879"/>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E8B4BB9-7A8D-44B4-997A-7CD8B40798D7}">
      <dsp:nvSpPr>
        <dsp:cNvPr id="0" name=""/>
        <dsp:cNvSpPr/>
      </dsp:nvSpPr>
      <dsp:spPr>
        <a:xfrm>
          <a:off x="0" y="1879"/>
          <a:ext cx="10058399" cy="128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AU" sz="2500" kern="1200"/>
            <a:t>Anxiety is the most common mental health condition in Australia. On average, one in four people – one in three women and one in ﬁve men – will experience anxiety at some stage in their life</a:t>
          </a:r>
          <a:r>
            <a:rPr lang="en-AU" sz="2500" kern="1200" baseline="30000">
              <a:hlinkClick xmlns:r="http://schemas.openxmlformats.org/officeDocument/2006/relationships" r:id="rId1"/>
            </a:rPr>
            <a:t>1</a:t>
          </a:r>
          <a:r>
            <a:rPr lang="en-AU" sz="2500" kern="1200"/>
            <a:t>. </a:t>
          </a:r>
          <a:endParaRPr lang="en-US" sz="2500" kern="1200"/>
        </a:p>
      </dsp:txBody>
      <dsp:txXfrm>
        <a:off x="0" y="1879"/>
        <a:ext cx="10058399" cy="1281954"/>
      </dsp:txXfrm>
    </dsp:sp>
    <dsp:sp modelId="{926BB081-8C9C-4485-A04F-56EDBEC32F7A}">
      <dsp:nvSpPr>
        <dsp:cNvPr id="0" name=""/>
        <dsp:cNvSpPr/>
      </dsp:nvSpPr>
      <dsp:spPr>
        <a:xfrm>
          <a:off x="0" y="1283834"/>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C9377E-C4B4-4DCA-9C9A-4487494971ED}">
      <dsp:nvSpPr>
        <dsp:cNvPr id="0" name=""/>
        <dsp:cNvSpPr/>
      </dsp:nvSpPr>
      <dsp:spPr>
        <a:xfrm>
          <a:off x="0" y="1283834"/>
          <a:ext cx="10058399" cy="128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AU" sz="2500" kern="1200"/>
            <a:t>In a 12-month period, over two million Australians experience anxiety</a:t>
          </a:r>
          <a:r>
            <a:rPr lang="en-AU" sz="2500" kern="1200" baseline="30000">
              <a:hlinkClick xmlns:r="http://schemas.openxmlformats.org/officeDocument/2006/relationships" r:id="rId1"/>
            </a:rPr>
            <a:t>2</a:t>
          </a:r>
          <a:r>
            <a:rPr lang="en-AU" sz="2500" kern="1200"/>
            <a:t>.</a:t>
          </a:r>
          <a:endParaRPr lang="en-US" sz="2500" kern="1200"/>
        </a:p>
      </dsp:txBody>
      <dsp:txXfrm>
        <a:off x="0" y="1283834"/>
        <a:ext cx="10058399" cy="1281954"/>
      </dsp:txXfrm>
    </dsp:sp>
    <dsp:sp modelId="{961ABFB0-F67B-47BF-89C4-727EEA393B4C}">
      <dsp:nvSpPr>
        <dsp:cNvPr id="0" name=""/>
        <dsp:cNvSpPr/>
      </dsp:nvSpPr>
      <dsp:spPr>
        <a:xfrm>
          <a:off x="0" y="2565789"/>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A72971-3221-4B67-8044-73065E9E13E2}">
      <dsp:nvSpPr>
        <dsp:cNvPr id="0" name=""/>
        <dsp:cNvSpPr/>
      </dsp:nvSpPr>
      <dsp:spPr>
        <a:xfrm>
          <a:off x="0" y="2565789"/>
          <a:ext cx="10058399" cy="12819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AU" sz="2500" kern="1200"/>
            <a:t>Anxiety is common, but the sooner people with anxiety get support, the more likely they are to recover.</a:t>
          </a:r>
          <a:endParaRPr lang="en-US" sz="2500" kern="1200"/>
        </a:p>
      </dsp:txBody>
      <dsp:txXfrm>
        <a:off x="0" y="2565789"/>
        <a:ext cx="10058399" cy="12819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2E2D8-8021-4FC4-933E-C416A831FC4B}">
      <dsp:nvSpPr>
        <dsp:cNvPr id="0" name=""/>
        <dsp:cNvSpPr/>
      </dsp:nvSpPr>
      <dsp:spPr>
        <a:xfrm>
          <a:off x="0" y="0"/>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63413CC-2DAF-4909-93F7-ACFE2E0CAADB}">
      <dsp:nvSpPr>
        <dsp:cNvPr id="0" name=""/>
        <dsp:cNvSpPr/>
      </dsp:nvSpPr>
      <dsp:spPr>
        <a:xfrm>
          <a:off x="0" y="0"/>
          <a:ext cx="10058399" cy="192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b="1" kern="1200"/>
            <a:t>Anxiety is more than just feeling stressed or worried. While stress and anxious feelings are a common response to a situation where we feel under pressure, they usually pass once the stressful situation has passed, or ‘stressor’ is removed.</a:t>
          </a:r>
          <a:endParaRPr lang="en-US" sz="2400" kern="1200"/>
        </a:p>
      </dsp:txBody>
      <dsp:txXfrm>
        <a:off x="0" y="0"/>
        <a:ext cx="10058399" cy="1924812"/>
      </dsp:txXfrm>
    </dsp:sp>
    <dsp:sp modelId="{C5670604-4F33-45ED-A3C4-DE7E2E530BF5}">
      <dsp:nvSpPr>
        <dsp:cNvPr id="0" name=""/>
        <dsp:cNvSpPr/>
      </dsp:nvSpPr>
      <dsp:spPr>
        <a:xfrm>
          <a:off x="0" y="1924812"/>
          <a:ext cx="10058399"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423FE0-3509-4F25-9F05-A355AAAFEBBE}">
      <dsp:nvSpPr>
        <dsp:cNvPr id="0" name=""/>
        <dsp:cNvSpPr/>
      </dsp:nvSpPr>
      <dsp:spPr>
        <a:xfrm>
          <a:off x="0" y="1924812"/>
          <a:ext cx="10058399" cy="1924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AU" sz="2400" kern="1200"/>
            <a:t>Anxiety is when these anxious feelings don't go away – when they're ongoing and happen without any particular reason or cause. It’s a serious condition that makes it hard to cope with daily life. Everyone feels anxious from time to time, but for someone experiencing anxiety, these feelings aren't easily controlled.</a:t>
          </a:r>
          <a:endParaRPr lang="en-US" sz="2400" kern="1200"/>
        </a:p>
      </dsp:txBody>
      <dsp:txXfrm>
        <a:off x="0" y="1924812"/>
        <a:ext cx="10058399" cy="192481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8/9/2026</a:t>
            </a:fld>
            <a:endParaRPr lang="en-US"/>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32B432-ACDA-4023-A761-2BAB76577B62}" type="datetime1">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8/9/2026</a:t>
            </a:fld>
            <a:endParaRPr lang="en-US"/>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186D26-FA5F-4637-B602-B7C2DC34CFD4}" type="datetime1">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7F15D8-96D1-4781-BC50-CA8A088B2FE4}" type="datetime1">
              <a:rPr lang="en-US" smtClean="0"/>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A96C99-B8F8-4528-BD05-0E16E943DC09}" type="datetime1">
              <a:rPr lang="en-US" smtClean="0"/>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8/9/2026</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8/9/2026</a:t>
            </a:fld>
            <a:endParaRPr lang="en-US"/>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AU"/>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AU"/>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8/9/2026</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video" Target="https://www.youtube.com/embed/NYzowu-EaPY?feature=oembed"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FMXbxC642Sc?feature=oembed"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4.xml"/><Relationship Id="rId1" Type="http://schemas.openxmlformats.org/officeDocument/2006/relationships/video" Target="https://www.youtube.com/embed/3ALQdvXtA9Y?feature=oembe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8200" y="607392"/>
            <a:ext cx="3161963" cy="1645920"/>
          </a:xfrm>
        </p:spPr>
        <p:txBody>
          <a:bodyPr anchor="b">
            <a:normAutofit/>
          </a:bodyPr>
          <a:lstStyle/>
          <a:p>
            <a:r>
              <a:rPr lang="en-AU"/>
              <a:t>ANXIETY</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7254" r="8903" b="-1"/>
          <a:stretch/>
        </p:blipFill>
        <p:spPr>
          <a:xfrm>
            <a:off x="685800" y="609600"/>
            <a:ext cx="6858000" cy="5334000"/>
          </a:xfrm>
          <a:prstGeom prst="rect">
            <a:avLst/>
          </a:prstGeom>
          <a:noFill/>
        </p:spPr>
      </p:pic>
      <p:sp>
        <p:nvSpPr>
          <p:cNvPr id="9" name="Text Placeholder 3">
            <a:extLst>
              <a:ext uri="{FF2B5EF4-FFF2-40B4-BE49-F238E27FC236}">
                <a16:creationId xmlns:a16="http://schemas.microsoft.com/office/drawing/2014/main" id="{BCBDBBB9-8898-4F8B-B981-AB99AD0847A5}"/>
              </a:ext>
            </a:extLst>
          </p:cNvPr>
          <p:cNvSpPr>
            <a:spLocks noGrp="1"/>
          </p:cNvSpPr>
          <p:nvPr>
            <p:ph type="body" sz="half" idx="2"/>
          </p:nvPr>
        </p:nvSpPr>
        <p:spPr>
          <a:xfrm>
            <a:off x="8458200" y="2336800"/>
            <a:ext cx="3161963" cy="3606800"/>
          </a:xfrm>
        </p:spPr>
        <p:txBody>
          <a:bodyPr/>
          <a:lstStyle/>
          <a:p>
            <a:endParaRPr lang="en-US"/>
          </a:p>
        </p:txBody>
      </p:sp>
    </p:spTree>
    <p:extLst>
      <p:ext uri="{BB962C8B-B14F-4D97-AF65-F5344CB8AC3E}">
        <p14:creationId xmlns:p14="http://schemas.microsoft.com/office/powerpoint/2010/main" val="4203656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AU"/>
              <a:t>Anxiety</a:t>
            </a:r>
          </a:p>
        </p:txBody>
      </p:sp>
      <p:graphicFrame>
        <p:nvGraphicFramePr>
          <p:cNvPr id="5" name="Content Placeholder 2">
            <a:extLst>
              <a:ext uri="{FF2B5EF4-FFF2-40B4-BE49-F238E27FC236}">
                <a16:creationId xmlns:a16="http://schemas.microsoft.com/office/drawing/2014/main" id="{E7E446EE-DD22-4CEE-9762-8A143FB11CD9}"/>
              </a:ext>
            </a:extLst>
          </p:cNvPr>
          <p:cNvGraphicFramePr>
            <a:graphicFrameLocks noGrp="1"/>
          </p:cNvGraphicFramePr>
          <p:nvPr>
            <p:ph idx="1"/>
            <p:extLst>
              <p:ext uri="{D42A27DB-BD31-4B8C-83A1-F6EECF244321}">
                <p14:modId xmlns:p14="http://schemas.microsoft.com/office/powerpoint/2010/main" val="1647644184"/>
              </p:ext>
            </p:extLst>
          </p:nvPr>
        </p:nvGraphicFramePr>
        <p:xfrm>
          <a:off x="857250" y="1779270"/>
          <a:ext cx="10058400" cy="3849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2804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785B-8E8C-1085-6B79-3248DB62E14A}"/>
              </a:ext>
            </a:extLst>
          </p:cNvPr>
          <p:cNvSpPr>
            <a:spLocks noGrp="1"/>
          </p:cNvSpPr>
          <p:nvPr>
            <p:ph type="title"/>
          </p:nvPr>
        </p:nvSpPr>
        <p:spPr>
          <a:xfrm>
            <a:off x="1066800" y="642594"/>
            <a:ext cx="10058400" cy="1371600"/>
          </a:xfrm>
        </p:spPr>
        <p:txBody>
          <a:bodyPr anchor="ctr">
            <a:normAutofit/>
          </a:bodyPr>
          <a:lstStyle/>
          <a:p>
            <a:r>
              <a:rPr lang="en-AU" b="1" i="0">
                <a:effectLst/>
              </a:rPr>
              <a:t>Presentation Nerves</a:t>
            </a:r>
            <a:endParaRPr lang="en-AU"/>
          </a:p>
        </p:txBody>
      </p:sp>
      <p:sp>
        <p:nvSpPr>
          <p:cNvPr id="3" name="Content Placeholder 2">
            <a:extLst>
              <a:ext uri="{FF2B5EF4-FFF2-40B4-BE49-F238E27FC236}">
                <a16:creationId xmlns:a16="http://schemas.microsoft.com/office/drawing/2014/main" id="{86F7DD03-527E-3ABA-0C3C-100013588D9E}"/>
              </a:ext>
            </a:extLst>
          </p:cNvPr>
          <p:cNvSpPr>
            <a:spLocks noGrp="1"/>
          </p:cNvSpPr>
          <p:nvPr>
            <p:ph sz="half" idx="1"/>
          </p:nvPr>
        </p:nvSpPr>
        <p:spPr>
          <a:xfrm>
            <a:off x="1066800" y="2103120"/>
            <a:ext cx="4663440" cy="3749040"/>
          </a:xfrm>
        </p:spPr>
        <p:txBody>
          <a:bodyPr>
            <a:normAutofit/>
          </a:bodyPr>
          <a:lstStyle/>
          <a:p>
            <a:r>
              <a:rPr lang="en-AU"/>
              <a:t>Who has ever felt nervous before giving an oral presentation?</a:t>
            </a:r>
          </a:p>
          <a:p>
            <a:endParaRPr lang="en-AU"/>
          </a:p>
          <a:p>
            <a:r>
              <a:rPr lang="en-AU"/>
              <a:t>These nerves are different from an  anxiety condition but they can still impact on many of us.</a:t>
            </a:r>
          </a:p>
          <a:p>
            <a:pPr marL="0" indent="0">
              <a:buNone/>
            </a:pPr>
            <a:endParaRPr lang="en-AU"/>
          </a:p>
          <a:p>
            <a:r>
              <a:rPr lang="en-AU"/>
              <a:t>Before we talk about anxiety lets first look at what we can do to help with presentation nerves.</a:t>
            </a:r>
          </a:p>
        </p:txBody>
      </p:sp>
      <p:pic>
        <p:nvPicPr>
          <p:cNvPr id="5" name="Picture 4">
            <a:extLst>
              <a:ext uri="{FF2B5EF4-FFF2-40B4-BE49-F238E27FC236}">
                <a16:creationId xmlns:a16="http://schemas.microsoft.com/office/drawing/2014/main" id="{39643447-F9F1-184D-677A-4D3A96754CA5}"/>
              </a:ext>
            </a:extLst>
          </p:cNvPr>
          <p:cNvPicPr>
            <a:picLocks noChangeAspect="1"/>
          </p:cNvPicPr>
          <p:nvPr/>
        </p:nvPicPr>
        <p:blipFill>
          <a:blip r:embed="rId2"/>
          <a:stretch>
            <a:fillRect/>
          </a:stretch>
        </p:blipFill>
        <p:spPr>
          <a:xfrm>
            <a:off x="7305312" y="2103120"/>
            <a:ext cx="2976336" cy="3749040"/>
          </a:xfrm>
          <a:prstGeom prst="rect">
            <a:avLst/>
          </a:prstGeom>
          <a:noFill/>
        </p:spPr>
      </p:pic>
    </p:spTree>
    <p:extLst>
      <p:ext uri="{BB962C8B-B14F-4D97-AF65-F5344CB8AC3E}">
        <p14:creationId xmlns:p14="http://schemas.microsoft.com/office/powerpoint/2010/main" val="2166580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11725-41A9-481B-AA7A-876AE20974F9}"/>
              </a:ext>
            </a:extLst>
          </p:cNvPr>
          <p:cNvSpPr>
            <a:spLocks noGrp="1"/>
          </p:cNvSpPr>
          <p:nvPr>
            <p:ph type="title"/>
          </p:nvPr>
        </p:nvSpPr>
        <p:spPr/>
        <p:txBody>
          <a:bodyPr/>
          <a:lstStyle/>
          <a:p>
            <a:r>
              <a:rPr lang="en-AU" b="1" i="0">
                <a:solidFill>
                  <a:srgbClr val="333333"/>
                </a:solidFill>
                <a:effectLst/>
                <a:latin typeface="ProximaNova-b7"/>
              </a:rPr>
              <a:t>Managing Presentation Nerves</a:t>
            </a:r>
            <a:br>
              <a:rPr lang="en-AU" b="1" i="0">
                <a:solidFill>
                  <a:srgbClr val="333333"/>
                </a:solidFill>
                <a:effectLst/>
                <a:latin typeface="ProximaNova-b7"/>
              </a:rPr>
            </a:br>
            <a:endParaRPr lang="en-AU"/>
          </a:p>
        </p:txBody>
      </p:sp>
      <p:sp>
        <p:nvSpPr>
          <p:cNvPr id="3" name="Content Placeholder 2">
            <a:extLst>
              <a:ext uri="{FF2B5EF4-FFF2-40B4-BE49-F238E27FC236}">
                <a16:creationId xmlns:a16="http://schemas.microsoft.com/office/drawing/2014/main" id="{4DF3030A-7BC1-4A5E-B4BF-C6F13AC5130E}"/>
              </a:ext>
            </a:extLst>
          </p:cNvPr>
          <p:cNvSpPr>
            <a:spLocks noGrp="1"/>
          </p:cNvSpPr>
          <p:nvPr>
            <p:ph idx="1"/>
          </p:nvPr>
        </p:nvSpPr>
        <p:spPr/>
        <p:txBody>
          <a:bodyPr>
            <a:normAutofit lnSpcReduction="10000"/>
          </a:bodyPr>
          <a:lstStyle/>
          <a:p>
            <a:r>
              <a:rPr lang="en-AU" sz="2800" b="1" i="0">
                <a:solidFill>
                  <a:srgbClr val="333333"/>
                </a:solidFill>
                <a:effectLst/>
                <a:latin typeface="ProximaNova-b7"/>
              </a:rPr>
              <a:t>Six Steps to Conquering Your Presentation Nerves</a:t>
            </a:r>
          </a:p>
          <a:p>
            <a:r>
              <a:rPr lang="en-AU" sz="2800" b="1" i="0">
                <a:solidFill>
                  <a:srgbClr val="333333"/>
                </a:solidFill>
                <a:effectLst/>
                <a:latin typeface="ProximaNova-b7"/>
              </a:rPr>
              <a:t>1. Know Your Audience</a:t>
            </a:r>
          </a:p>
          <a:p>
            <a:r>
              <a:rPr lang="en-AU" sz="2800" b="1" i="0">
                <a:solidFill>
                  <a:srgbClr val="333333"/>
                </a:solidFill>
                <a:effectLst/>
                <a:latin typeface="ProximaNova-b7"/>
              </a:rPr>
              <a:t>2. Know Your Material</a:t>
            </a:r>
          </a:p>
          <a:p>
            <a:r>
              <a:rPr lang="en-AU" sz="2800" b="1" i="0">
                <a:solidFill>
                  <a:srgbClr val="333333"/>
                </a:solidFill>
                <a:effectLst/>
                <a:latin typeface="ProximaNova-b7"/>
              </a:rPr>
              <a:t>3. Structure Your Presentation</a:t>
            </a:r>
          </a:p>
          <a:p>
            <a:r>
              <a:rPr lang="en-AU" sz="2800" b="1" i="0">
                <a:solidFill>
                  <a:srgbClr val="333333"/>
                </a:solidFill>
                <a:effectLst/>
                <a:latin typeface="ProximaNova-b7"/>
              </a:rPr>
              <a:t>4. Practice, Practice, Practice</a:t>
            </a:r>
          </a:p>
          <a:p>
            <a:r>
              <a:rPr lang="en-AU" sz="2800" b="1" i="0">
                <a:solidFill>
                  <a:srgbClr val="333333"/>
                </a:solidFill>
                <a:effectLst/>
                <a:latin typeface="ProximaNova-b7"/>
              </a:rPr>
              <a:t>5. Prepare, Prepare, Prepare</a:t>
            </a:r>
          </a:p>
          <a:p>
            <a:r>
              <a:rPr lang="en-AU" sz="2800" b="1" i="0">
                <a:solidFill>
                  <a:srgbClr val="333333"/>
                </a:solidFill>
                <a:effectLst/>
                <a:latin typeface="ProximaNova-b7"/>
              </a:rPr>
              <a:t>6. Calm Yourself From the Inside</a:t>
            </a:r>
          </a:p>
          <a:p>
            <a:endParaRPr lang="en-AU" b="1" i="0">
              <a:solidFill>
                <a:srgbClr val="333333"/>
              </a:solidFill>
              <a:effectLst/>
              <a:latin typeface="ProximaNova-b7"/>
            </a:endParaRPr>
          </a:p>
          <a:p>
            <a:endParaRPr lang="en-AU"/>
          </a:p>
        </p:txBody>
      </p:sp>
    </p:spTree>
    <p:extLst>
      <p:ext uri="{BB962C8B-B14F-4D97-AF65-F5344CB8AC3E}">
        <p14:creationId xmlns:p14="http://schemas.microsoft.com/office/powerpoint/2010/main" val="116917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9E6D1-C204-E90F-FD8D-045EC46EAF40}"/>
              </a:ext>
            </a:extLst>
          </p:cNvPr>
          <p:cNvSpPr>
            <a:spLocks noGrp="1"/>
          </p:cNvSpPr>
          <p:nvPr>
            <p:ph type="title"/>
          </p:nvPr>
        </p:nvSpPr>
        <p:spPr>
          <a:xfrm>
            <a:off x="1066800" y="515594"/>
            <a:ext cx="10058400" cy="1371600"/>
          </a:xfrm>
        </p:spPr>
        <p:txBody>
          <a:bodyPr/>
          <a:lstStyle/>
          <a:p>
            <a:r>
              <a:rPr lang="en-AU" b="1"/>
              <a:t>Managing Presentation Nerves</a:t>
            </a:r>
            <a:endParaRPr lang="en-US"/>
          </a:p>
        </p:txBody>
      </p:sp>
      <p:sp>
        <p:nvSpPr>
          <p:cNvPr id="3" name="Content Placeholder 2">
            <a:extLst>
              <a:ext uri="{FF2B5EF4-FFF2-40B4-BE49-F238E27FC236}">
                <a16:creationId xmlns:a16="http://schemas.microsoft.com/office/drawing/2014/main" id="{E407EEC0-1100-D411-1F6A-D896640E3C87}"/>
              </a:ext>
            </a:extLst>
          </p:cNvPr>
          <p:cNvSpPr>
            <a:spLocks noGrp="1"/>
          </p:cNvSpPr>
          <p:nvPr>
            <p:ph idx="1"/>
          </p:nvPr>
        </p:nvSpPr>
        <p:spPr>
          <a:xfrm>
            <a:off x="1066800" y="1887194"/>
            <a:ext cx="10058400" cy="4065550"/>
          </a:xfrm>
        </p:spPr>
        <p:txBody>
          <a:bodyPr vert="horz" lIns="91440" tIns="45720" rIns="91440" bIns="45720" rtlCol="0" anchor="t">
            <a:normAutofit/>
          </a:bodyPr>
          <a:lstStyle/>
          <a:p>
            <a:pPr marL="0" indent="0">
              <a:buNone/>
            </a:pPr>
            <a:r>
              <a:rPr lang="en-AU" sz="1600" b="1">
                <a:solidFill>
                  <a:srgbClr val="333333"/>
                </a:solidFill>
                <a:ea typeface="+mn-lt"/>
                <a:cs typeface="+mn-lt"/>
              </a:rPr>
              <a:t>Nervousness causes physiological reactions which are mostly attributed to the increase of adrenaline in your system. You can counteract these effects with a few simple techniques:</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Practice deep breathing</a:t>
            </a:r>
            <a:r>
              <a:rPr lang="en-US" sz="1600">
                <a:solidFill>
                  <a:srgbClr val="333333"/>
                </a:solidFill>
                <a:ea typeface="+mn-lt"/>
                <a:cs typeface="+mn-lt"/>
              </a:rPr>
              <a:t> – adrenalin causes you to breathe shallowly. By breathing deeply your brain will get the oxygen it needs and the slower pace will trick your body into believing you are calmer. It also helps with voice quivers, which can occur when your breathing is irregular.</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Drink water </a:t>
            </a:r>
            <a:r>
              <a:rPr lang="en-US" sz="1600">
                <a:solidFill>
                  <a:srgbClr val="333333"/>
                </a:solidFill>
                <a:ea typeface="+mn-lt"/>
                <a:cs typeface="+mn-lt"/>
              </a:rPr>
              <a:t>– adrenalin can cause a dry mouth, which in turn leads to getting tongue-tied. Have a glass of water handy. Take sips occasionally, especially when you want to emphasize a point.</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Smile</a:t>
            </a:r>
            <a:r>
              <a:rPr lang="en-US" sz="1600">
                <a:solidFill>
                  <a:srgbClr val="333333"/>
                </a:solidFill>
                <a:ea typeface="+mn-lt"/>
                <a:cs typeface="+mn-lt"/>
              </a:rPr>
              <a:t> – this is a natural relaxant that sends positive chemicals through your body.</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Use </a:t>
            </a:r>
            <a:r>
              <a:rPr lang="en-US" sz="1600" b="1">
                <a:ea typeface="+mn-lt"/>
                <a:cs typeface="+mn-lt"/>
              </a:rPr>
              <a:t>visualization techniques</a:t>
            </a:r>
            <a:r>
              <a:rPr lang="en-US" sz="1600">
                <a:solidFill>
                  <a:srgbClr val="333333"/>
                </a:solidFill>
                <a:ea typeface="+mn-lt"/>
                <a:cs typeface="+mn-lt"/>
              </a:rPr>
              <a:t> – imagine that you are delivering your presentation to an audience that is interested, enthused, smiling, and reacting positively. Cement this positive image in your mind and recall it right before you are ready to go on.</a:t>
            </a:r>
            <a:endParaRPr lang="en-GB" sz="1600"/>
          </a:p>
        </p:txBody>
      </p:sp>
    </p:spTree>
    <p:extLst>
      <p:ext uri="{BB962C8B-B14F-4D97-AF65-F5344CB8AC3E}">
        <p14:creationId xmlns:p14="http://schemas.microsoft.com/office/powerpoint/2010/main" val="488198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68BEE-6F46-0D4A-A8DD-1A541D841DAB}"/>
              </a:ext>
            </a:extLst>
          </p:cNvPr>
          <p:cNvSpPr>
            <a:spLocks noGrp="1"/>
          </p:cNvSpPr>
          <p:nvPr>
            <p:ph type="title"/>
          </p:nvPr>
        </p:nvSpPr>
        <p:spPr/>
        <p:txBody>
          <a:bodyPr/>
          <a:lstStyle/>
          <a:p>
            <a:r>
              <a:rPr lang="en-GB" b="1">
                <a:ea typeface="+mj-lt"/>
                <a:cs typeface="+mj-lt"/>
              </a:rPr>
              <a:t>Managing Presentation Nerves</a:t>
            </a:r>
            <a:endParaRPr lang="en-US"/>
          </a:p>
        </p:txBody>
      </p:sp>
      <p:sp>
        <p:nvSpPr>
          <p:cNvPr id="3" name="Content Placeholder 2">
            <a:extLst>
              <a:ext uri="{FF2B5EF4-FFF2-40B4-BE49-F238E27FC236}">
                <a16:creationId xmlns:a16="http://schemas.microsoft.com/office/drawing/2014/main" id="{50240D35-C6E8-B4DC-F99F-8A915FCFFC97}"/>
              </a:ext>
            </a:extLst>
          </p:cNvPr>
          <p:cNvSpPr>
            <a:spLocks noGrp="1"/>
          </p:cNvSpPr>
          <p:nvPr>
            <p:ph idx="1"/>
          </p:nvPr>
        </p:nvSpPr>
        <p:spPr/>
        <p:txBody>
          <a:bodyPr vert="horz" lIns="91440" tIns="45720" rIns="91440" bIns="45720" rtlCol="0" anchor="t">
            <a:normAutofit/>
          </a:bodyPr>
          <a:lstStyle/>
          <a:p>
            <a:pPr marL="0" indent="0">
              <a:lnSpc>
                <a:spcPct val="100000"/>
              </a:lnSpc>
              <a:spcBef>
                <a:spcPct val="0"/>
              </a:spcBef>
              <a:spcAft>
                <a:spcPct val="0"/>
              </a:spcAft>
              <a:buChar char="•"/>
            </a:pPr>
            <a:r>
              <a:rPr lang="en-US" sz="1600" b="1">
                <a:solidFill>
                  <a:srgbClr val="333333"/>
                </a:solidFill>
                <a:ea typeface="+mn-lt"/>
                <a:cs typeface="+mn-lt"/>
              </a:rPr>
              <a:t>Press and massage your forehead</a:t>
            </a:r>
            <a:r>
              <a:rPr lang="en-US" sz="1600">
                <a:solidFill>
                  <a:srgbClr val="333333"/>
                </a:solidFill>
                <a:ea typeface="+mn-lt"/>
                <a:cs typeface="+mn-lt"/>
              </a:rPr>
              <a:t> to energize the front of the brain and speech center.</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Just before you start talking, pause, make eye contact, and smile.</a:t>
            </a:r>
            <a:r>
              <a:rPr lang="en-US" sz="1600">
                <a:solidFill>
                  <a:srgbClr val="333333"/>
                </a:solidFill>
                <a:ea typeface="+mn-lt"/>
                <a:cs typeface="+mn-lt"/>
              </a:rPr>
              <a:t> This last moment of peace is very relaxing and gives you time to adjust to being the </a:t>
            </a:r>
            <a:r>
              <a:rPr lang="en-US" sz="1600" err="1">
                <a:solidFill>
                  <a:srgbClr val="333333"/>
                </a:solidFill>
                <a:ea typeface="+mn-lt"/>
                <a:cs typeface="+mn-lt"/>
              </a:rPr>
              <a:t>centre</a:t>
            </a:r>
            <a:r>
              <a:rPr lang="en-US" sz="1600">
                <a:solidFill>
                  <a:srgbClr val="333333"/>
                </a:solidFill>
                <a:ea typeface="+mn-lt"/>
                <a:cs typeface="+mn-lt"/>
              </a:rPr>
              <a:t> of attention.</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Speak more slowly than you would in a conversation</a:t>
            </a:r>
            <a:r>
              <a:rPr lang="en-US" sz="1600">
                <a:solidFill>
                  <a:srgbClr val="333333"/>
                </a:solidFill>
                <a:ea typeface="+mn-lt"/>
                <a:cs typeface="+mn-lt"/>
              </a:rPr>
              <a:t>, and leave longer pauses between sentences. This slower pace will calm you down, and it will also make you easier to hear, especially at the back of a large room.</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Move around during your presentation.</a:t>
            </a:r>
            <a:r>
              <a:rPr lang="en-US" sz="1600">
                <a:solidFill>
                  <a:srgbClr val="333333"/>
                </a:solidFill>
                <a:ea typeface="+mn-lt"/>
                <a:cs typeface="+mn-lt"/>
              </a:rPr>
              <a:t> This will expend some of your nervous energy.</a:t>
            </a:r>
            <a:endParaRPr lang="en-US" sz="1600">
              <a:ea typeface="+mn-lt"/>
              <a:cs typeface="+mn-lt"/>
            </a:endParaRPr>
          </a:p>
          <a:p>
            <a:pPr>
              <a:lnSpc>
                <a:spcPct val="100000"/>
              </a:lnSpc>
              <a:spcBef>
                <a:spcPct val="0"/>
              </a:spcBef>
              <a:spcAft>
                <a:spcPct val="0"/>
              </a:spcAft>
              <a:buClr>
                <a:srgbClr val="262626"/>
              </a:buClr>
            </a:pPr>
            <a:endParaRPr lang="en-US" sz="1600">
              <a:ea typeface="+mn-lt"/>
              <a:cs typeface="+mn-lt"/>
            </a:endParaRPr>
          </a:p>
          <a:p>
            <a:pPr marL="0" indent="0">
              <a:lnSpc>
                <a:spcPct val="100000"/>
              </a:lnSpc>
              <a:spcBef>
                <a:spcPct val="0"/>
              </a:spcBef>
              <a:spcAft>
                <a:spcPct val="0"/>
              </a:spcAft>
              <a:buClr>
                <a:srgbClr val="262626"/>
              </a:buClr>
              <a:buChar char="•"/>
            </a:pPr>
            <a:r>
              <a:rPr lang="en-US" sz="1600" b="1">
                <a:solidFill>
                  <a:srgbClr val="333333"/>
                </a:solidFill>
                <a:ea typeface="+mn-lt"/>
                <a:cs typeface="+mn-lt"/>
              </a:rPr>
              <a:t>Stop thinking about yourself</a:t>
            </a:r>
            <a:r>
              <a:rPr lang="en-US" sz="1600">
                <a:solidFill>
                  <a:srgbClr val="333333"/>
                </a:solidFill>
                <a:ea typeface="+mn-lt"/>
                <a:cs typeface="+mn-lt"/>
              </a:rPr>
              <a:t>. Remember that the audience is there to get some information and it is your job to put it across to them.</a:t>
            </a:r>
            <a:endParaRPr lang="en-GB" sz="1600">
              <a:ea typeface="+mn-lt"/>
              <a:cs typeface="+mn-lt"/>
            </a:endParaRPr>
          </a:p>
        </p:txBody>
      </p:sp>
    </p:spTree>
    <p:extLst>
      <p:ext uri="{BB962C8B-B14F-4D97-AF65-F5344CB8AC3E}">
        <p14:creationId xmlns:p14="http://schemas.microsoft.com/office/powerpoint/2010/main" val="3224633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BA2A0-136B-7AD1-9325-B4AEEE420FE2}"/>
              </a:ext>
            </a:extLst>
          </p:cNvPr>
          <p:cNvSpPr>
            <a:spLocks noGrp="1"/>
          </p:cNvSpPr>
          <p:nvPr>
            <p:ph type="title"/>
          </p:nvPr>
        </p:nvSpPr>
        <p:spPr/>
        <p:txBody>
          <a:bodyPr/>
          <a:lstStyle/>
          <a:p>
            <a:r>
              <a:rPr lang="en-AU"/>
              <a:t>What is Anxiety?</a:t>
            </a:r>
          </a:p>
        </p:txBody>
      </p:sp>
      <p:pic>
        <p:nvPicPr>
          <p:cNvPr id="6" name="Online Media 5" title="What is anxiety?">
            <a:hlinkClick r:id="" action="ppaction://media"/>
            <a:extLst>
              <a:ext uri="{FF2B5EF4-FFF2-40B4-BE49-F238E27FC236}">
                <a16:creationId xmlns:a16="http://schemas.microsoft.com/office/drawing/2014/main" id="{2C1FC019-7185-A663-5E34-CABB40B04C74}"/>
              </a:ext>
            </a:extLst>
          </p:cNvPr>
          <p:cNvPicPr>
            <a:picLocks noGrp="1" noRot="1" noChangeAspect="1"/>
          </p:cNvPicPr>
          <p:nvPr>
            <p:ph idx="1"/>
            <a:videoFile r:link="rId1"/>
          </p:nvPr>
        </p:nvPicPr>
        <p:blipFill>
          <a:blip r:embed="rId3"/>
          <a:stretch>
            <a:fillRect/>
          </a:stretch>
        </p:blipFill>
        <p:spPr>
          <a:xfrm>
            <a:off x="2111829" y="2103438"/>
            <a:ext cx="7390946" cy="4175918"/>
          </a:xfrm>
          <a:prstGeom prst="rect">
            <a:avLst/>
          </a:prstGeom>
        </p:spPr>
      </p:pic>
    </p:spTree>
    <p:extLst>
      <p:ext uri="{BB962C8B-B14F-4D97-AF65-F5344CB8AC3E}">
        <p14:creationId xmlns:p14="http://schemas.microsoft.com/office/powerpoint/2010/main" val="324814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AU"/>
              <a:t>What is Anxiety?</a:t>
            </a:r>
          </a:p>
        </p:txBody>
      </p:sp>
      <p:graphicFrame>
        <p:nvGraphicFramePr>
          <p:cNvPr id="5" name="Content Placeholder 2">
            <a:extLst>
              <a:ext uri="{FF2B5EF4-FFF2-40B4-BE49-F238E27FC236}">
                <a16:creationId xmlns:a16="http://schemas.microsoft.com/office/drawing/2014/main" id="{F50A6DBA-2214-47B9-AA4E-3EA128027EE9}"/>
              </a:ext>
            </a:extLst>
          </p:cNvPr>
          <p:cNvGraphicFramePr>
            <a:graphicFrameLocks noGrp="1"/>
          </p:cNvGraphicFramePr>
          <p:nvPr>
            <p:ph idx="1"/>
            <p:extLst>
              <p:ext uri="{D42A27DB-BD31-4B8C-83A1-F6EECF244321}">
                <p14:modId xmlns:p14="http://schemas.microsoft.com/office/powerpoint/2010/main" val="2714042545"/>
              </p:ext>
            </p:extLst>
          </p:nvPr>
        </p:nvGraphicFramePr>
        <p:xfrm>
          <a:off x="1066800" y="2103120"/>
          <a:ext cx="10058400" cy="3849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6987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a:t>What are the symptoms of anxiety?</a:t>
            </a:r>
          </a:p>
        </p:txBody>
      </p:sp>
      <p:sp>
        <p:nvSpPr>
          <p:cNvPr id="3" name="Content Placeholder 2"/>
          <p:cNvSpPr>
            <a:spLocks noGrp="1"/>
          </p:cNvSpPr>
          <p:nvPr>
            <p:ph idx="1"/>
          </p:nvPr>
        </p:nvSpPr>
        <p:spPr/>
        <p:txBody>
          <a:bodyPr>
            <a:normAutofit lnSpcReduction="10000"/>
          </a:bodyPr>
          <a:lstStyle/>
          <a:p>
            <a:pPr fontAlgn="base"/>
            <a:r>
              <a:rPr lang="en-AU" sz="2400"/>
              <a:t>Psychological: excessive fear, worry, catastrophizing, or obsessive thinking often without cause or reason.</a:t>
            </a:r>
          </a:p>
          <a:p>
            <a:pPr marL="0" indent="0" fontAlgn="base">
              <a:buNone/>
            </a:pPr>
            <a:endParaRPr lang="en-AU" sz="2400"/>
          </a:p>
          <a:p>
            <a:pPr fontAlgn="base"/>
            <a:r>
              <a:rPr lang="en-AU" sz="2400"/>
              <a:t>Behavioural: avoidance of situations that make you feel anxious which can impact on study, work or social life.</a:t>
            </a:r>
          </a:p>
          <a:p>
            <a:pPr marL="0" indent="0" fontAlgn="base">
              <a:buNone/>
            </a:pPr>
            <a:endParaRPr lang="en-AU" sz="2400"/>
          </a:p>
          <a:p>
            <a:pPr fontAlgn="base"/>
            <a:r>
              <a:rPr lang="en-AU" sz="2400"/>
              <a:t>Physical: panic attacks, hot and cold flushes, racing heart, tightening of the chest, quick breathing, restlessness, or feeling tense, wound up and edgy, difficulty sleeping, diarrhoea, nausea</a:t>
            </a:r>
          </a:p>
          <a:p>
            <a:pPr fontAlgn="base"/>
            <a:endParaRPr lang="en-AU"/>
          </a:p>
          <a:p>
            <a:pPr fontAlgn="base"/>
            <a:endParaRPr lang="en-AU"/>
          </a:p>
          <a:p>
            <a:endParaRPr lang="en-AU"/>
          </a:p>
        </p:txBody>
      </p:sp>
    </p:spTree>
    <p:extLst>
      <p:ext uri="{BB962C8B-B14F-4D97-AF65-F5344CB8AC3E}">
        <p14:creationId xmlns:p14="http://schemas.microsoft.com/office/powerpoint/2010/main" val="4134001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ADC8-8E6B-1368-1A11-9A29CE7AAEEC}"/>
              </a:ext>
            </a:extLst>
          </p:cNvPr>
          <p:cNvSpPr>
            <a:spLocks noGrp="1"/>
          </p:cNvSpPr>
          <p:nvPr>
            <p:ph type="title"/>
          </p:nvPr>
        </p:nvSpPr>
        <p:spPr/>
        <p:txBody>
          <a:bodyPr/>
          <a:lstStyle/>
          <a:p>
            <a:endParaRPr lang="en-AU"/>
          </a:p>
        </p:txBody>
      </p:sp>
      <p:pic>
        <p:nvPicPr>
          <p:cNvPr id="4" name="Online Media 3" title="LIAM | Anxiety doesn't stop for your AFL career">
            <a:hlinkClick r:id="" action="ppaction://media"/>
            <a:extLst>
              <a:ext uri="{FF2B5EF4-FFF2-40B4-BE49-F238E27FC236}">
                <a16:creationId xmlns:a16="http://schemas.microsoft.com/office/drawing/2014/main" id="{98E6DC29-FD36-66F5-44B6-23A5ED915FB9}"/>
              </a:ext>
            </a:extLst>
          </p:cNvPr>
          <p:cNvPicPr>
            <a:picLocks noGrp="1" noRot="1" noChangeAspect="1"/>
          </p:cNvPicPr>
          <p:nvPr>
            <p:ph idx="1"/>
            <a:videoFile r:link="rId1"/>
          </p:nvPr>
        </p:nvPicPr>
        <p:blipFill>
          <a:blip r:embed="rId3"/>
          <a:stretch>
            <a:fillRect/>
          </a:stretch>
        </p:blipFill>
        <p:spPr>
          <a:xfrm>
            <a:off x="1066800" y="642594"/>
            <a:ext cx="9818461" cy="5547476"/>
          </a:xfrm>
          <a:prstGeom prst="rect">
            <a:avLst/>
          </a:prstGeom>
        </p:spPr>
      </p:pic>
    </p:spTree>
    <p:extLst>
      <p:ext uri="{BB962C8B-B14F-4D97-AF65-F5344CB8AC3E}">
        <p14:creationId xmlns:p14="http://schemas.microsoft.com/office/powerpoint/2010/main" val="23239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AU" b="1"/>
              <a:t>Possible feelings;</a:t>
            </a:r>
          </a:p>
        </p:txBody>
      </p:sp>
      <p:sp>
        <p:nvSpPr>
          <p:cNvPr id="3" name="Content Placeholder 2"/>
          <p:cNvSpPr>
            <a:spLocks noGrp="1"/>
          </p:cNvSpPr>
          <p:nvPr>
            <p:ph sz="half" idx="1"/>
          </p:nvPr>
        </p:nvSpPr>
        <p:spPr>
          <a:xfrm>
            <a:off x="1066800" y="2103120"/>
            <a:ext cx="7761514" cy="3749040"/>
          </a:xfrm>
        </p:spPr>
        <p:txBody>
          <a:bodyPr>
            <a:normAutofit lnSpcReduction="10000"/>
          </a:bodyPr>
          <a:lstStyle/>
          <a:p>
            <a:pPr marL="0" indent="0">
              <a:lnSpc>
                <a:spcPct val="100000"/>
              </a:lnSpc>
              <a:buNone/>
            </a:pPr>
            <a:endParaRPr lang="en-AU" sz="2000"/>
          </a:p>
          <a:p>
            <a:pPr>
              <a:lnSpc>
                <a:spcPct val="100000"/>
              </a:lnSpc>
            </a:pPr>
            <a:r>
              <a:rPr lang="en-AU" sz="2400"/>
              <a:t>overwhelmed</a:t>
            </a:r>
          </a:p>
          <a:p>
            <a:pPr>
              <a:lnSpc>
                <a:spcPct val="100000"/>
              </a:lnSpc>
            </a:pPr>
            <a:r>
              <a:rPr lang="en-AU" sz="2400"/>
              <a:t>fear (particularly when having to face certain objects, situations or events)</a:t>
            </a:r>
          </a:p>
          <a:p>
            <a:pPr>
              <a:lnSpc>
                <a:spcPct val="100000"/>
              </a:lnSpc>
            </a:pPr>
            <a:r>
              <a:rPr lang="en-AU" sz="2400"/>
              <a:t>worried about physical symptoms (such as fearing there is an undiagnosed medical problem)</a:t>
            </a:r>
          </a:p>
          <a:p>
            <a:pPr>
              <a:lnSpc>
                <a:spcPct val="100000"/>
              </a:lnSpc>
            </a:pPr>
            <a:r>
              <a:rPr lang="en-AU" sz="2400"/>
              <a:t>dread (that something bad is going to happen)</a:t>
            </a:r>
          </a:p>
          <a:p>
            <a:pPr>
              <a:lnSpc>
                <a:spcPct val="100000"/>
              </a:lnSpc>
            </a:pPr>
            <a:r>
              <a:rPr lang="en-AU" sz="2400"/>
              <a:t>constantly tense, nervous or on edge</a:t>
            </a:r>
          </a:p>
          <a:p>
            <a:pPr>
              <a:lnSpc>
                <a:spcPct val="100000"/>
              </a:lnSpc>
            </a:pPr>
            <a:r>
              <a:rPr lang="en-AU" sz="2400"/>
              <a:t>uncontrollable or overwhelming panic.                         </a:t>
            </a:r>
          </a:p>
          <a:p>
            <a:pPr>
              <a:lnSpc>
                <a:spcPct val="100000"/>
              </a:lnSpc>
            </a:pPr>
            <a:endParaRPr lang="en-AU" sz="1700"/>
          </a:p>
        </p:txBody>
      </p:sp>
      <p:pic>
        <p:nvPicPr>
          <p:cNvPr id="5" name="Picture 2" descr="https://www.youthbeyondblue.com/images/librariesprovider4/round-illustrations-500x484p/feelings-circle-orange-500x-484p.jpg?sfvrsn=42fd82e9_0&amp;size=150"/>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056914" y="1017221"/>
            <a:ext cx="2154695" cy="2082872"/>
          </a:xfrm>
          <a:prstGeom prst="rect">
            <a:avLst/>
          </a:prstGeom>
          <a:solidFill>
            <a:srgbClr val="FFFFFF"/>
          </a:solidFill>
        </p:spPr>
      </p:pic>
    </p:spTree>
    <p:extLst>
      <p:ext uri="{BB962C8B-B14F-4D97-AF65-F5344CB8AC3E}">
        <p14:creationId xmlns:p14="http://schemas.microsoft.com/office/powerpoint/2010/main" val="2642736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vert="horz" lIns="91440" tIns="45720" rIns="91440" bIns="45720" rtlCol="0" anchor="ctr">
            <a:normAutofit/>
          </a:bodyPr>
          <a:lstStyle/>
          <a:p>
            <a:r>
              <a:rPr lang="en-US" b="1" i="0" kern="1200" cap="none" spc="0" baseline="0">
                <a:effectLst/>
                <a:latin typeface="+mj-lt"/>
                <a:ea typeface="+mn-ea"/>
                <a:cs typeface="+mn-cs"/>
              </a:rPr>
              <a:t>Possible thoughts </a:t>
            </a:r>
            <a:r>
              <a:rPr lang="en-US" i="0" kern="1200" cap="none" spc="0" baseline="0">
                <a:effectLst/>
                <a:latin typeface="+mj-lt"/>
                <a:ea typeface="+mn-ea"/>
                <a:cs typeface="+mn-cs"/>
              </a:rPr>
              <a:t>:</a:t>
            </a:r>
          </a:p>
        </p:txBody>
      </p:sp>
      <p:sp>
        <p:nvSpPr>
          <p:cNvPr id="9" name="TextBox 8"/>
          <p:cNvSpPr txBox="1"/>
          <p:nvPr/>
        </p:nvSpPr>
        <p:spPr>
          <a:xfrm>
            <a:off x="1066799" y="2103120"/>
            <a:ext cx="9688287" cy="3749040"/>
          </a:xfrm>
          <a:prstGeom prst="rect">
            <a:avLst/>
          </a:prstGeom>
        </p:spPr>
        <p:txBody>
          <a:bodyPr vert="horz" lIns="91440" tIns="45720" rIns="91440" bIns="45720" rtlCol="0">
            <a:normAutofit/>
          </a:bodyPr>
          <a:lstStyle/>
          <a:p>
            <a:pPr indent="-182880">
              <a:spcAft>
                <a:spcPts val="600"/>
              </a:spcAft>
              <a:buClr>
                <a:schemeClr val="tx1">
                  <a:lumMod val="85000"/>
                  <a:lumOff val="15000"/>
                </a:schemeClr>
              </a:buClr>
              <a:buFont typeface="Garamond" pitchFamily="18" charset="0"/>
              <a:buChar char="◦"/>
            </a:pPr>
            <a:r>
              <a:rPr lang="en-US" sz="2400"/>
              <a:t>“I’m going crazy.”</a:t>
            </a:r>
          </a:p>
          <a:p>
            <a:pPr indent="-182880">
              <a:spcAft>
                <a:spcPts val="600"/>
              </a:spcAft>
              <a:buClr>
                <a:schemeClr val="tx1">
                  <a:lumMod val="85000"/>
                  <a:lumOff val="15000"/>
                </a:schemeClr>
              </a:buClr>
              <a:buFont typeface="Garamond" pitchFamily="18" charset="0"/>
              <a:buChar char="◦"/>
            </a:pPr>
            <a:r>
              <a:rPr lang="en-US" sz="2400"/>
              <a:t>“I can’t control myself.”</a:t>
            </a:r>
          </a:p>
          <a:p>
            <a:pPr indent="-182880">
              <a:spcAft>
                <a:spcPts val="600"/>
              </a:spcAft>
              <a:buClr>
                <a:schemeClr val="tx1">
                  <a:lumMod val="85000"/>
                  <a:lumOff val="15000"/>
                </a:schemeClr>
              </a:buClr>
              <a:buFont typeface="Garamond" pitchFamily="18" charset="0"/>
              <a:buChar char="◦"/>
            </a:pPr>
            <a:r>
              <a:rPr lang="en-US" sz="2400"/>
              <a:t>“I’m about to die.”</a:t>
            </a:r>
          </a:p>
          <a:p>
            <a:pPr indent="-182880">
              <a:spcAft>
                <a:spcPts val="600"/>
              </a:spcAft>
              <a:buClr>
                <a:schemeClr val="tx1">
                  <a:lumMod val="85000"/>
                  <a:lumOff val="15000"/>
                </a:schemeClr>
              </a:buClr>
              <a:buFont typeface="Garamond" pitchFamily="18" charset="0"/>
              <a:buChar char="◦"/>
            </a:pPr>
            <a:r>
              <a:rPr lang="en-US" sz="2400"/>
              <a:t>“People are judging me.”</a:t>
            </a:r>
          </a:p>
          <a:p>
            <a:pPr indent="-182880">
              <a:spcAft>
                <a:spcPts val="600"/>
              </a:spcAft>
              <a:buClr>
                <a:schemeClr val="tx1">
                  <a:lumMod val="85000"/>
                  <a:lumOff val="15000"/>
                </a:schemeClr>
              </a:buClr>
              <a:buFont typeface="Garamond" pitchFamily="18" charset="0"/>
              <a:buChar char="◦"/>
            </a:pPr>
            <a:r>
              <a:rPr lang="en-US" sz="2400"/>
              <a:t>having upsetting dreams or flashbacks of a traumatic event</a:t>
            </a:r>
          </a:p>
          <a:p>
            <a:pPr indent="-182880">
              <a:spcAft>
                <a:spcPts val="600"/>
              </a:spcAft>
              <a:buClr>
                <a:schemeClr val="tx1">
                  <a:lumMod val="85000"/>
                  <a:lumOff val="15000"/>
                </a:schemeClr>
              </a:buClr>
              <a:buFont typeface="Garamond" pitchFamily="18" charset="0"/>
              <a:buChar char="◦"/>
            </a:pPr>
            <a:r>
              <a:rPr lang="en-US" sz="2400"/>
              <a:t>finding it hard to stop worrying</a:t>
            </a:r>
          </a:p>
          <a:p>
            <a:pPr indent="-182880">
              <a:spcAft>
                <a:spcPts val="600"/>
              </a:spcAft>
              <a:buClr>
                <a:schemeClr val="tx1">
                  <a:lumMod val="85000"/>
                  <a:lumOff val="15000"/>
                </a:schemeClr>
              </a:buClr>
              <a:buFont typeface="Garamond" pitchFamily="18" charset="0"/>
              <a:buChar char="◦"/>
            </a:pPr>
            <a:r>
              <a:rPr lang="en-US" sz="2400"/>
              <a:t>unwanted or intrusive thoughts.</a:t>
            </a:r>
            <a:endParaRPr lang="en-US"/>
          </a:p>
        </p:txBody>
      </p:sp>
      <p:pic>
        <p:nvPicPr>
          <p:cNvPr id="2056" name="Picture 8" descr="https://www.youthbeyondblue.com/images/librariesprovider4/round-illustrations-500x484p/thoughts-circle-purple-500x484p.jpg?sfvrsn=50fd82e9_0&amp;size=15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9166448" y="829491"/>
            <a:ext cx="1958752" cy="1893460"/>
          </a:xfrm>
          <a:prstGeom prst="rect">
            <a:avLst/>
          </a:prstGeom>
          <a:solidFill>
            <a:srgbClr val="FFFFFF"/>
          </a:solidFill>
        </p:spPr>
      </p:pic>
    </p:spTree>
    <p:extLst>
      <p:ext uri="{BB962C8B-B14F-4D97-AF65-F5344CB8AC3E}">
        <p14:creationId xmlns:p14="http://schemas.microsoft.com/office/powerpoint/2010/main" val="692123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vert="horz" lIns="91440" tIns="45720" rIns="91440" bIns="45720" rtlCol="0" anchor="ctr">
            <a:normAutofit/>
          </a:bodyPr>
          <a:lstStyle/>
          <a:p>
            <a:r>
              <a:rPr lang="en-US" b="1" i="0" kern="1200" cap="none" spc="0" baseline="0">
                <a:effectLst/>
                <a:latin typeface="+mj-lt"/>
                <a:ea typeface="+mn-ea"/>
                <a:cs typeface="+mn-cs"/>
              </a:rPr>
              <a:t>Possible</a:t>
            </a:r>
            <a:r>
              <a:rPr lang="en-US" i="0" kern="1200" cap="none" spc="0" baseline="0">
                <a:effectLst/>
                <a:latin typeface="+mj-lt"/>
                <a:ea typeface="+mn-ea"/>
                <a:cs typeface="+mn-cs"/>
              </a:rPr>
              <a:t> </a:t>
            </a:r>
            <a:r>
              <a:rPr lang="en-US" b="1" i="0" kern="1200" cap="none" spc="0" baseline="0">
                <a:effectLst/>
                <a:latin typeface="+mj-lt"/>
                <a:ea typeface="+mn-ea"/>
                <a:cs typeface="+mn-cs"/>
              </a:rPr>
              <a:t>behaviours</a:t>
            </a:r>
            <a:r>
              <a:rPr lang="en-US" i="0" kern="1200" cap="none" spc="0" baseline="0">
                <a:effectLst/>
                <a:latin typeface="+mj-lt"/>
                <a:ea typeface="+mn-ea"/>
                <a:cs typeface="+mn-cs"/>
              </a:rPr>
              <a:t>;</a:t>
            </a:r>
          </a:p>
        </p:txBody>
      </p:sp>
      <p:sp>
        <p:nvSpPr>
          <p:cNvPr id="4" name="TextBox 3"/>
          <p:cNvSpPr txBox="1"/>
          <p:nvPr/>
        </p:nvSpPr>
        <p:spPr>
          <a:xfrm>
            <a:off x="1066799" y="2103120"/>
            <a:ext cx="7588020" cy="3749040"/>
          </a:xfrm>
          <a:prstGeom prst="rect">
            <a:avLst/>
          </a:prstGeom>
        </p:spPr>
        <p:txBody>
          <a:bodyPr vert="horz" lIns="91440" tIns="45720" rIns="91440" bIns="45720" rtlCol="0">
            <a:noAutofit/>
          </a:bodyPr>
          <a:lstStyle/>
          <a:p>
            <a:pPr indent="-182880">
              <a:lnSpc>
                <a:spcPct val="90000"/>
              </a:lnSpc>
              <a:spcAft>
                <a:spcPts val="600"/>
              </a:spcAft>
              <a:buClr>
                <a:schemeClr val="tx1">
                  <a:lumMod val="85000"/>
                  <a:lumOff val="15000"/>
                </a:schemeClr>
              </a:buClr>
              <a:buFont typeface="Garamond" pitchFamily="18" charset="0"/>
              <a:buChar char="◦"/>
            </a:pPr>
            <a:r>
              <a:rPr lang="en-US" sz="2400"/>
              <a:t>withdrawing from, avoiding, or enduring with fear objects or situations which cause anxiety</a:t>
            </a:r>
          </a:p>
          <a:p>
            <a:pPr indent="-182880">
              <a:lnSpc>
                <a:spcPct val="90000"/>
              </a:lnSpc>
              <a:spcAft>
                <a:spcPts val="600"/>
              </a:spcAft>
              <a:buClr>
                <a:schemeClr val="tx1">
                  <a:lumMod val="85000"/>
                  <a:lumOff val="15000"/>
                </a:schemeClr>
              </a:buClr>
              <a:buFont typeface="Garamond" pitchFamily="18" charset="0"/>
              <a:buChar char="◦"/>
            </a:pPr>
            <a:endParaRPr lang="en-US" sz="2400"/>
          </a:p>
          <a:p>
            <a:pPr indent="-182880">
              <a:lnSpc>
                <a:spcPct val="90000"/>
              </a:lnSpc>
              <a:spcAft>
                <a:spcPts val="600"/>
              </a:spcAft>
              <a:buClr>
                <a:schemeClr val="tx1">
                  <a:lumMod val="85000"/>
                  <a:lumOff val="15000"/>
                </a:schemeClr>
              </a:buClr>
              <a:buFont typeface="Garamond" pitchFamily="18" charset="0"/>
              <a:buChar char="◦"/>
            </a:pPr>
            <a:r>
              <a:rPr lang="en-US" sz="2400"/>
              <a:t>urges to perform certain rituals in a bid to relieve anxiety</a:t>
            </a:r>
          </a:p>
          <a:p>
            <a:pPr indent="-182880">
              <a:lnSpc>
                <a:spcPct val="90000"/>
              </a:lnSpc>
              <a:spcAft>
                <a:spcPts val="600"/>
              </a:spcAft>
              <a:buClr>
                <a:schemeClr val="tx1">
                  <a:lumMod val="85000"/>
                  <a:lumOff val="15000"/>
                </a:schemeClr>
              </a:buClr>
              <a:buFont typeface="Garamond" pitchFamily="18" charset="0"/>
              <a:buChar char="◦"/>
            </a:pPr>
            <a:endParaRPr lang="en-US" sz="2400"/>
          </a:p>
          <a:p>
            <a:pPr indent="-182880">
              <a:lnSpc>
                <a:spcPct val="90000"/>
              </a:lnSpc>
              <a:spcAft>
                <a:spcPts val="600"/>
              </a:spcAft>
              <a:buClr>
                <a:schemeClr val="tx1">
                  <a:lumMod val="85000"/>
                  <a:lumOff val="15000"/>
                </a:schemeClr>
              </a:buClr>
              <a:buFont typeface="Garamond" pitchFamily="18" charset="0"/>
              <a:buChar char="◦"/>
            </a:pPr>
            <a:r>
              <a:rPr lang="en-US" sz="2400"/>
              <a:t>not being assertive (i.e. avoiding eye contact)</a:t>
            </a:r>
          </a:p>
          <a:p>
            <a:pPr indent="-182880">
              <a:lnSpc>
                <a:spcPct val="90000"/>
              </a:lnSpc>
              <a:spcAft>
                <a:spcPts val="600"/>
              </a:spcAft>
              <a:buClr>
                <a:schemeClr val="tx1">
                  <a:lumMod val="85000"/>
                  <a:lumOff val="15000"/>
                </a:schemeClr>
              </a:buClr>
              <a:buFont typeface="Garamond" pitchFamily="18" charset="0"/>
              <a:buChar char="◦"/>
            </a:pPr>
            <a:r>
              <a:rPr lang="en-US" sz="2400"/>
              <a:t>difficulty making decisions</a:t>
            </a:r>
          </a:p>
          <a:p>
            <a:pPr indent="-182880">
              <a:lnSpc>
                <a:spcPct val="90000"/>
              </a:lnSpc>
              <a:spcAft>
                <a:spcPts val="600"/>
              </a:spcAft>
              <a:buClr>
                <a:schemeClr val="tx1">
                  <a:lumMod val="85000"/>
                  <a:lumOff val="15000"/>
                </a:schemeClr>
              </a:buClr>
              <a:buFont typeface="Garamond" pitchFamily="18" charset="0"/>
              <a:buChar char="◦"/>
            </a:pPr>
            <a:endParaRPr lang="en-US" sz="2400"/>
          </a:p>
          <a:p>
            <a:pPr indent="-182880">
              <a:lnSpc>
                <a:spcPct val="90000"/>
              </a:lnSpc>
              <a:spcAft>
                <a:spcPts val="600"/>
              </a:spcAft>
              <a:buClr>
                <a:schemeClr val="tx1">
                  <a:lumMod val="85000"/>
                  <a:lumOff val="15000"/>
                </a:schemeClr>
              </a:buClr>
              <a:buFont typeface="Garamond" pitchFamily="18" charset="0"/>
              <a:buChar char="◦"/>
            </a:pPr>
            <a:r>
              <a:rPr lang="en-US" sz="2400"/>
              <a:t>being startled easily.</a:t>
            </a:r>
          </a:p>
        </p:txBody>
      </p:sp>
      <p:pic>
        <p:nvPicPr>
          <p:cNvPr id="3074" name="Picture 2" descr="https://www.youthbeyondblue.com/images/librariesprovider4/round-illustrations-500x484p/behaviour-circle-green-500x484p.jpg?sfvrsn=62fd82e9_0&amp;size=15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8654819" y="1040965"/>
            <a:ext cx="2470381" cy="2388035"/>
          </a:xfrm>
          <a:prstGeom prst="rect">
            <a:avLst/>
          </a:prstGeom>
          <a:solidFill>
            <a:srgbClr val="FFFFFF"/>
          </a:solidFill>
        </p:spPr>
      </p:pic>
    </p:spTree>
    <p:extLst>
      <p:ext uri="{BB962C8B-B14F-4D97-AF65-F5344CB8AC3E}">
        <p14:creationId xmlns:p14="http://schemas.microsoft.com/office/powerpoint/2010/main" val="28383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vert="horz" lIns="91440" tIns="45720" rIns="91440" bIns="45720" rtlCol="0" anchor="ctr">
            <a:normAutofit/>
          </a:bodyPr>
          <a:lstStyle/>
          <a:p>
            <a:r>
              <a:rPr lang="en-US" b="1" i="0" kern="1200" cap="none" spc="0" baseline="0">
                <a:effectLst/>
                <a:latin typeface="+mj-lt"/>
                <a:ea typeface="+mn-ea"/>
                <a:cs typeface="+mn-cs"/>
              </a:rPr>
              <a:t>Possible physical effects;     </a:t>
            </a:r>
          </a:p>
        </p:txBody>
      </p:sp>
      <p:sp>
        <p:nvSpPr>
          <p:cNvPr id="4" name="TextBox 3"/>
          <p:cNvSpPr txBox="1"/>
          <p:nvPr/>
        </p:nvSpPr>
        <p:spPr>
          <a:xfrm>
            <a:off x="1066799" y="1850571"/>
            <a:ext cx="9895115" cy="4441372"/>
          </a:xfrm>
          <a:prstGeom prst="rect">
            <a:avLst/>
          </a:prstGeom>
        </p:spPr>
        <p:txBody>
          <a:bodyPr vert="horz" lIns="91440" tIns="45720" rIns="91440" bIns="45720" rtlCol="0">
            <a:normAutofit fontScale="92500" lnSpcReduction="10000"/>
          </a:bodyPr>
          <a:lstStyle/>
          <a:p>
            <a:pPr marL="457200" indent="-182880">
              <a:lnSpc>
                <a:spcPct val="90000"/>
              </a:lnSpc>
              <a:spcAft>
                <a:spcPts val="600"/>
              </a:spcAft>
              <a:buClr>
                <a:schemeClr val="tx1">
                  <a:lumMod val="85000"/>
                  <a:lumOff val="15000"/>
                </a:schemeClr>
              </a:buClr>
              <a:buFont typeface="Garamond" pitchFamily="18" charset="0"/>
              <a:buChar char="◦"/>
            </a:pPr>
            <a:r>
              <a:rPr lang="en-US" sz="2400"/>
              <a:t>increased heart rate/racing heart</a:t>
            </a:r>
          </a:p>
          <a:p>
            <a:pPr marL="457200" indent="-182880">
              <a:lnSpc>
                <a:spcPct val="90000"/>
              </a:lnSpc>
              <a:spcAft>
                <a:spcPts val="600"/>
              </a:spcAft>
              <a:buClr>
                <a:schemeClr val="tx1">
                  <a:lumMod val="85000"/>
                  <a:lumOff val="15000"/>
                </a:schemeClr>
              </a:buClr>
              <a:buFont typeface="Garamond" pitchFamily="18" charset="0"/>
              <a:buChar char="◦"/>
            </a:pPr>
            <a:r>
              <a:rPr lang="en-US" sz="2400"/>
              <a:t>shortness of breath</a:t>
            </a:r>
          </a:p>
          <a:p>
            <a:pPr marL="457200" indent="-182880">
              <a:lnSpc>
                <a:spcPct val="90000"/>
              </a:lnSpc>
              <a:spcAft>
                <a:spcPts val="600"/>
              </a:spcAft>
              <a:buClr>
                <a:schemeClr val="tx1">
                  <a:lumMod val="85000"/>
                  <a:lumOff val="15000"/>
                </a:schemeClr>
              </a:buClr>
              <a:buFont typeface="Garamond" pitchFamily="18" charset="0"/>
              <a:buChar char="◦"/>
            </a:pPr>
            <a:r>
              <a:rPr lang="en-US" sz="2400"/>
              <a:t>vomiting, nausea or pain in the stomach</a:t>
            </a:r>
          </a:p>
          <a:p>
            <a:pPr marL="457200" indent="-182880">
              <a:lnSpc>
                <a:spcPct val="90000"/>
              </a:lnSpc>
              <a:spcAft>
                <a:spcPts val="600"/>
              </a:spcAft>
              <a:buClr>
                <a:schemeClr val="tx1">
                  <a:lumMod val="85000"/>
                  <a:lumOff val="15000"/>
                </a:schemeClr>
              </a:buClr>
              <a:buFont typeface="Garamond" pitchFamily="18" charset="0"/>
              <a:buChar char="◦"/>
            </a:pPr>
            <a:r>
              <a:rPr lang="en-US" sz="2400"/>
              <a:t>muscle tension and pain (e.g. sore back or jaw)</a:t>
            </a:r>
          </a:p>
          <a:p>
            <a:pPr marL="457200" indent="-182880">
              <a:lnSpc>
                <a:spcPct val="90000"/>
              </a:lnSpc>
              <a:spcAft>
                <a:spcPts val="600"/>
              </a:spcAft>
              <a:buClr>
                <a:schemeClr val="tx1">
                  <a:lumMod val="85000"/>
                  <a:lumOff val="15000"/>
                </a:schemeClr>
              </a:buClr>
              <a:buFont typeface="Garamond" pitchFamily="18" charset="0"/>
              <a:buChar char="◦"/>
            </a:pPr>
            <a:r>
              <a:rPr lang="en-US" sz="2400"/>
              <a:t>feeling detached from your physical self or surroundings</a:t>
            </a:r>
          </a:p>
          <a:p>
            <a:pPr marL="457200" indent="-182880">
              <a:lnSpc>
                <a:spcPct val="90000"/>
              </a:lnSpc>
              <a:spcAft>
                <a:spcPts val="600"/>
              </a:spcAft>
              <a:buClr>
                <a:schemeClr val="tx1">
                  <a:lumMod val="85000"/>
                  <a:lumOff val="15000"/>
                </a:schemeClr>
              </a:buClr>
              <a:buFont typeface="Garamond" pitchFamily="18" charset="0"/>
              <a:buChar char="◦"/>
            </a:pPr>
            <a:r>
              <a:rPr lang="en-US" sz="2400"/>
              <a:t>Sweating, shaking</a:t>
            </a:r>
          </a:p>
          <a:p>
            <a:pPr marL="457200" indent="-182880">
              <a:lnSpc>
                <a:spcPct val="90000"/>
              </a:lnSpc>
              <a:spcAft>
                <a:spcPts val="600"/>
              </a:spcAft>
              <a:buClr>
                <a:schemeClr val="tx1">
                  <a:lumMod val="85000"/>
                  <a:lumOff val="15000"/>
                </a:schemeClr>
              </a:buClr>
              <a:buFont typeface="Garamond" pitchFamily="18" charset="0"/>
              <a:buChar char="◦"/>
            </a:pPr>
            <a:r>
              <a:rPr lang="en-US" sz="2400"/>
              <a:t>dizzy, lightheaded or faint</a:t>
            </a:r>
          </a:p>
          <a:p>
            <a:pPr marL="457200" indent="-182880">
              <a:lnSpc>
                <a:spcPct val="90000"/>
              </a:lnSpc>
              <a:spcAft>
                <a:spcPts val="600"/>
              </a:spcAft>
              <a:buClr>
                <a:schemeClr val="tx1">
                  <a:lumMod val="85000"/>
                  <a:lumOff val="15000"/>
                </a:schemeClr>
              </a:buClr>
              <a:buFont typeface="Garamond" pitchFamily="18" charset="0"/>
              <a:buChar char="◦"/>
            </a:pPr>
            <a:r>
              <a:rPr lang="en-US" sz="2400"/>
              <a:t>having trouble sleeping - difficulty falling or staying asleep or restless sleep</a:t>
            </a:r>
          </a:p>
          <a:p>
            <a:pPr marL="457200" indent="-182880">
              <a:lnSpc>
                <a:spcPct val="90000"/>
              </a:lnSpc>
              <a:spcAft>
                <a:spcPts val="600"/>
              </a:spcAft>
              <a:buClr>
                <a:schemeClr val="tx1">
                  <a:lumMod val="85000"/>
                  <a:lumOff val="15000"/>
                </a:schemeClr>
              </a:buClr>
              <a:buFont typeface="Garamond" pitchFamily="18" charset="0"/>
              <a:buChar char="◦"/>
            </a:pPr>
            <a:r>
              <a:rPr lang="en-US" sz="2400"/>
              <a:t>numbness or tingling</a:t>
            </a:r>
          </a:p>
          <a:p>
            <a:pPr marL="457200" indent="-182880">
              <a:lnSpc>
                <a:spcPct val="90000"/>
              </a:lnSpc>
              <a:spcAft>
                <a:spcPts val="600"/>
              </a:spcAft>
              <a:buClr>
                <a:schemeClr val="tx1">
                  <a:lumMod val="85000"/>
                  <a:lumOff val="15000"/>
                </a:schemeClr>
              </a:buClr>
              <a:buFont typeface="Garamond" pitchFamily="18" charset="0"/>
              <a:buChar char="◦"/>
            </a:pPr>
            <a:r>
              <a:rPr lang="en-US" sz="2400"/>
              <a:t>hot or cold flushes</a:t>
            </a:r>
          </a:p>
          <a:p>
            <a:pPr marL="457200" indent="-182880">
              <a:lnSpc>
                <a:spcPct val="90000"/>
              </a:lnSpc>
              <a:spcAft>
                <a:spcPts val="600"/>
              </a:spcAft>
              <a:buClr>
                <a:schemeClr val="tx1">
                  <a:lumMod val="85000"/>
                  <a:lumOff val="15000"/>
                </a:schemeClr>
              </a:buClr>
              <a:buFont typeface="Garamond" pitchFamily="18" charset="0"/>
              <a:buChar char="◦"/>
            </a:pPr>
            <a:r>
              <a:rPr lang="en-US" sz="2400"/>
              <a:t>difficulty concentrating.</a:t>
            </a:r>
            <a:br>
              <a:rPr lang="en-US" sz="1300"/>
            </a:br>
            <a:endParaRPr lang="en-US" sz="1300"/>
          </a:p>
        </p:txBody>
      </p:sp>
      <p:pic>
        <p:nvPicPr>
          <p:cNvPr id="4100" name="Picture 4" descr="https://www.youthbeyondblue.com/images/librariesprovider4/round-illustrations-500x484p/physical-circle-blue-500x484p.jpg?sfvrsn=70fd82e9_0&amp;size=150"/>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9569220" y="745817"/>
            <a:ext cx="1817238" cy="1756664"/>
          </a:xfrm>
          <a:prstGeom prst="rect">
            <a:avLst/>
          </a:prstGeom>
          <a:solidFill>
            <a:srgbClr val="FFFFFF"/>
          </a:solidFill>
        </p:spPr>
      </p:pic>
    </p:spTree>
    <p:extLst>
      <p:ext uri="{BB962C8B-B14F-4D97-AF65-F5344CB8AC3E}">
        <p14:creationId xmlns:p14="http://schemas.microsoft.com/office/powerpoint/2010/main" val="2010445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A7BF-AFCF-D386-05F9-9AB53661CE92}"/>
              </a:ext>
            </a:extLst>
          </p:cNvPr>
          <p:cNvSpPr>
            <a:spLocks noGrp="1"/>
          </p:cNvSpPr>
          <p:nvPr>
            <p:ph type="title"/>
          </p:nvPr>
        </p:nvSpPr>
        <p:spPr/>
        <p:txBody>
          <a:bodyPr/>
          <a:lstStyle/>
          <a:p>
            <a:endParaRPr lang="en-AU"/>
          </a:p>
        </p:txBody>
      </p:sp>
      <p:pic>
        <p:nvPicPr>
          <p:cNvPr id="5" name="Online Media 4" title="MILLI | What a panic attack feels like">
            <a:hlinkClick r:id="" action="ppaction://media"/>
            <a:extLst>
              <a:ext uri="{FF2B5EF4-FFF2-40B4-BE49-F238E27FC236}">
                <a16:creationId xmlns:a16="http://schemas.microsoft.com/office/drawing/2014/main" id="{41B4EE8C-1814-3243-EACD-547FA2F9FF7A}"/>
              </a:ext>
            </a:extLst>
          </p:cNvPr>
          <p:cNvPicPr>
            <a:picLocks noGrp="1" noRot="1" noChangeAspect="1"/>
          </p:cNvPicPr>
          <p:nvPr>
            <p:ph sz="half" idx="1"/>
            <a:videoFile r:link="rId1"/>
          </p:nvPr>
        </p:nvPicPr>
        <p:blipFill>
          <a:blip r:embed="rId3"/>
          <a:stretch>
            <a:fillRect/>
          </a:stretch>
        </p:blipFill>
        <p:spPr>
          <a:xfrm>
            <a:off x="1709057" y="884276"/>
            <a:ext cx="8773886" cy="4957335"/>
          </a:xfrm>
          <a:prstGeom prst="rect">
            <a:avLst/>
          </a:prstGeom>
        </p:spPr>
      </p:pic>
      <p:sp>
        <p:nvSpPr>
          <p:cNvPr id="4" name="Content Placeholder 3">
            <a:extLst>
              <a:ext uri="{FF2B5EF4-FFF2-40B4-BE49-F238E27FC236}">
                <a16:creationId xmlns:a16="http://schemas.microsoft.com/office/drawing/2014/main" id="{285EA782-E63C-7FFC-1FF9-4CCA89B675AE}"/>
              </a:ext>
            </a:extLst>
          </p:cNvPr>
          <p:cNvSpPr>
            <a:spLocks noGrp="1"/>
          </p:cNvSpPr>
          <p:nvPr>
            <p:ph sz="half" idx="2"/>
          </p:nvPr>
        </p:nvSpPr>
        <p:spPr/>
        <p:txBody>
          <a:bodyPr/>
          <a:lstStyle/>
          <a:p>
            <a:endParaRPr lang="en-AU"/>
          </a:p>
        </p:txBody>
      </p:sp>
    </p:spTree>
    <p:extLst>
      <p:ext uri="{BB962C8B-B14F-4D97-AF65-F5344CB8AC3E}">
        <p14:creationId xmlns:p14="http://schemas.microsoft.com/office/powerpoint/2010/main" val="383908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371600"/>
          </a:xfrm>
        </p:spPr>
        <p:txBody>
          <a:bodyPr anchor="ctr">
            <a:normAutofit/>
          </a:bodyPr>
          <a:lstStyle/>
          <a:p>
            <a:r>
              <a:rPr lang="en-US"/>
              <a:t>Anxiety Disorders</a:t>
            </a:r>
            <a:endParaRPr lang="en-AU"/>
          </a:p>
        </p:txBody>
      </p:sp>
      <p:sp>
        <p:nvSpPr>
          <p:cNvPr id="3" name="Content Placeholder 2"/>
          <p:cNvSpPr>
            <a:spLocks noGrp="1"/>
          </p:cNvSpPr>
          <p:nvPr>
            <p:ph sz="half" idx="1"/>
          </p:nvPr>
        </p:nvSpPr>
        <p:spPr>
          <a:xfrm>
            <a:off x="1066800" y="2103120"/>
            <a:ext cx="10058400" cy="3749040"/>
          </a:xfrm>
        </p:spPr>
        <p:txBody>
          <a:bodyPr>
            <a:normAutofit/>
          </a:bodyPr>
          <a:lstStyle/>
          <a:p>
            <a:r>
              <a:rPr lang="en-AU"/>
              <a:t>While many people are able to cope with short-term anxiety, for others the experience is much more intense or does not go away. This is referred to as an anxiety disorder.</a:t>
            </a:r>
          </a:p>
          <a:p>
            <a:r>
              <a:rPr lang="en-AU"/>
              <a:t>An anxiety disorder is a serious illness, which can overwhelm a person and make it more difficult for them to function every day. The ongoing feeling of worry or extreme panic attacks can affect a person’s life physically, mentally and socially. </a:t>
            </a:r>
          </a:p>
          <a:p>
            <a:r>
              <a:rPr lang="en-AU"/>
              <a:t>Since one in four people will experience an anxiety disorder at some stage in their life, it is important that we all understand the causes, symptoms, treatment and help that is available.</a:t>
            </a:r>
          </a:p>
          <a:p>
            <a:endParaRPr lang="en-AU"/>
          </a:p>
          <a:p>
            <a:endParaRPr lang="en-AU"/>
          </a:p>
          <a:p>
            <a:endParaRPr lang="en-AU"/>
          </a:p>
          <a:p>
            <a:endParaRPr lang="en-AU"/>
          </a:p>
        </p:txBody>
      </p:sp>
    </p:spTree>
    <p:extLst>
      <p:ext uri="{BB962C8B-B14F-4D97-AF65-F5344CB8AC3E}">
        <p14:creationId xmlns:p14="http://schemas.microsoft.com/office/powerpoint/2010/main" val="3462713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a:t>Five common types of anxiety disorders are:</a:t>
            </a:r>
            <a:endParaRPr lang="en-AU"/>
          </a:p>
        </p:txBody>
      </p:sp>
      <p:sp>
        <p:nvSpPr>
          <p:cNvPr id="3" name="Content Placeholder 2"/>
          <p:cNvSpPr>
            <a:spLocks noGrp="1"/>
          </p:cNvSpPr>
          <p:nvPr>
            <p:ph idx="1"/>
          </p:nvPr>
        </p:nvSpPr>
        <p:spPr/>
        <p:txBody>
          <a:bodyPr/>
          <a:lstStyle/>
          <a:p>
            <a:pPr marL="0" lvl="0" indent="0">
              <a:buNone/>
            </a:pPr>
            <a:r>
              <a:rPr lang="en-AU"/>
              <a:t>• generalised anxiety disorder</a:t>
            </a:r>
          </a:p>
          <a:p>
            <a:pPr marL="0" lvl="0" indent="0">
              <a:buNone/>
            </a:pPr>
            <a:r>
              <a:rPr lang="en-AU"/>
              <a:t>• phobias ( extreme fears </a:t>
            </a:r>
            <a:r>
              <a:rPr lang="en-AU" err="1"/>
              <a:t>eg</a:t>
            </a:r>
            <a:r>
              <a:rPr lang="en-AU"/>
              <a:t> claustrophobia)</a:t>
            </a:r>
          </a:p>
          <a:p>
            <a:pPr marL="0" lvl="0" indent="0">
              <a:buNone/>
            </a:pPr>
            <a:r>
              <a:rPr lang="en-AU"/>
              <a:t>• obsessive-compulsive disorder ( rituals and repetitive behaviours which people develop believing they are controlling their anxiety)</a:t>
            </a:r>
          </a:p>
          <a:p>
            <a:pPr marL="0" lvl="0" indent="0">
              <a:buNone/>
            </a:pPr>
            <a:r>
              <a:rPr lang="en-AU"/>
              <a:t>• post-traumatic stress disorder ( anxiety which develops following a traumatic event)</a:t>
            </a:r>
          </a:p>
          <a:p>
            <a:pPr marL="0" lvl="0" indent="0">
              <a:buNone/>
            </a:pPr>
            <a:r>
              <a:rPr lang="en-AU"/>
              <a:t>• panic disorder ( panic attacks)</a:t>
            </a:r>
          </a:p>
          <a:p>
            <a:endParaRPr lang="en-AU"/>
          </a:p>
        </p:txBody>
      </p:sp>
    </p:spTree>
    <p:extLst>
      <p:ext uri="{BB962C8B-B14F-4D97-AF65-F5344CB8AC3E}">
        <p14:creationId xmlns:p14="http://schemas.microsoft.com/office/powerpoint/2010/main" val="3850611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32CE-EC01-A1B9-D470-B8A04591F7C7}"/>
              </a:ext>
            </a:extLst>
          </p:cNvPr>
          <p:cNvSpPr>
            <a:spLocks noGrp="1"/>
          </p:cNvSpPr>
          <p:nvPr>
            <p:ph type="title"/>
          </p:nvPr>
        </p:nvSpPr>
        <p:spPr/>
        <p:txBody>
          <a:bodyPr/>
          <a:lstStyle/>
          <a:p>
            <a:r>
              <a:rPr lang="en-AU"/>
              <a:t>If you need help</a:t>
            </a:r>
          </a:p>
        </p:txBody>
      </p:sp>
      <p:sp>
        <p:nvSpPr>
          <p:cNvPr id="3" name="Content Placeholder 2">
            <a:extLst>
              <a:ext uri="{FF2B5EF4-FFF2-40B4-BE49-F238E27FC236}">
                <a16:creationId xmlns:a16="http://schemas.microsoft.com/office/drawing/2014/main" id="{1BE611E0-3B0A-1953-9534-A72235897894}"/>
              </a:ext>
            </a:extLst>
          </p:cNvPr>
          <p:cNvSpPr>
            <a:spLocks noGrp="1"/>
          </p:cNvSpPr>
          <p:nvPr>
            <p:ph idx="1"/>
          </p:nvPr>
        </p:nvSpPr>
        <p:spPr/>
        <p:txBody>
          <a:bodyPr/>
          <a:lstStyle/>
          <a:p>
            <a:r>
              <a:rPr lang="en-AU"/>
              <a:t>Check in with the School Wellbeing Team  we have two mental health practitioners who can speak with you about anxiety disorders.</a:t>
            </a:r>
          </a:p>
          <a:p>
            <a:r>
              <a:rPr lang="en-AU"/>
              <a:t>Check out Beyond Blue or Headspace Websites.</a:t>
            </a:r>
          </a:p>
          <a:p>
            <a:r>
              <a:rPr lang="en-AU"/>
              <a:t>Speak to your parents or a trusted adult.</a:t>
            </a:r>
          </a:p>
          <a:p>
            <a:r>
              <a:rPr lang="en-AU"/>
              <a:t>Make an appointment to see your GP.</a:t>
            </a:r>
          </a:p>
        </p:txBody>
      </p:sp>
    </p:spTree>
    <p:extLst>
      <p:ext uri="{BB962C8B-B14F-4D97-AF65-F5344CB8AC3E}">
        <p14:creationId xmlns:p14="http://schemas.microsoft.com/office/powerpoint/2010/main" val="39469058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139A91C7086847A98671EDF19DF6A7" ma:contentTypeVersion="3" ma:contentTypeDescription="Create a new document." ma:contentTypeScope="" ma:versionID="1ac54db21b4203d299765f3564495803">
  <xsd:schema xmlns:xsd="http://www.w3.org/2001/XMLSchema" xmlns:xs="http://www.w3.org/2001/XMLSchema" xmlns:p="http://schemas.microsoft.com/office/2006/metadata/properties" xmlns:ns2="4f0bfc7f-89f7-4a8e-b4ce-697b04347147" targetNamespace="http://schemas.microsoft.com/office/2006/metadata/properties" ma:root="true" ma:fieldsID="5248034578c8672181713fe683e858fe" ns2:_="">
    <xsd:import namespace="4f0bfc7f-89f7-4a8e-b4ce-697b04347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bfc7f-89f7-4a8e-b4ce-697b04347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2.xml><?xml version="1.0" encoding="utf-8"?>
<ds:datastoreItem xmlns:ds="http://schemas.openxmlformats.org/officeDocument/2006/customXml" ds:itemID="{36EDE6BE-CB06-4CB4-8DAE-A6AC5DCE03D3}">
  <ds:schemaRefs>
    <ds:schemaRef ds:uri="4f0bfc7f-89f7-4a8e-b4ce-697b043471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37651BA-F45C-4845-9AB3-E0A65B39F5E1}">
  <ds:schemaRefs>
    <ds:schemaRef ds:uri="4f0bfc7f-89f7-4a8e-b4ce-697b0434714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{B5F380AB-C575-4BB0-A561-68F97BB8ED5C}tf78438558_win32</Template>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SavonVTI</vt:lpstr>
      <vt:lpstr>ANXIETY</vt:lpstr>
      <vt:lpstr>Anxiety</vt:lpstr>
      <vt:lpstr>Presentation Nerves</vt:lpstr>
      <vt:lpstr>Managing Presentation Nerves </vt:lpstr>
      <vt:lpstr>Managing Presentation Nerves</vt:lpstr>
      <vt:lpstr>Managing Presentation Nerves</vt:lpstr>
      <vt:lpstr>What is Anxiety?</vt:lpstr>
      <vt:lpstr>What is Anxiety?</vt:lpstr>
      <vt:lpstr>What are the symptoms of anxiety?</vt:lpstr>
      <vt:lpstr>PowerPoint Presentation</vt:lpstr>
      <vt:lpstr>Possible feelings;</vt:lpstr>
      <vt:lpstr>Possible thoughts :</vt:lpstr>
      <vt:lpstr>Possible behaviours;</vt:lpstr>
      <vt:lpstr>Possible physical effects;     </vt:lpstr>
      <vt:lpstr>PowerPoint Presentation</vt:lpstr>
      <vt:lpstr>Anxiety Disorders</vt:lpstr>
      <vt:lpstr>Five common types of anxiety disorders are:</vt:lpstr>
      <vt:lpstr>If you need help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9 Combined Connect</dc:title>
  <dc:creator>CARTER,  Rosemary</dc:creator>
  <cp:revision>1</cp:revision>
  <dcterms:created xsi:type="dcterms:W3CDTF">2021-02-07T07:37:36Z</dcterms:created>
  <dcterms:modified xsi:type="dcterms:W3CDTF">2026-08-10T04:39:54Z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0x01010038139A91C7086847A98671EDF19DF6A7</vt:lpwstr>
  </property>
  <property fmtid="{D5CDD505-2E9C-101B-9397-08002B2CF9AE}" pid="3" name="MediaServiceImageTags">
    <vt:lpwstr/>
  </property>
  <property fmtid="{D5CDD505-2E9C-101B-9397-08002B2CF9AE}" pid="4" name="Order">
    <vt:r8>2300500</vt:r8>
  </property>
  <property fmtid="{D5CDD505-2E9C-101B-9397-08002B2CF9AE}" pid="5" name="xd_Signature">
    <vt:bool>false</vt:bool>
  </property>
  <property fmtid="{D5CDD505-2E9C-101B-9397-08002B2CF9AE}" pid="6" name="xd_ProgID">
    <vt:lpwstr/>
  </property>
  <property fmtid="{D5CDD505-2E9C-101B-9397-08002B2CF9AE}" pid="7" name="_ExtendedDescription">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ies>
</file>