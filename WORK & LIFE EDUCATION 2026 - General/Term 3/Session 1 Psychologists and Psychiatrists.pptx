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4"/>
  </p:sldMasterIdLst>
  <p:sldIdLst>
    <p:sldId id="257" r:id="rId5"/>
    <p:sldId id="256" r:id="rId6"/>
    <p:sldId id="258" r:id="rId7"/>
    <p:sldId id="267" r:id="rId8"/>
    <p:sldId id="259" r:id="rId9"/>
    <p:sldId id="260" r:id="rId10"/>
    <p:sldId id="261" r:id="rId11"/>
    <p:sldId id="262" r:id="rId12"/>
    <p:sldId id="266"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CBC47C-A31A-4EE5-A128-4E8F4892803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7628C22-F0D0-413F-BDD2-B38CD2636B54}">
      <dgm:prSet/>
      <dgm:spPr/>
      <dgm:t>
        <a:bodyPr/>
        <a:lstStyle/>
        <a:p>
          <a:r>
            <a:rPr lang="en-AU"/>
            <a:t>The main differences between psychiatrists and psychologists are:</a:t>
          </a:r>
          <a:endParaRPr lang="en-US"/>
        </a:p>
      </dgm:t>
    </dgm:pt>
    <dgm:pt modelId="{50904C87-5AA0-4064-8319-EF39C3857C2E}" type="parTrans" cxnId="{21D2B3D2-83D5-4D6A-A64F-0BC6E8DA67D2}">
      <dgm:prSet/>
      <dgm:spPr/>
      <dgm:t>
        <a:bodyPr/>
        <a:lstStyle/>
        <a:p>
          <a:endParaRPr lang="en-US"/>
        </a:p>
      </dgm:t>
    </dgm:pt>
    <dgm:pt modelId="{C0523830-5B1D-4BD8-A658-B2498BAF5D93}" type="sibTrans" cxnId="{21D2B3D2-83D5-4D6A-A64F-0BC6E8DA67D2}">
      <dgm:prSet/>
      <dgm:spPr/>
      <dgm:t>
        <a:bodyPr/>
        <a:lstStyle/>
        <a:p>
          <a:endParaRPr lang="en-US"/>
        </a:p>
      </dgm:t>
    </dgm:pt>
    <dgm:pt modelId="{2D00FB1B-2716-4237-8E2D-6E61580345F8}">
      <dgm:prSet/>
      <dgm:spPr/>
      <dgm:t>
        <a:bodyPr/>
        <a:lstStyle/>
        <a:p>
          <a:r>
            <a:rPr lang="en-AU"/>
            <a:t>Psychiatrists are medical doctors, psychologists are not.</a:t>
          </a:r>
          <a:endParaRPr lang="en-US"/>
        </a:p>
      </dgm:t>
    </dgm:pt>
    <dgm:pt modelId="{F645B145-3FC4-4A25-A94C-956444F610BF}" type="parTrans" cxnId="{4B2525CB-B238-4449-953E-CCD4EDEE6E6D}">
      <dgm:prSet/>
      <dgm:spPr/>
      <dgm:t>
        <a:bodyPr/>
        <a:lstStyle/>
        <a:p>
          <a:endParaRPr lang="en-US"/>
        </a:p>
      </dgm:t>
    </dgm:pt>
    <dgm:pt modelId="{D1DC7D3A-3DB0-433D-92A5-44FE8D91B2F2}" type="sibTrans" cxnId="{4B2525CB-B238-4449-953E-CCD4EDEE6E6D}">
      <dgm:prSet/>
      <dgm:spPr/>
      <dgm:t>
        <a:bodyPr/>
        <a:lstStyle/>
        <a:p>
          <a:endParaRPr lang="en-US"/>
        </a:p>
      </dgm:t>
    </dgm:pt>
    <dgm:pt modelId="{531BD460-546A-4CFD-AA11-CD362584AC50}">
      <dgm:prSet/>
      <dgm:spPr/>
      <dgm:t>
        <a:bodyPr/>
        <a:lstStyle/>
        <a:p>
          <a:r>
            <a:rPr lang="en-AU"/>
            <a:t>Psychiatrists prescribe medication, psychologists can’t.</a:t>
          </a:r>
          <a:endParaRPr lang="en-US"/>
        </a:p>
      </dgm:t>
    </dgm:pt>
    <dgm:pt modelId="{B9D2D5F0-B419-439E-894E-B6621C5D1654}" type="parTrans" cxnId="{A9AD6DA5-2108-4B76-BC8F-050628DBF882}">
      <dgm:prSet/>
      <dgm:spPr/>
      <dgm:t>
        <a:bodyPr/>
        <a:lstStyle/>
        <a:p>
          <a:endParaRPr lang="en-US"/>
        </a:p>
      </dgm:t>
    </dgm:pt>
    <dgm:pt modelId="{769CCC5F-8055-4E80-AEE6-394350AB9DA2}" type="sibTrans" cxnId="{A9AD6DA5-2108-4B76-BC8F-050628DBF882}">
      <dgm:prSet/>
      <dgm:spPr/>
      <dgm:t>
        <a:bodyPr/>
        <a:lstStyle/>
        <a:p>
          <a:endParaRPr lang="en-US"/>
        </a:p>
      </dgm:t>
    </dgm:pt>
    <dgm:pt modelId="{DA255346-0601-484C-8F7B-52D9872E81A5}">
      <dgm:prSet/>
      <dgm:spPr/>
      <dgm:t>
        <a:bodyPr/>
        <a:lstStyle/>
        <a:p>
          <a:pPr rtl="0"/>
          <a:r>
            <a:rPr lang="en-AU"/>
            <a:t>Psychiatrists tend to treat more complex and serious mental illness</a:t>
          </a:r>
          <a:r>
            <a:rPr lang="en-AU">
              <a:latin typeface="Corbel" panose="020B0503020204020204"/>
            </a:rPr>
            <a:t>.</a:t>
          </a:r>
          <a:endParaRPr lang="en-US"/>
        </a:p>
      </dgm:t>
    </dgm:pt>
    <dgm:pt modelId="{E7BB7DFC-DCD1-4837-824B-C8E13E9AD0DC}" type="parTrans" cxnId="{70B2BE27-7FFD-4D9B-8D02-C513DA86A441}">
      <dgm:prSet/>
      <dgm:spPr/>
      <dgm:t>
        <a:bodyPr/>
        <a:lstStyle/>
        <a:p>
          <a:endParaRPr lang="en-US"/>
        </a:p>
      </dgm:t>
    </dgm:pt>
    <dgm:pt modelId="{B2DB3D9F-FA20-4951-B993-50B5A0A83587}" type="sibTrans" cxnId="{70B2BE27-7FFD-4D9B-8D02-C513DA86A441}">
      <dgm:prSet/>
      <dgm:spPr/>
      <dgm:t>
        <a:bodyPr/>
        <a:lstStyle/>
        <a:p>
          <a:endParaRPr lang="en-US"/>
        </a:p>
      </dgm:t>
    </dgm:pt>
    <dgm:pt modelId="{06F66460-C610-4E93-8AD5-887D50BF7CB7}">
      <dgm:prSet/>
      <dgm:spPr/>
      <dgm:t>
        <a:bodyPr/>
        <a:lstStyle/>
        <a:p>
          <a:r>
            <a:rPr lang="en-AU"/>
            <a:t>You need a referral from your GP to see a psychiatrist, while you don’t for a psychologist.</a:t>
          </a:r>
          <a:endParaRPr lang="en-US"/>
        </a:p>
      </dgm:t>
    </dgm:pt>
    <dgm:pt modelId="{B91E4299-3AF6-4426-9CAD-164800345CF9}" type="parTrans" cxnId="{ED13957E-3625-4FBA-B8E4-7145D6A71BDF}">
      <dgm:prSet/>
      <dgm:spPr/>
      <dgm:t>
        <a:bodyPr/>
        <a:lstStyle/>
        <a:p>
          <a:endParaRPr lang="en-US"/>
        </a:p>
      </dgm:t>
    </dgm:pt>
    <dgm:pt modelId="{EDA429A6-F37B-4952-A751-F20A748ED809}" type="sibTrans" cxnId="{ED13957E-3625-4FBA-B8E4-7145D6A71BDF}">
      <dgm:prSet/>
      <dgm:spPr/>
      <dgm:t>
        <a:bodyPr/>
        <a:lstStyle/>
        <a:p>
          <a:endParaRPr lang="en-US"/>
        </a:p>
      </dgm:t>
    </dgm:pt>
    <dgm:pt modelId="{5EB79844-51A8-42CC-9654-E884C32B467B}" type="pres">
      <dgm:prSet presAssocID="{06CBC47C-A31A-4EE5-A128-4E8F48928039}" presName="linear" presStyleCnt="0">
        <dgm:presLayoutVars>
          <dgm:animLvl val="lvl"/>
          <dgm:resizeHandles val="exact"/>
        </dgm:presLayoutVars>
      </dgm:prSet>
      <dgm:spPr/>
    </dgm:pt>
    <dgm:pt modelId="{2CD16BBE-3B71-4B66-95CC-DFA056CA0758}" type="pres">
      <dgm:prSet presAssocID="{07628C22-F0D0-413F-BDD2-B38CD2636B54}" presName="parentText" presStyleLbl="node1" presStyleIdx="0" presStyleCnt="1">
        <dgm:presLayoutVars>
          <dgm:chMax val="0"/>
          <dgm:bulletEnabled val="1"/>
        </dgm:presLayoutVars>
      </dgm:prSet>
      <dgm:spPr/>
    </dgm:pt>
    <dgm:pt modelId="{99FF148C-BB84-474F-8305-108A91A54820}" type="pres">
      <dgm:prSet presAssocID="{07628C22-F0D0-413F-BDD2-B38CD2636B54}" presName="childText" presStyleLbl="revTx" presStyleIdx="0" presStyleCnt="1" custLinFactNeighborX="-12649" custLinFactNeighborY="8699">
        <dgm:presLayoutVars>
          <dgm:bulletEnabled val="1"/>
        </dgm:presLayoutVars>
      </dgm:prSet>
      <dgm:spPr/>
    </dgm:pt>
  </dgm:ptLst>
  <dgm:cxnLst>
    <dgm:cxn modelId="{3214DB0E-BCB7-419E-A6A0-46344CC46B8F}" type="presOf" srcId="{06CBC47C-A31A-4EE5-A128-4E8F48928039}" destId="{5EB79844-51A8-42CC-9654-E884C32B467B}" srcOrd="0" destOrd="0" presId="urn:microsoft.com/office/officeart/2005/8/layout/vList2"/>
    <dgm:cxn modelId="{70B2BE27-7FFD-4D9B-8D02-C513DA86A441}" srcId="{07628C22-F0D0-413F-BDD2-B38CD2636B54}" destId="{DA255346-0601-484C-8F7B-52D9872E81A5}" srcOrd="2" destOrd="0" parTransId="{E7BB7DFC-DCD1-4837-824B-C8E13E9AD0DC}" sibTransId="{B2DB3D9F-FA20-4951-B993-50B5A0A83587}"/>
    <dgm:cxn modelId="{26535532-DF54-4457-87AC-52AE86868CB5}" type="presOf" srcId="{DA255346-0601-484C-8F7B-52D9872E81A5}" destId="{99FF148C-BB84-474F-8305-108A91A54820}" srcOrd="0" destOrd="2" presId="urn:microsoft.com/office/officeart/2005/8/layout/vList2"/>
    <dgm:cxn modelId="{384C5568-7066-48D5-A8EE-A4E05103F9BC}" type="presOf" srcId="{531BD460-546A-4CFD-AA11-CD362584AC50}" destId="{99FF148C-BB84-474F-8305-108A91A54820}" srcOrd="0" destOrd="1" presId="urn:microsoft.com/office/officeart/2005/8/layout/vList2"/>
    <dgm:cxn modelId="{ED13957E-3625-4FBA-B8E4-7145D6A71BDF}" srcId="{07628C22-F0D0-413F-BDD2-B38CD2636B54}" destId="{06F66460-C610-4E93-8AD5-887D50BF7CB7}" srcOrd="3" destOrd="0" parTransId="{B91E4299-3AF6-4426-9CAD-164800345CF9}" sibTransId="{EDA429A6-F37B-4952-A751-F20A748ED809}"/>
    <dgm:cxn modelId="{558B967F-7274-43F9-A150-EE7BB8079E18}" type="presOf" srcId="{2D00FB1B-2716-4237-8E2D-6E61580345F8}" destId="{99FF148C-BB84-474F-8305-108A91A54820}" srcOrd="0" destOrd="0" presId="urn:microsoft.com/office/officeart/2005/8/layout/vList2"/>
    <dgm:cxn modelId="{4C576F92-0576-4B3F-8DB0-53A22F077FBA}" type="presOf" srcId="{07628C22-F0D0-413F-BDD2-B38CD2636B54}" destId="{2CD16BBE-3B71-4B66-95CC-DFA056CA0758}" srcOrd="0" destOrd="0" presId="urn:microsoft.com/office/officeart/2005/8/layout/vList2"/>
    <dgm:cxn modelId="{A9AD6DA5-2108-4B76-BC8F-050628DBF882}" srcId="{07628C22-F0D0-413F-BDD2-B38CD2636B54}" destId="{531BD460-546A-4CFD-AA11-CD362584AC50}" srcOrd="1" destOrd="0" parTransId="{B9D2D5F0-B419-439E-894E-B6621C5D1654}" sibTransId="{769CCC5F-8055-4E80-AEE6-394350AB9DA2}"/>
    <dgm:cxn modelId="{4B2525CB-B238-4449-953E-CCD4EDEE6E6D}" srcId="{07628C22-F0D0-413F-BDD2-B38CD2636B54}" destId="{2D00FB1B-2716-4237-8E2D-6E61580345F8}" srcOrd="0" destOrd="0" parTransId="{F645B145-3FC4-4A25-A94C-956444F610BF}" sibTransId="{D1DC7D3A-3DB0-433D-92A5-44FE8D91B2F2}"/>
    <dgm:cxn modelId="{21D2B3D2-83D5-4D6A-A64F-0BC6E8DA67D2}" srcId="{06CBC47C-A31A-4EE5-A128-4E8F48928039}" destId="{07628C22-F0D0-413F-BDD2-B38CD2636B54}" srcOrd="0" destOrd="0" parTransId="{50904C87-5AA0-4064-8319-EF39C3857C2E}" sibTransId="{C0523830-5B1D-4BD8-A658-B2498BAF5D93}"/>
    <dgm:cxn modelId="{35F00BF8-3EBB-49C8-AEBB-B302F2FB6B9B}" type="presOf" srcId="{06F66460-C610-4E93-8AD5-887D50BF7CB7}" destId="{99FF148C-BB84-474F-8305-108A91A54820}" srcOrd="0" destOrd="3" presId="urn:microsoft.com/office/officeart/2005/8/layout/vList2"/>
    <dgm:cxn modelId="{9E689EDA-9802-4EF9-A84F-C464DCC0F986}" type="presParOf" srcId="{5EB79844-51A8-42CC-9654-E884C32B467B}" destId="{2CD16BBE-3B71-4B66-95CC-DFA056CA0758}" srcOrd="0" destOrd="0" presId="urn:microsoft.com/office/officeart/2005/8/layout/vList2"/>
    <dgm:cxn modelId="{54F8C893-A21D-43FD-B5AE-8CAFFF2A7095}" type="presParOf" srcId="{5EB79844-51A8-42CC-9654-E884C32B467B}" destId="{99FF148C-BB84-474F-8305-108A91A5482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D16BBE-3B71-4B66-95CC-DFA056CA0758}">
      <dsp:nvSpPr>
        <dsp:cNvPr id="0" name=""/>
        <dsp:cNvSpPr/>
      </dsp:nvSpPr>
      <dsp:spPr>
        <a:xfrm>
          <a:off x="0" y="24552"/>
          <a:ext cx="7693058" cy="1471860"/>
        </a:xfrm>
        <a:prstGeom prst="round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AU" sz="3700" kern="1200"/>
            <a:t>The main differences between psychiatrists and psychologists are:</a:t>
          </a:r>
          <a:endParaRPr lang="en-US" sz="3700" kern="1200"/>
        </a:p>
      </dsp:txBody>
      <dsp:txXfrm>
        <a:off x="71850" y="96402"/>
        <a:ext cx="7549358" cy="1328160"/>
      </dsp:txXfrm>
    </dsp:sp>
    <dsp:sp modelId="{99FF148C-BB84-474F-8305-108A91A54820}">
      <dsp:nvSpPr>
        <dsp:cNvPr id="0" name=""/>
        <dsp:cNvSpPr/>
      </dsp:nvSpPr>
      <dsp:spPr>
        <a:xfrm>
          <a:off x="0" y="1520965"/>
          <a:ext cx="7693058" cy="4059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4255"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AU" sz="2900" kern="1200"/>
            <a:t>Psychiatrists are medical doctors, psychologists are not.</a:t>
          </a:r>
          <a:endParaRPr lang="en-US" sz="2900" kern="1200"/>
        </a:p>
        <a:p>
          <a:pPr marL="285750" lvl="1" indent="-285750" algn="l" defTabSz="1289050">
            <a:lnSpc>
              <a:spcPct val="90000"/>
            </a:lnSpc>
            <a:spcBef>
              <a:spcPct val="0"/>
            </a:spcBef>
            <a:spcAft>
              <a:spcPct val="20000"/>
            </a:spcAft>
            <a:buChar char="•"/>
          </a:pPr>
          <a:r>
            <a:rPr lang="en-AU" sz="2900" kern="1200"/>
            <a:t>Psychiatrists prescribe medication, psychologists can’t.</a:t>
          </a:r>
          <a:endParaRPr lang="en-US" sz="2900" kern="1200"/>
        </a:p>
        <a:p>
          <a:pPr marL="285750" lvl="1" indent="-285750" algn="l" defTabSz="1289050" rtl="0">
            <a:lnSpc>
              <a:spcPct val="90000"/>
            </a:lnSpc>
            <a:spcBef>
              <a:spcPct val="0"/>
            </a:spcBef>
            <a:spcAft>
              <a:spcPct val="20000"/>
            </a:spcAft>
            <a:buChar char="•"/>
          </a:pPr>
          <a:r>
            <a:rPr lang="en-AU" sz="2900" kern="1200"/>
            <a:t>Psychiatrists tend to treat more complex and serious mental illness</a:t>
          </a:r>
          <a:r>
            <a:rPr lang="en-AU" sz="2900" kern="1200">
              <a:latin typeface="Corbel" panose="020B0503020204020204"/>
            </a:rPr>
            <a:t>.</a:t>
          </a:r>
          <a:endParaRPr lang="en-US" sz="2900" kern="1200"/>
        </a:p>
        <a:p>
          <a:pPr marL="285750" lvl="1" indent="-285750" algn="l" defTabSz="1289050">
            <a:lnSpc>
              <a:spcPct val="90000"/>
            </a:lnSpc>
            <a:spcBef>
              <a:spcPct val="0"/>
            </a:spcBef>
            <a:spcAft>
              <a:spcPct val="20000"/>
            </a:spcAft>
            <a:buChar char="•"/>
          </a:pPr>
          <a:r>
            <a:rPr lang="en-AU" sz="2900" kern="1200"/>
            <a:t>You need a referral from your GP to see a psychiatrist, while you don’t for a psychologist.</a:t>
          </a:r>
          <a:endParaRPr lang="en-US" sz="2900" kern="1200"/>
        </a:p>
      </dsp:txBody>
      <dsp:txXfrm>
        <a:off x="0" y="1520965"/>
        <a:ext cx="7693058" cy="40592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277604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4021928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167042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7/20/2026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740181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7/20/2026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180829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7/20/2026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4222646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826003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7/20/2026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593792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7/20/2026</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08645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041827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418328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7/20/2026</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69790015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online.clickview.com.au/libraries/categories/16159382/videos/16162786/what-does-a-psychologist-do-"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video" Target="https://www.youtube.com/embed/rj345qojCL8?feature=oembed"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3">
            <a:extLst>
              <a:ext uri="{FF2B5EF4-FFF2-40B4-BE49-F238E27FC236}">
                <a16:creationId xmlns:a16="http://schemas.microsoft.com/office/drawing/2014/main" id="{DCCCDCCF-DDE7-4FF9-BA8E-DFD3AC93A6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5">
            <a:extLst>
              <a:ext uri="{FF2B5EF4-FFF2-40B4-BE49-F238E27FC236}">
                <a16:creationId xmlns:a16="http://schemas.microsoft.com/office/drawing/2014/main" id="{C2352FE0-ACFA-479E-A574-CED1C035D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252919" y="1123837"/>
            <a:ext cx="2947482" cy="4601183"/>
          </a:xfrm>
        </p:spPr>
        <p:txBody>
          <a:bodyPr>
            <a:normAutofit/>
          </a:bodyPr>
          <a:lstStyle/>
          <a:p>
            <a:r>
              <a:rPr lang="en-AU"/>
              <a:t>What is the difference?   </a:t>
            </a:r>
          </a:p>
        </p:txBody>
      </p:sp>
      <p:sp>
        <p:nvSpPr>
          <p:cNvPr id="18" name="Rectangle 17">
            <a:extLst>
              <a:ext uri="{FF2B5EF4-FFF2-40B4-BE49-F238E27FC236}">
                <a16:creationId xmlns:a16="http://schemas.microsoft.com/office/drawing/2014/main" id="{401F5979-1992-492E-ABBD-62EBC1016C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97130" y="754144"/>
            <a:ext cx="7865196" cy="53357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0" name="Rectangle 19">
            <a:extLst>
              <a:ext uri="{FF2B5EF4-FFF2-40B4-BE49-F238E27FC236}">
                <a16:creationId xmlns:a16="http://schemas.microsoft.com/office/drawing/2014/main" id="{377CB93F-A0E2-4BBE-B2FC-E93932C7E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graphicFrame>
        <p:nvGraphicFramePr>
          <p:cNvPr id="5" name="Content Placeholder 2">
            <a:extLst>
              <a:ext uri="{FF2B5EF4-FFF2-40B4-BE49-F238E27FC236}">
                <a16:creationId xmlns:a16="http://schemas.microsoft.com/office/drawing/2014/main" id="{F91F0DEA-D75D-437F-B4FF-0B1C165046E2}"/>
              </a:ext>
            </a:extLst>
          </p:cNvPr>
          <p:cNvGraphicFramePr>
            <a:graphicFrameLocks noGrp="1"/>
          </p:cNvGraphicFramePr>
          <p:nvPr>
            <p:ph idx="1"/>
            <p:extLst>
              <p:ext uri="{D42A27DB-BD31-4B8C-83A1-F6EECF244321}">
                <p14:modId xmlns:p14="http://schemas.microsoft.com/office/powerpoint/2010/main" val="1535648157"/>
              </p:ext>
            </p:extLst>
          </p:nvPr>
        </p:nvGraphicFramePr>
        <p:xfrm>
          <a:off x="3869268" y="864107"/>
          <a:ext cx="7693058" cy="55802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8704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20">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22">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ctrTitle"/>
          </p:nvPr>
        </p:nvSpPr>
        <p:spPr>
          <a:xfrm>
            <a:off x="1069848" y="4590661"/>
            <a:ext cx="10210862" cy="1065690"/>
          </a:xfrm>
        </p:spPr>
        <p:txBody>
          <a:bodyPr>
            <a:normAutofit/>
          </a:bodyPr>
          <a:lstStyle/>
          <a:p>
            <a:r>
              <a:rPr lang="en-AU"/>
              <a:t>Psychologists and Psychiatrists</a:t>
            </a:r>
          </a:p>
        </p:txBody>
      </p:sp>
      <p:sp>
        <p:nvSpPr>
          <p:cNvPr id="3" name="Subtitle 2"/>
          <p:cNvSpPr>
            <a:spLocks noGrp="1"/>
          </p:cNvSpPr>
          <p:nvPr>
            <p:ph type="subTitle" idx="1"/>
          </p:nvPr>
        </p:nvSpPr>
        <p:spPr>
          <a:xfrm>
            <a:off x="1100014" y="5666792"/>
            <a:ext cx="10180696" cy="542592"/>
          </a:xfrm>
        </p:spPr>
        <p:txBody>
          <a:bodyPr>
            <a:normAutofit/>
          </a:bodyPr>
          <a:lstStyle/>
          <a:p>
            <a:endParaRPr lang="en-AU"/>
          </a:p>
        </p:txBody>
      </p:sp>
      <p:pic>
        <p:nvPicPr>
          <p:cNvPr id="26" name="Graphic 17" descr="Brain in head">
            <a:extLst>
              <a:ext uri="{FF2B5EF4-FFF2-40B4-BE49-F238E27FC236}">
                <a16:creationId xmlns:a16="http://schemas.microsoft.com/office/drawing/2014/main" id="{70EDE797-D98A-43C0-B7E9-F0DA7BCE4F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610229" y="484632"/>
            <a:ext cx="3556755" cy="3556755"/>
          </a:xfrm>
          <a:prstGeom prst="rect">
            <a:avLst/>
          </a:prstGeom>
        </p:spPr>
      </p:pic>
    </p:spTree>
    <p:extLst>
      <p:ext uri="{BB962C8B-B14F-4D97-AF65-F5344CB8AC3E}">
        <p14:creationId xmlns:p14="http://schemas.microsoft.com/office/powerpoint/2010/main" val="3160203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9268" y="864108"/>
            <a:ext cx="7315200" cy="2998765"/>
          </a:xfrm>
        </p:spPr>
        <p:txBody>
          <a:bodyPr vert="horz" lIns="91440" tIns="45720" rIns="91440" bIns="45720" rtlCol="0">
            <a:noAutofit/>
          </a:bodyPr>
          <a:lstStyle/>
          <a:p>
            <a:r>
              <a:rPr lang="en-AU"/>
              <a:t>Both psychiatrists and psychologists understand how the brain works, our emotions, feelings and thoughts. Both can treat mental illness with psychological treatments (talking therapies).</a:t>
            </a:r>
          </a:p>
          <a:p>
            <a:r>
              <a:rPr lang="en-AU"/>
              <a:t>However, psychiatrists attend medical school and become medical doctors before doing specialist training in mental health. Because they are doctors, psychiatrists understand the links between mental and physical problems. They can also prescribe medications.</a:t>
            </a:r>
          </a:p>
          <a:p>
            <a:r>
              <a:rPr lang="en-AU"/>
              <a:t>To go into it in some more detail, the main differences relate to:</a:t>
            </a:r>
          </a:p>
          <a:p>
            <a:r>
              <a:rPr lang="en-AU"/>
              <a:t>Training   ,treatments provided,   conditions treated  and getting an appointment.</a:t>
            </a:r>
          </a:p>
        </p:txBody>
      </p:sp>
      <p:pic>
        <p:nvPicPr>
          <p:cNvPr id="62" name="Graphic 61" descr="Brain">
            <a:extLst>
              <a:ext uri="{FF2B5EF4-FFF2-40B4-BE49-F238E27FC236}">
                <a16:creationId xmlns:a16="http://schemas.microsoft.com/office/drawing/2014/main" id="{5E2B1B9F-5D2C-F2D4-4238-913A41BB36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67374" y="4161453"/>
            <a:ext cx="1918987" cy="1918987"/>
          </a:xfrm>
          <a:prstGeom prst="rect">
            <a:avLst/>
          </a:prstGeom>
        </p:spPr>
      </p:pic>
      <p:sp>
        <p:nvSpPr>
          <p:cNvPr id="5" name="TextBox 4">
            <a:extLst>
              <a:ext uri="{FF2B5EF4-FFF2-40B4-BE49-F238E27FC236}">
                <a16:creationId xmlns:a16="http://schemas.microsoft.com/office/drawing/2014/main" id="{F64B0622-41CA-765A-4C59-53E5D49A2A74}"/>
              </a:ext>
            </a:extLst>
          </p:cNvPr>
          <p:cNvSpPr txBox="1"/>
          <p:nvPr/>
        </p:nvSpPr>
        <p:spPr>
          <a:xfrm>
            <a:off x="4724400" y="320040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Tree>
    <p:extLst>
      <p:ext uri="{BB962C8B-B14F-4D97-AF65-F5344CB8AC3E}">
        <p14:creationId xmlns:p14="http://schemas.microsoft.com/office/powerpoint/2010/main" val="152108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919" y="1123837"/>
            <a:ext cx="2947482" cy="4601183"/>
          </a:xfrm>
        </p:spPr>
        <p:txBody>
          <a:bodyPr>
            <a:normAutofit/>
          </a:bodyPr>
          <a:lstStyle/>
          <a:p>
            <a:r>
              <a:rPr lang="en-AU"/>
              <a:t>Training</a:t>
            </a:r>
          </a:p>
        </p:txBody>
      </p:sp>
      <p:sp>
        <p:nvSpPr>
          <p:cNvPr id="3" name="Content Placeholder 2"/>
          <p:cNvSpPr>
            <a:spLocks noGrp="1"/>
          </p:cNvSpPr>
          <p:nvPr>
            <p:ph idx="1"/>
          </p:nvPr>
        </p:nvSpPr>
        <p:spPr>
          <a:xfrm>
            <a:off x="3869268" y="864108"/>
            <a:ext cx="7315200" cy="2998765"/>
          </a:xfrm>
        </p:spPr>
        <p:txBody>
          <a:bodyPr>
            <a:normAutofit/>
          </a:bodyPr>
          <a:lstStyle/>
          <a:p>
            <a:endParaRPr lang="en-AU"/>
          </a:p>
          <a:p>
            <a:r>
              <a:rPr lang="en-AU" b="1"/>
              <a:t>Psychiatrists</a:t>
            </a:r>
            <a:r>
              <a:rPr lang="en-AU"/>
              <a:t> are medical doctors with at least 11 years of training – usually more. </a:t>
            </a:r>
          </a:p>
          <a:p>
            <a:r>
              <a:rPr lang="en-AU"/>
              <a:t>They first do a medical degree at university. Next they spend at least 1 or 2 years training as a general doctor.</a:t>
            </a:r>
          </a:p>
          <a:p>
            <a:r>
              <a:rPr lang="en-AU"/>
              <a:t>They then complete at least 5 years training in the diagnosis and treatment of mental illness.  </a:t>
            </a:r>
          </a:p>
          <a:p>
            <a:endParaRPr lang="en-AU"/>
          </a:p>
          <a:p>
            <a:endParaRPr lang="en-AU"/>
          </a:p>
        </p:txBody>
      </p:sp>
      <p:pic>
        <p:nvPicPr>
          <p:cNvPr id="20" name="Graphic 19" descr="Doctor">
            <a:extLst>
              <a:ext uri="{FF2B5EF4-FFF2-40B4-BE49-F238E27FC236}">
                <a16:creationId xmlns:a16="http://schemas.microsoft.com/office/drawing/2014/main" id="{40405CE2-C9DA-5794-08EC-CA0D4721EA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67374" y="4161453"/>
            <a:ext cx="1918987" cy="1918987"/>
          </a:xfrm>
          <a:prstGeom prst="rect">
            <a:avLst/>
          </a:prstGeom>
        </p:spPr>
      </p:pic>
    </p:spTree>
    <p:extLst>
      <p:ext uri="{BB962C8B-B14F-4D97-AF65-F5344CB8AC3E}">
        <p14:creationId xmlns:p14="http://schemas.microsoft.com/office/powerpoint/2010/main" val="3258366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Stethoscope">
            <a:extLst>
              <a:ext uri="{FF2B5EF4-FFF2-40B4-BE49-F238E27FC236}">
                <a16:creationId xmlns:a16="http://schemas.microsoft.com/office/drawing/2014/main" id="{1DA4BCC5-3E8E-06FD-FB74-F551438A3DDE}"/>
              </a:ext>
            </a:extLst>
          </p:cNvPr>
          <p:cNvPicPr>
            <a:picLocks noChangeAspect="1"/>
          </p:cNvPicPr>
          <p:nvPr/>
        </p:nvPicPr>
        <p:blipFill>
          <a:blip r:embed="rId2">
            <a:duotone>
              <a:schemeClr val="bg2">
                <a:shade val="45000"/>
                <a:satMod val="135000"/>
              </a:schemeClr>
              <a:prstClr val="white"/>
            </a:duotone>
            <a:alphaModFix amt="25000"/>
          </a:blip>
          <a:srcRect t="15709" r="-1" b="-1"/>
          <a:stretch/>
        </p:blipFill>
        <p:spPr>
          <a:xfrm>
            <a:off x="401615" y="-1029729"/>
            <a:ext cx="12188932" cy="6858000"/>
          </a:xfrm>
          <a:prstGeom prst="rect">
            <a:avLst/>
          </a:prstGeom>
        </p:spPr>
      </p:pic>
      <p:sp>
        <p:nvSpPr>
          <p:cNvPr id="24" name="Rectangle 23">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252919" y="1123837"/>
            <a:ext cx="2947482" cy="4601183"/>
          </a:xfrm>
        </p:spPr>
        <p:txBody>
          <a:bodyPr>
            <a:normAutofit/>
          </a:bodyPr>
          <a:lstStyle/>
          <a:p>
            <a:r>
              <a:rPr lang="en-AU"/>
              <a:t>Training</a:t>
            </a:r>
          </a:p>
        </p:txBody>
      </p:sp>
      <p:sp>
        <p:nvSpPr>
          <p:cNvPr id="3" name="Content Placeholder 2"/>
          <p:cNvSpPr>
            <a:spLocks noGrp="1"/>
          </p:cNvSpPr>
          <p:nvPr>
            <p:ph idx="1"/>
          </p:nvPr>
        </p:nvSpPr>
        <p:spPr>
          <a:xfrm>
            <a:off x="3869268" y="864108"/>
            <a:ext cx="7315200" cy="5120640"/>
          </a:xfrm>
        </p:spPr>
        <p:txBody>
          <a:bodyPr>
            <a:normAutofit/>
          </a:bodyPr>
          <a:lstStyle/>
          <a:p>
            <a:endParaRPr lang="en-AU"/>
          </a:p>
          <a:p>
            <a:endParaRPr lang="en-AU"/>
          </a:p>
          <a:p>
            <a:r>
              <a:rPr lang="en-AU" b="1"/>
              <a:t>Psychologists</a:t>
            </a:r>
            <a:r>
              <a:rPr lang="en-AU"/>
              <a:t> have at least 6 years of university training and supervised experience.</a:t>
            </a:r>
          </a:p>
          <a:p>
            <a:r>
              <a:rPr lang="en-AU"/>
              <a:t>They may also hold a Masters or Doctorate level qualification in psychology. If they have a Doctorate (PhD) a psychologist can call themselves ‘Dr’, but they are not medical doctors.  </a:t>
            </a:r>
          </a:p>
          <a:p>
            <a:endParaRPr lang="en-AU"/>
          </a:p>
        </p:txBody>
      </p:sp>
      <p:sp>
        <p:nvSpPr>
          <p:cNvPr id="26" name="Rectangle 25">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233254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se-up unopened pill packets">
            <a:extLst>
              <a:ext uri="{FF2B5EF4-FFF2-40B4-BE49-F238E27FC236}">
                <a16:creationId xmlns:a16="http://schemas.microsoft.com/office/drawing/2014/main" id="{BC27F03F-F3CE-542F-C059-2B918C87E4A8}"/>
              </a:ext>
            </a:extLst>
          </p:cNvPr>
          <p:cNvPicPr>
            <a:picLocks noChangeAspect="1"/>
          </p:cNvPicPr>
          <p:nvPr/>
        </p:nvPicPr>
        <p:blipFill>
          <a:blip r:embed="rId2">
            <a:duotone>
              <a:schemeClr val="bg2">
                <a:shade val="45000"/>
                <a:satMod val="135000"/>
              </a:schemeClr>
              <a:prstClr val="white"/>
            </a:duotone>
            <a:alphaModFix amt="25000"/>
          </a:blip>
          <a:srcRect t="3306" r="-1" b="11120"/>
          <a:stretch/>
        </p:blipFill>
        <p:spPr>
          <a:xfrm>
            <a:off x="20" y="1"/>
            <a:ext cx="12188932" cy="6858000"/>
          </a:xfrm>
          <a:prstGeom prst="rect">
            <a:avLst/>
          </a:prstGeom>
        </p:spPr>
      </p:pic>
      <p:sp>
        <p:nvSpPr>
          <p:cNvPr id="24" name="Rectangle 23">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252919" y="1123837"/>
            <a:ext cx="2947482" cy="4601183"/>
          </a:xfrm>
        </p:spPr>
        <p:txBody>
          <a:bodyPr>
            <a:normAutofit/>
          </a:bodyPr>
          <a:lstStyle/>
          <a:p>
            <a:r>
              <a:rPr lang="en-AU"/>
              <a:t>Psychiatrists</a:t>
            </a:r>
          </a:p>
        </p:txBody>
      </p:sp>
      <p:sp>
        <p:nvSpPr>
          <p:cNvPr id="3" name="Content Placeholder 2"/>
          <p:cNvSpPr>
            <a:spLocks noGrp="1"/>
          </p:cNvSpPr>
          <p:nvPr>
            <p:ph idx="1"/>
          </p:nvPr>
        </p:nvSpPr>
        <p:spPr>
          <a:xfrm>
            <a:off x="3869268" y="864108"/>
            <a:ext cx="7315200" cy="5120640"/>
          </a:xfrm>
        </p:spPr>
        <p:txBody>
          <a:bodyPr>
            <a:normAutofit/>
          </a:bodyPr>
          <a:lstStyle/>
          <a:p>
            <a:pPr marL="0" indent="0">
              <a:buNone/>
            </a:pPr>
            <a:r>
              <a:rPr lang="en-AU"/>
              <a:t>Mostly see people with serious mental health disorders such as:</a:t>
            </a:r>
          </a:p>
          <a:p>
            <a:r>
              <a:rPr lang="en-AU"/>
              <a:t>severe depression                 </a:t>
            </a:r>
          </a:p>
          <a:p>
            <a:r>
              <a:rPr lang="en-AU"/>
              <a:t>schizophrenia</a:t>
            </a:r>
          </a:p>
          <a:p>
            <a:r>
              <a:rPr lang="en-AU"/>
              <a:t>bipolar disorder</a:t>
            </a:r>
          </a:p>
          <a:p>
            <a:r>
              <a:rPr lang="en-AU"/>
              <a:t>borderline personality disorder</a:t>
            </a:r>
          </a:p>
          <a:p>
            <a:r>
              <a:rPr lang="en-AU"/>
              <a:t>someone who has attempted suicide or has suicidal thoughts will usually be seen by a psychiatrist.</a:t>
            </a:r>
          </a:p>
          <a:p>
            <a:endParaRPr lang="en-AU"/>
          </a:p>
        </p:txBody>
      </p:sp>
      <p:sp>
        <p:nvSpPr>
          <p:cNvPr id="26" name="Rectangle 25">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3788351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se up image of hands applauding">
            <a:extLst>
              <a:ext uri="{FF2B5EF4-FFF2-40B4-BE49-F238E27FC236}">
                <a16:creationId xmlns:a16="http://schemas.microsoft.com/office/drawing/2014/main" id="{03080025-2896-9FC1-9919-E733E7C23FED}"/>
              </a:ext>
            </a:extLst>
          </p:cNvPr>
          <p:cNvPicPr>
            <a:picLocks noChangeAspect="1"/>
          </p:cNvPicPr>
          <p:nvPr/>
        </p:nvPicPr>
        <p:blipFill>
          <a:blip r:embed="rId2">
            <a:duotone>
              <a:schemeClr val="bg2">
                <a:shade val="45000"/>
                <a:satMod val="135000"/>
              </a:schemeClr>
              <a:prstClr val="white"/>
            </a:duotone>
            <a:alphaModFix amt="25000"/>
          </a:blip>
          <a:srcRect t="642" r="-1" b="15066"/>
          <a:stretch/>
        </p:blipFill>
        <p:spPr>
          <a:xfrm>
            <a:off x="257452" y="-597242"/>
            <a:ext cx="12188932" cy="6858000"/>
          </a:xfrm>
          <a:prstGeom prst="rect">
            <a:avLst/>
          </a:prstGeom>
        </p:spPr>
      </p:pic>
      <p:sp>
        <p:nvSpPr>
          <p:cNvPr id="24" name="Rectangle 23">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252919" y="1123837"/>
            <a:ext cx="2947482" cy="4601183"/>
          </a:xfrm>
        </p:spPr>
        <p:txBody>
          <a:bodyPr>
            <a:normAutofit/>
          </a:bodyPr>
          <a:lstStyle/>
          <a:p>
            <a:r>
              <a:rPr lang="en-AU"/>
              <a:t>Working together</a:t>
            </a:r>
          </a:p>
        </p:txBody>
      </p:sp>
      <p:sp>
        <p:nvSpPr>
          <p:cNvPr id="3" name="Content Placeholder 2"/>
          <p:cNvSpPr>
            <a:spLocks noGrp="1"/>
          </p:cNvSpPr>
          <p:nvPr>
            <p:ph idx="1"/>
          </p:nvPr>
        </p:nvSpPr>
        <p:spPr>
          <a:xfrm>
            <a:off x="3869268" y="864108"/>
            <a:ext cx="7315200" cy="5120640"/>
          </a:xfrm>
        </p:spPr>
        <p:txBody>
          <a:bodyPr>
            <a:normAutofit/>
          </a:bodyPr>
          <a:lstStyle/>
          <a:p>
            <a:pPr marL="0" indent="0">
              <a:buNone/>
            </a:pPr>
            <a:endParaRPr lang="en-AU"/>
          </a:p>
          <a:p>
            <a:r>
              <a:rPr lang="en-AU"/>
              <a:t>Psychiatrists and psychologists often work together. A psychiatrist might make an initial assessment and diagnosis, then refer you to a psychologist for ongoing psychological treatment (talking therapy).</a:t>
            </a:r>
          </a:p>
          <a:p>
            <a:r>
              <a:rPr lang="en-AU"/>
              <a:t>Psychiatrists and psychologists also work together in hospitals as part of mental health teams.</a:t>
            </a:r>
          </a:p>
        </p:txBody>
      </p:sp>
      <p:sp>
        <p:nvSpPr>
          <p:cNvPr id="26" name="Rectangle 25">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952926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Desk with stethoscope and computer keyboard">
            <a:extLst>
              <a:ext uri="{FF2B5EF4-FFF2-40B4-BE49-F238E27FC236}">
                <a16:creationId xmlns:a16="http://schemas.microsoft.com/office/drawing/2014/main" id="{E316D04F-E187-443C-0995-616020CDFCD0}"/>
              </a:ext>
            </a:extLst>
          </p:cNvPr>
          <p:cNvPicPr>
            <a:picLocks noChangeAspect="1"/>
          </p:cNvPicPr>
          <p:nvPr/>
        </p:nvPicPr>
        <p:blipFill>
          <a:blip r:embed="rId2">
            <a:duotone>
              <a:schemeClr val="bg2">
                <a:shade val="45000"/>
                <a:satMod val="135000"/>
              </a:schemeClr>
              <a:prstClr val="white"/>
            </a:duotone>
            <a:alphaModFix amt="25000"/>
          </a:blip>
          <a:srcRect t="604" r="-1" b="15104"/>
          <a:stretch/>
        </p:blipFill>
        <p:spPr>
          <a:xfrm>
            <a:off x="20" y="1"/>
            <a:ext cx="12188932" cy="6858000"/>
          </a:xfrm>
          <a:prstGeom prst="rect">
            <a:avLst/>
          </a:prstGeom>
        </p:spPr>
      </p:pic>
      <p:sp>
        <p:nvSpPr>
          <p:cNvPr id="24" name="Rectangle 23">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252919" y="1123837"/>
            <a:ext cx="2947482" cy="4601183"/>
          </a:xfrm>
        </p:spPr>
        <p:txBody>
          <a:bodyPr>
            <a:normAutofit/>
          </a:bodyPr>
          <a:lstStyle/>
          <a:p>
            <a:r>
              <a:rPr lang="en-AU"/>
              <a:t>Psychologists</a:t>
            </a:r>
          </a:p>
        </p:txBody>
      </p:sp>
      <p:sp>
        <p:nvSpPr>
          <p:cNvPr id="3" name="Content Placeholder 2"/>
          <p:cNvSpPr>
            <a:spLocks noGrp="1"/>
          </p:cNvSpPr>
          <p:nvPr>
            <p:ph idx="1"/>
          </p:nvPr>
        </p:nvSpPr>
        <p:spPr>
          <a:xfrm>
            <a:off x="3869268" y="864108"/>
            <a:ext cx="7315200" cy="5120640"/>
          </a:xfrm>
        </p:spPr>
        <p:txBody>
          <a:bodyPr>
            <a:normAutofit/>
          </a:bodyPr>
          <a:lstStyle/>
          <a:p>
            <a:r>
              <a:rPr lang="en-AU"/>
              <a:t>You don’t need a referral from a GP to see a Psychologist but if you do go to a GP  you can get a Mental Health Care Treatment Plan this  allows you to have up to 10 sessions per year partly paid by Medicare.</a:t>
            </a:r>
          </a:p>
          <a:p>
            <a:pPr marL="0" indent="0">
              <a:buNone/>
            </a:pPr>
            <a:endParaRPr lang="en-AU"/>
          </a:p>
          <a:p>
            <a:r>
              <a:rPr lang="en-AU"/>
              <a:t>The referral to the Psychologist will initially be for 6 sessions and then the Psychologist can ask you to go back to your GP for a review appointment to get additional sessions.</a:t>
            </a:r>
            <a:endParaRPr lang="en-AU">
              <a:cs typeface="Calibri"/>
            </a:endParaRPr>
          </a:p>
          <a:p>
            <a:endParaRPr lang="en-AU"/>
          </a:p>
          <a:p>
            <a:r>
              <a:rPr lang="en-AU"/>
              <a:t>VIDEO – </a:t>
            </a:r>
            <a:r>
              <a:rPr lang="en-AU" err="1"/>
              <a:t>Clickview</a:t>
            </a:r>
            <a:r>
              <a:rPr lang="en-AU"/>
              <a:t>/ Connect/ What Does A Psychologist Do?  (5min)</a:t>
            </a:r>
          </a:p>
          <a:p>
            <a:r>
              <a:rPr lang="en-AU">
                <a:ea typeface="+mn-lt"/>
                <a:cs typeface="+mn-lt"/>
                <a:hlinkClick r:id="rId3"/>
              </a:rPr>
              <a:t>https://online.clickview.com.au/libraries/categories/16159382/videos/16162786/what-does-a-psychologist-do-</a:t>
            </a:r>
            <a:endParaRPr lang="en-AU"/>
          </a:p>
        </p:txBody>
      </p:sp>
      <p:sp>
        <p:nvSpPr>
          <p:cNvPr id="26" name="Rectangle 25">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410590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35CBD63-8F8F-47DC-9CE7-159E6161D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A0E3486-FD49-4921-B4F4-E5BB5C88AC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3"/>
            <a:ext cx="3577575"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B6CF3AE4-C9EE-18B3-B01A-72EE1BF20C6D}"/>
              </a:ext>
            </a:extLst>
          </p:cNvPr>
          <p:cNvSpPr>
            <a:spLocks noGrp="1"/>
          </p:cNvSpPr>
          <p:nvPr>
            <p:ph type="title"/>
          </p:nvPr>
        </p:nvSpPr>
        <p:spPr>
          <a:xfrm>
            <a:off x="252919" y="1123837"/>
            <a:ext cx="2947482" cy="1038177"/>
          </a:xfrm>
        </p:spPr>
        <p:txBody>
          <a:bodyPr anchor="b">
            <a:normAutofit/>
          </a:bodyPr>
          <a:lstStyle/>
          <a:p>
            <a:r>
              <a:rPr lang="en-AU" sz="2400"/>
              <a:t>VIDEO – What Does a Psychiatrist Do?</a:t>
            </a:r>
            <a:endParaRPr lang="en-US" sz="2400"/>
          </a:p>
        </p:txBody>
      </p:sp>
      <p:sp>
        <p:nvSpPr>
          <p:cNvPr id="3" name="Content Placeholder 2">
            <a:extLst>
              <a:ext uri="{FF2B5EF4-FFF2-40B4-BE49-F238E27FC236}">
                <a16:creationId xmlns:a16="http://schemas.microsoft.com/office/drawing/2014/main" id="{79108F00-293F-0F56-2C20-E83E841AB671}"/>
              </a:ext>
            </a:extLst>
          </p:cNvPr>
          <p:cNvSpPr>
            <a:spLocks noGrp="1"/>
          </p:cNvSpPr>
          <p:nvPr>
            <p:ph idx="1"/>
          </p:nvPr>
        </p:nvSpPr>
        <p:spPr>
          <a:xfrm>
            <a:off x="252920" y="2162014"/>
            <a:ext cx="2947482" cy="3744264"/>
          </a:xfrm>
        </p:spPr>
        <p:txBody>
          <a:bodyPr anchor="t">
            <a:normAutofit/>
          </a:bodyPr>
          <a:lstStyle/>
          <a:p>
            <a:endParaRPr lang="en-AU" sz="1600">
              <a:solidFill>
                <a:srgbClr val="FFFFFF"/>
              </a:solidFill>
            </a:endParaRPr>
          </a:p>
          <a:p>
            <a:endParaRPr lang="en-AU" sz="1600">
              <a:solidFill>
                <a:srgbClr val="FFFFFF"/>
              </a:solidFill>
            </a:endParaRPr>
          </a:p>
          <a:p>
            <a:endParaRPr lang="en-GB" sz="1600">
              <a:solidFill>
                <a:srgbClr val="FFFFFF"/>
              </a:solidFill>
            </a:endParaRPr>
          </a:p>
        </p:txBody>
      </p:sp>
      <p:pic>
        <p:nvPicPr>
          <p:cNvPr id="4" name="Online Media 3" title="Your first appointment with a psychiatrist">
            <a:hlinkClick r:id="" action="ppaction://media"/>
            <a:extLst>
              <a:ext uri="{FF2B5EF4-FFF2-40B4-BE49-F238E27FC236}">
                <a16:creationId xmlns:a16="http://schemas.microsoft.com/office/drawing/2014/main" id="{04CE23A6-3EBF-2E7E-5B44-E0A2B7375C0C}"/>
              </a:ext>
            </a:extLst>
          </p:cNvPr>
          <p:cNvPicPr>
            <a:picLocks noRot="1" noChangeAspect="1"/>
          </p:cNvPicPr>
          <p:nvPr>
            <a:videoFile r:link="rId1"/>
          </p:nvPr>
        </p:nvPicPr>
        <p:blipFill>
          <a:blip r:embed="rId3"/>
          <a:stretch>
            <a:fillRect/>
          </a:stretch>
        </p:blipFill>
        <p:spPr>
          <a:xfrm>
            <a:off x="4242452" y="748145"/>
            <a:ext cx="7126328" cy="5344746"/>
          </a:xfrm>
          <a:prstGeom prst="rect">
            <a:avLst/>
          </a:prstGeom>
        </p:spPr>
      </p:pic>
      <p:sp>
        <p:nvSpPr>
          <p:cNvPr id="25" name="Rectangle 24">
            <a:extLst>
              <a:ext uri="{FF2B5EF4-FFF2-40B4-BE49-F238E27FC236}">
                <a16:creationId xmlns:a16="http://schemas.microsoft.com/office/drawing/2014/main" id="{83B4A72C-2924-4CE2-8674-7E02E182E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1068319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919" y="1123837"/>
            <a:ext cx="2947482" cy="4601183"/>
          </a:xfrm>
        </p:spPr>
        <p:txBody>
          <a:bodyPr>
            <a:normAutofit/>
          </a:bodyPr>
          <a:lstStyle/>
          <a:p>
            <a:r>
              <a:rPr lang="en-AU"/>
              <a:t>Need Support?</a:t>
            </a:r>
          </a:p>
        </p:txBody>
      </p:sp>
      <p:pic>
        <p:nvPicPr>
          <p:cNvPr id="5" name="Picture 4">
            <a:extLst>
              <a:ext uri="{FF2B5EF4-FFF2-40B4-BE49-F238E27FC236}">
                <a16:creationId xmlns:a16="http://schemas.microsoft.com/office/drawing/2014/main" id="{435CE367-DFDA-22E2-45EC-7FB39FA202C2}"/>
              </a:ext>
            </a:extLst>
          </p:cNvPr>
          <p:cNvPicPr>
            <a:picLocks noChangeAspect="1"/>
          </p:cNvPicPr>
          <p:nvPr/>
        </p:nvPicPr>
        <p:blipFill rotWithShape="1">
          <a:blip r:embed="rId2"/>
          <a:srcRect l="22054" t="8730" r="48035" b="6984"/>
          <a:stretch/>
        </p:blipFill>
        <p:spPr>
          <a:xfrm>
            <a:off x="8675914" y="888558"/>
            <a:ext cx="2679797" cy="5122437"/>
          </a:xfrm>
          <a:prstGeom prst="rect">
            <a:avLst/>
          </a:prstGeom>
        </p:spPr>
      </p:pic>
      <p:sp>
        <p:nvSpPr>
          <p:cNvPr id="3" name="Content Placeholder 2"/>
          <p:cNvSpPr>
            <a:spLocks noGrp="1"/>
          </p:cNvSpPr>
          <p:nvPr>
            <p:ph idx="1"/>
          </p:nvPr>
        </p:nvSpPr>
        <p:spPr>
          <a:xfrm>
            <a:off x="3472543" y="761999"/>
            <a:ext cx="5127171" cy="5333999"/>
          </a:xfrm>
        </p:spPr>
        <p:txBody>
          <a:bodyPr>
            <a:normAutofit/>
          </a:bodyPr>
          <a:lstStyle/>
          <a:p>
            <a:pPr marL="0" indent="0">
              <a:buNone/>
            </a:pPr>
            <a:r>
              <a:rPr lang="en-AU" sz="1400"/>
              <a:t>If you are struggling with low mood, anxiety, general distress then you can make a time to chat – make a referral to see a member of the Wellbeing Team </a:t>
            </a:r>
          </a:p>
          <a:p>
            <a:pPr marL="0" indent="0">
              <a:buNone/>
            </a:pPr>
            <a:r>
              <a:rPr lang="en-AU" sz="1400"/>
              <a:t>Mr. Andrew </a:t>
            </a:r>
            <a:r>
              <a:rPr lang="en-AU" sz="1400" err="1"/>
              <a:t>Thickins</a:t>
            </a:r>
            <a:r>
              <a:rPr lang="en-AU" sz="1400"/>
              <a:t> Wellbeing Team Leader</a:t>
            </a:r>
            <a:endParaRPr lang="en-US" sz="1400"/>
          </a:p>
          <a:p>
            <a:pPr marL="0" indent="0">
              <a:buNone/>
            </a:pPr>
            <a:r>
              <a:rPr lang="en-AU" sz="1400"/>
              <a:t>Ms. Rosemary Carter School Chaplain (room 108)</a:t>
            </a:r>
          </a:p>
          <a:p>
            <a:pPr marL="0" indent="0">
              <a:buNone/>
            </a:pPr>
            <a:r>
              <a:rPr lang="en-AU" sz="1400"/>
              <a:t>Ms  Anna Moriarty  Mental Health Care Practitioner (Nurse)</a:t>
            </a:r>
          </a:p>
          <a:p>
            <a:pPr marL="0" indent="0">
              <a:buNone/>
            </a:pPr>
            <a:r>
              <a:rPr lang="en-AU" sz="1400"/>
              <a:t>Ms Thompson or Ms Latham Counsellors</a:t>
            </a:r>
          </a:p>
          <a:p>
            <a:pPr marL="0" indent="0">
              <a:buNone/>
            </a:pPr>
            <a:r>
              <a:rPr lang="en-AU" sz="1400"/>
              <a:t>You can fill out the online referral form on compass </a:t>
            </a:r>
          </a:p>
          <a:p>
            <a:pPr marL="0" indent="0">
              <a:buNone/>
            </a:pPr>
            <a:r>
              <a:rPr lang="en-AU" sz="1400"/>
              <a:t>You can  drop into the Wellbeing Centre during recess or lunch (room 204) and they will explain how to make a referral.  </a:t>
            </a:r>
          </a:p>
          <a:p>
            <a:pPr marL="0" indent="0">
              <a:buNone/>
            </a:pPr>
            <a:r>
              <a:rPr lang="en-AU" sz="1400"/>
              <a:t>We can support you initially and liaise with your teachers and then refer if needed to a counsellor or GP.</a:t>
            </a:r>
          </a:p>
        </p:txBody>
      </p:sp>
    </p:spTree>
    <p:extLst>
      <p:ext uri="{BB962C8B-B14F-4D97-AF65-F5344CB8AC3E}">
        <p14:creationId xmlns:p14="http://schemas.microsoft.com/office/powerpoint/2010/main" val="2287159675"/>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139A91C7086847A98671EDF19DF6A7" ma:contentTypeVersion="3" ma:contentTypeDescription="Create a new document." ma:contentTypeScope="" ma:versionID="1ac54db21b4203d299765f3564495803">
  <xsd:schema xmlns:xsd="http://www.w3.org/2001/XMLSchema" xmlns:xs="http://www.w3.org/2001/XMLSchema" xmlns:p="http://schemas.microsoft.com/office/2006/metadata/properties" xmlns:ns2="4f0bfc7f-89f7-4a8e-b4ce-697b04347147" targetNamespace="http://schemas.microsoft.com/office/2006/metadata/properties" ma:root="true" ma:fieldsID="5248034578c8672181713fe683e858fe" ns2:_="">
    <xsd:import namespace="4f0bfc7f-89f7-4a8e-b4ce-697b04347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bfc7f-89f7-4a8e-b4ce-697b04347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A560382-2072-4931-B0CB-0545A41B3C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0bfc7f-89f7-4a8e-b4ce-697b043471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C2381A-192A-40CC-998F-6FFFF3C96A53}">
  <ds:schemaRefs>
    <ds:schemaRef ds:uri="http://schemas.microsoft.com/sharepoint/v3/contenttype/forms"/>
  </ds:schemaRefs>
</ds:datastoreItem>
</file>

<file path=customXml/itemProps3.xml><?xml version="1.0" encoding="utf-8"?>
<ds:datastoreItem xmlns:ds="http://schemas.openxmlformats.org/officeDocument/2006/customXml" ds:itemID="{F91F3382-D257-438E-83CF-D0528D8CD41B}">
  <ds:schemaRefs>
    <ds:schemaRef ds:uri="http://purl.org/dc/elements/1.1/"/>
    <ds:schemaRef ds:uri="http://schemas.microsoft.com/office/2006/documentManagement/types"/>
    <ds:schemaRef ds:uri="http://www.w3.org/XML/1998/namespace"/>
    <ds:schemaRef ds:uri="http://purl.org/dc/terms/"/>
    <ds:schemaRef ds:uri="http://schemas.microsoft.com/office/2006/metadata/properties"/>
    <ds:schemaRef ds:uri="4f0bfc7f-89f7-4a8e-b4ce-697b04347147"/>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TM03457452[[fn=Celestial]]</Template>
  <TotalTime>0</TotalTime>
  <Words>597</Words>
  <Application>Microsoft Office PowerPoint</Application>
  <PresentationFormat>Widescreen</PresentationFormat>
  <Paragraphs>50</Paragraphs>
  <Slides>10</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Corbel</vt:lpstr>
      <vt:lpstr>Wingdings 2</vt:lpstr>
      <vt:lpstr>Frame</vt:lpstr>
      <vt:lpstr>What is the difference?   </vt:lpstr>
      <vt:lpstr>Psychologists and Psychiatrists</vt:lpstr>
      <vt:lpstr>PowerPoint Presentation</vt:lpstr>
      <vt:lpstr>Training</vt:lpstr>
      <vt:lpstr>Training</vt:lpstr>
      <vt:lpstr>Psychiatrists</vt:lpstr>
      <vt:lpstr>Working together</vt:lpstr>
      <vt:lpstr>Psychologists</vt:lpstr>
      <vt:lpstr>VIDEO – What Does a Psychiatrist Do?</vt:lpstr>
      <vt:lpstr>Need Support?</vt:lpstr>
    </vt:vector>
  </TitlesOfParts>
  <Company>Kew High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Psychologists and Psychiatrists</dc:title>
  <dc:creator>HARDING,  Faye</dc:creator>
  <cp:lastModifiedBy>Liam GOMEZ-KERVIN</cp:lastModifiedBy>
  <cp:revision>1</cp:revision>
  <dcterms:created xsi:type="dcterms:W3CDTF">2019-03-12T02:35:17Z</dcterms:created>
  <dcterms:modified xsi:type="dcterms:W3CDTF">2026-07-20T03:32:32Z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0x01010038139A91C7086847A98671EDF19DF6A7</vt:lpwstr>
  </property>
  <property fmtid="{D5CDD505-2E9C-101B-9397-08002B2CF9AE}" pid="3" name="MediaServiceImageTags">
    <vt:lpwstr/>
  </property>
  <property fmtid="{D5CDD505-2E9C-101B-9397-08002B2CF9AE}" pid="4" name="Order">
    <vt:r8>2300600</vt:r8>
  </property>
  <property fmtid="{D5CDD505-2E9C-101B-9397-08002B2CF9AE}" pid="5" name="xd_Signature">
    <vt:bool>false</vt:bool>
  </property>
  <property fmtid="{D5CDD505-2E9C-101B-9397-08002B2CF9AE}" pid="6" name="xd_ProgID">
    <vt:lpwstr/>
  </property>
  <property fmtid="{D5CDD505-2E9C-101B-9397-08002B2CF9AE}" pid="7" name="_ExtendedDescription">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ies>
</file>