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57" r:id="rId4"/>
    <p:sldId id="264" r:id="rId5"/>
    <p:sldId id="265" r:id="rId6"/>
    <p:sldId id="267" r:id="rId7"/>
    <p:sldId id="261" r:id="rId8"/>
    <p:sldId id="259" r:id="rId9"/>
    <p:sldId id="263" r:id="rId10"/>
    <p:sldId id="268" r:id="rId11"/>
    <p:sldId id="258" r:id="rId12"/>
    <p:sldId id="269" r:id="rId13"/>
    <p:sldId id="271" r:id="rId14"/>
    <p:sldId id="270" r:id="rId15"/>
    <p:sldId id="260" r:id="rId16"/>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6170D-48EF-9B29-548C-0E8E4E1BA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F5B7437-9E0B-80D1-1FA8-2A6B02755D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4479E0C-4B74-72B6-744B-43E41ED1C10E}"/>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5" name="Footer Placeholder 4">
            <a:extLst>
              <a:ext uri="{FF2B5EF4-FFF2-40B4-BE49-F238E27FC236}">
                <a16:creationId xmlns:a16="http://schemas.microsoft.com/office/drawing/2014/main" id="{91D1A653-080E-F06E-B9A1-C72AC10151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A764EBE-44B6-A6DA-70B7-8D91086326AC}"/>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130433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26DB9-E086-7E92-910F-28E2D086668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6C7615D-4594-2BF1-7C98-9A15B43BF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8EFB0B7-0E60-A6C4-2067-1BDA7F4BCF61}"/>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5" name="Footer Placeholder 4">
            <a:extLst>
              <a:ext uri="{FF2B5EF4-FFF2-40B4-BE49-F238E27FC236}">
                <a16:creationId xmlns:a16="http://schemas.microsoft.com/office/drawing/2014/main" id="{E2BE4966-8AA9-F9AA-0051-E14C7D24A96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FB5E3D4-CBD4-54EE-9214-6AF6D3CCC30E}"/>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688852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51A3-650C-994B-F15A-0B044CB594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0063500-7C5B-D4D9-A0EC-D013813C1D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3B5ED2-C3C4-D56B-EA23-8A5AE4A43D8B}"/>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5" name="Footer Placeholder 4">
            <a:extLst>
              <a:ext uri="{FF2B5EF4-FFF2-40B4-BE49-F238E27FC236}">
                <a16:creationId xmlns:a16="http://schemas.microsoft.com/office/drawing/2014/main" id="{C5EC9BB1-915C-FAA6-ABB0-307CAE2CF3D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C6CE770-B7B9-2A36-FAD1-D6F237CC049B}"/>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170498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00FAC-34D2-50CD-CE23-FCFFE513240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E8E45DE-3463-0E90-38AE-C666576EA0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93C5CAD-4347-3797-2D18-82F5D7193C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5D4F227-EA95-3747-FA36-8C314B150B09}"/>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6" name="Footer Placeholder 5">
            <a:extLst>
              <a:ext uri="{FF2B5EF4-FFF2-40B4-BE49-F238E27FC236}">
                <a16:creationId xmlns:a16="http://schemas.microsoft.com/office/drawing/2014/main" id="{630ED525-CF03-AB0E-BC3C-1DA287CE622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6E46202-DC2A-587A-FA00-E42F7D49ABCF}"/>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818201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999ED-0590-5DF1-DCA3-7CDB103AB169}"/>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31C648A-DC05-AC50-B1DA-4D0CAB4AE5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6E1C43-5E0B-F36A-D299-F5AFA750BC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7142040-CF45-AF88-EDF5-F9FCE9AF66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C216D0-B9B3-AAEF-F979-4BC317D843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97347EFB-8973-74D7-CF5C-E91F01885553}"/>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8" name="Footer Placeholder 7">
            <a:extLst>
              <a:ext uri="{FF2B5EF4-FFF2-40B4-BE49-F238E27FC236}">
                <a16:creationId xmlns:a16="http://schemas.microsoft.com/office/drawing/2014/main" id="{A831689E-A0B4-5D18-7E4F-6B7D6B2FFAC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04EB203-0F23-6315-5275-27B18B67F7DE}"/>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1413961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CF4C-757B-83A7-4CDE-DBDF523093C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85E416B-8AA4-B1D0-9EF3-84BAD4A23C52}"/>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4" name="Footer Placeholder 3">
            <a:extLst>
              <a:ext uri="{FF2B5EF4-FFF2-40B4-BE49-F238E27FC236}">
                <a16:creationId xmlns:a16="http://schemas.microsoft.com/office/drawing/2014/main" id="{05F2DC55-D146-278A-5108-A047EEB5F68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3DE5A61-359D-4B34-E391-A177578A0D7A}"/>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1277759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00057F-F60E-3B39-2913-3B2AC8EB50B4}"/>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3" name="Footer Placeholder 2">
            <a:extLst>
              <a:ext uri="{FF2B5EF4-FFF2-40B4-BE49-F238E27FC236}">
                <a16:creationId xmlns:a16="http://schemas.microsoft.com/office/drawing/2014/main" id="{A16CB861-A41C-417F-E0BE-CA6A772FCAC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302A8F68-5D9C-E245-FEF3-06D8D321E3DB}"/>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457606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5666-9468-785E-CD01-6F3F0FCBA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C34FD3BB-CCB0-B806-86F1-DBA442D245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AA86DAFE-5D7C-E110-6A76-E31A8CC31A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336644-F148-7368-5914-6006DA58014C}"/>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6" name="Footer Placeholder 5">
            <a:extLst>
              <a:ext uri="{FF2B5EF4-FFF2-40B4-BE49-F238E27FC236}">
                <a16:creationId xmlns:a16="http://schemas.microsoft.com/office/drawing/2014/main" id="{F4DBB94A-E788-A6D0-2D75-FD56633A5F3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248071A-310D-C635-26A8-3E58C4BDADD6}"/>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2546535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DE0F6-AF89-CE10-7C85-0CAC543AA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D2B7044-6EAD-9A9B-BFC1-6B50CFB316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CE7F33A-86B8-8372-313B-99E57361B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5EE7E4-9669-3EA2-095D-56EF40A2DEE9}"/>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6" name="Footer Placeholder 5">
            <a:extLst>
              <a:ext uri="{FF2B5EF4-FFF2-40B4-BE49-F238E27FC236}">
                <a16:creationId xmlns:a16="http://schemas.microsoft.com/office/drawing/2014/main" id="{73E027A2-1285-1E6E-B9D9-25FAABC190B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4D78366-508F-53F4-4EB9-19FAC3304F84}"/>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3594914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1B5A-D50C-B1A9-5984-5D0C590C6DE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D9F99A1-5F88-28F3-546E-323AA89B66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0C0007E-BF0C-4310-1D01-C1426F695F43}"/>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5" name="Footer Placeholder 4">
            <a:extLst>
              <a:ext uri="{FF2B5EF4-FFF2-40B4-BE49-F238E27FC236}">
                <a16:creationId xmlns:a16="http://schemas.microsoft.com/office/drawing/2014/main" id="{B04D7850-FFFF-F39B-9F3A-85A9D1822A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FA2E01B-3396-4A9F-2805-3BBD110872B8}"/>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221589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9BF8B-6BEF-8BC0-CB10-4B348E9E5B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F46B11A-0028-20DC-6844-E4B3BA8F8C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8301261-FC4A-7316-8799-93DE8D3A735D}"/>
              </a:ext>
            </a:extLst>
          </p:cNvPr>
          <p:cNvSpPr>
            <a:spLocks noGrp="1"/>
          </p:cNvSpPr>
          <p:nvPr>
            <p:ph type="dt" sz="half" idx="10"/>
          </p:nvPr>
        </p:nvSpPr>
        <p:spPr/>
        <p:txBody>
          <a:bodyPr/>
          <a:lstStyle/>
          <a:p>
            <a:fld id="{5FB36698-9FA3-4300-B329-156E537A13D3}" type="datetimeFigureOut">
              <a:rPr lang="en-AU" smtClean="0"/>
              <a:t>06/02/2026</a:t>
            </a:fld>
            <a:endParaRPr lang="en-AU"/>
          </a:p>
        </p:txBody>
      </p:sp>
      <p:sp>
        <p:nvSpPr>
          <p:cNvPr id="5" name="Footer Placeholder 4">
            <a:extLst>
              <a:ext uri="{FF2B5EF4-FFF2-40B4-BE49-F238E27FC236}">
                <a16:creationId xmlns:a16="http://schemas.microsoft.com/office/drawing/2014/main" id="{CB65D04C-9AE2-DF18-ED42-F8AE1C8D78D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14727E-6064-D464-C222-9E2734C92887}"/>
              </a:ext>
            </a:extLst>
          </p:cNvPr>
          <p:cNvSpPr>
            <a:spLocks noGrp="1"/>
          </p:cNvSpPr>
          <p:nvPr>
            <p:ph type="sldNum" sz="quarter" idx="12"/>
          </p:nvPr>
        </p:nvSpPr>
        <p:spPr/>
        <p:txBody>
          <a:bodyPr/>
          <a:lstStyle/>
          <a:p>
            <a:fld id="{634765BB-DE82-4432-BCB3-3F278C98A1A9}" type="slidenum">
              <a:rPr lang="en-AU" smtClean="0"/>
              <a:t>‹#›</a:t>
            </a:fld>
            <a:endParaRPr lang="en-AU"/>
          </a:p>
        </p:txBody>
      </p:sp>
    </p:spTree>
    <p:extLst>
      <p:ext uri="{BB962C8B-B14F-4D97-AF65-F5344CB8AC3E}">
        <p14:creationId xmlns:p14="http://schemas.microsoft.com/office/powerpoint/2010/main" val="166351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94571E-B45C-8CD0-B912-E8C029FE8F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C2A658A-668A-EB20-7FAC-BAA742B36D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F6F301C-192D-1B83-94AB-2CBC4B2DF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B36698-9FA3-4300-B329-156E537A13D3}" type="datetimeFigureOut">
              <a:rPr lang="en-AU" smtClean="0"/>
              <a:t>06/02/2026</a:t>
            </a:fld>
            <a:endParaRPr lang="en-AU"/>
          </a:p>
        </p:txBody>
      </p:sp>
      <p:sp>
        <p:nvSpPr>
          <p:cNvPr id="5" name="Footer Placeholder 4">
            <a:extLst>
              <a:ext uri="{FF2B5EF4-FFF2-40B4-BE49-F238E27FC236}">
                <a16:creationId xmlns:a16="http://schemas.microsoft.com/office/drawing/2014/main" id="{7530D55A-6EB5-E098-1FF0-6B795C55C1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3F5F1CB7-2E77-7C6A-4114-7DA568540C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4765BB-DE82-4432-BCB3-3F278C98A1A9}" type="slidenum">
              <a:rPr lang="en-AU" smtClean="0"/>
              <a:t>‹#›</a:t>
            </a:fld>
            <a:endParaRPr lang="en-AU"/>
          </a:p>
        </p:txBody>
      </p:sp>
    </p:spTree>
    <p:extLst>
      <p:ext uri="{BB962C8B-B14F-4D97-AF65-F5344CB8AC3E}">
        <p14:creationId xmlns:p14="http://schemas.microsoft.com/office/powerpoint/2010/main" val="1844850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kewhighschoolcareers.com.au/"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ntent.sdp.education.vic.gov.au/media/work-experience-arrangement-form-3177" TargetMode="External"/><Relationship Id="rId2" Type="http://schemas.openxmlformats.org/officeDocument/2006/relationships/hyperlink" Target="https://content.sdp.education.vic.gov.au/media/work-experience-arrangement-form-2551" TargetMode="External"/><Relationship Id="rId1" Type="http://schemas.openxmlformats.org/officeDocument/2006/relationships/slideLayout" Target="../slideLayouts/slideLayout2.xml"/><Relationship Id="rId6" Type="http://schemas.openxmlformats.org/officeDocument/2006/relationships/hyperlink" Target="https://content.sdp.education.vic.gov.au/media/working-with-animals-form-2555" TargetMode="External"/><Relationship Id="rId5" Type="http://schemas.openxmlformats.org/officeDocument/2006/relationships/hyperlink" Target="https://content.sdp.education.vic.gov.au/media/work-experience-travel-accommodation-form-3176" TargetMode="External"/><Relationship Id="rId4" Type="http://schemas.openxmlformats.org/officeDocument/2006/relationships/hyperlink" Target="https://content.sdp.education.vic.gov.au/media/work-experience-travel-accommodation-form-2554"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kewhighschool.sharepoint.com/:b:/s/KHS-StudentSupport/Ee8kVR7FaGJJlVBLtpdIFzgB9Hf5bKOORaZ6fHTkjRdcrA?e=saonch"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9ED1AA-8684-4D37-B208-8777E1A77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phic 33">
            <a:extLst>
              <a:ext uri="{FF2B5EF4-FFF2-40B4-BE49-F238E27FC236}">
                <a16:creationId xmlns:a16="http://schemas.microsoft.com/office/drawing/2014/main" id="{4180E01B-B1F4-437C-807D-1C930718E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0784" y="0"/>
            <a:ext cx="9570431" cy="6858000"/>
          </a:xfrm>
          <a:custGeom>
            <a:avLst/>
            <a:gdLst>
              <a:gd name="connsiteX0" fmla="*/ 7178288 w 7187261"/>
              <a:gd name="connsiteY0" fmla="*/ 2604802 h 5150263"/>
              <a:gd name="connsiteX1" fmla="*/ 7169335 w 7187261"/>
              <a:gd name="connsiteY1" fmla="*/ 2328577 h 5150263"/>
              <a:gd name="connsiteX2" fmla="*/ 7060845 w 7187261"/>
              <a:gd name="connsiteY2" fmla="*/ 1661160 h 5150263"/>
              <a:gd name="connsiteX3" fmla="*/ 6212263 w 7187261"/>
              <a:gd name="connsiteY3" fmla="*/ 243840 h 5150263"/>
              <a:gd name="connsiteX4" fmla="*/ 5953564 w 7187261"/>
              <a:gd name="connsiteY4" fmla="*/ 0 h 5150263"/>
              <a:gd name="connsiteX5" fmla="*/ 1408615 w 7187261"/>
              <a:gd name="connsiteY5" fmla="*/ 0 h 5150263"/>
              <a:gd name="connsiteX6" fmla="*/ 805111 w 7187261"/>
              <a:gd name="connsiteY6" fmla="*/ 676275 h 5150263"/>
              <a:gd name="connsiteX7" fmla="*/ 104928 w 7187261"/>
              <a:gd name="connsiteY7" fmla="*/ 2183035 h 5150263"/>
              <a:gd name="connsiteX8" fmla="*/ 51588 w 7187261"/>
              <a:gd name="connsiteY8" fmla="*/ 2400014 h 5150263"/>
              <a:gd name="connsiteX9" fmla="*/ 41301 w 7187261"/>
              <a:gd name="connsiteY9" fmla="*/ 2424208 h 5150263"/>
              <a:gd name="connsiteX10" fmla="*/ 119692 w 7187261"/>
              <a:gd name="connsiteY10" fmla="*/ 1834801 h 5150263"/>
              <a:gd name="connsiteX11" fmla="*/ 870071 w 7187261"/>
              <a:gd name="connsiteY11" fmla="*/ 462248 h 5150263"/>
              <a:gd name="connsiteX12" fmla="*/ 1389279 w 7187261"/>
              <a:gd name="connsiteY12" fmla="*/ 476 h 5150263"/>
              <a:gd name="connsiteX13" fmla="*/ 1320223 w 7187261"/>
              <a:gd name="connsiteY13" fmla="*/ 476 h 5150263"/>
              <a:gd name="connsiteX14" fmla="*/ 423158 w 7187261"/>
              <a:gd name="connsiteY14" fmla="*/ 989743 h 5150263"/>
              <a:gd name="connsiteX15" fmla="*/ 25585 w 7187261"/>
              <a:gd name="connsiteY15" fmla="*/ 2113693 h 5150263"/>
              <a:gd name="connsiteX16" fmla="*/ 2344 w 7187261"/>
              <a:gd name="connsiteY16" fmla="*/ 2725865 h 5150263"/>
              <a:gd name="connsiteX17" fmla="*/ 447256 w 7187261"/>
              <a:gd name="connsiteY17" fmla="*/ 4210717 h 5150263"/>
              <a:gd name="connsiteX18" fmla="*/ 1138962 w 7187261"/>
              <a:gd name="connsiteY18" fmla="*/ 4988910 h 5150263"/>
              <a:gd name="connsiteX19" fmla="*/ 1348512 w 7187261"/>
              <a:gd name="connsiteY19" fmla="*/ 5146834 h 5150263"/>
              <a:gd name="connsiteX20" fmla="*/ 1422712 w 7187261"/>
              <a:gd name="connsiteY20" fmla="*/ 5146834 h 5150263"/>
              <a:gd name="connsiteX21" fmla="*/ 480594 w 7187261"/>
              <a:gd name="connsiteY21" fmla="*/ 4187952 h 5150263"/>
              <a:gd name="connsiteX22" fmla="*/ 398679 w 7187261"/>
              <a:gd name="connsiteY22" fmla="*/ 4046125 h 5150263"/>
              <a:gd name="connsiteX23" fmla="*/ 411823 w 7187261"/>
              <a:gd name="connsiteY23" fmla="*/ 4053078 h 5150263"/>
              <a:gd name="connsiteX24" fmla="*/ 1439380 w 7187261"/>
              <a:gd name="connsiteY24" fmla="*/ 5147405 h 5150263"/>
              <a:gd name="connsiteX25" fmla="*/ 5710010 w 7187261"/>
              <a:gd name="connsiteY25" fmla="*/ 5150263 h 5150263"/>
              <a:gd name="connsiteX26" fmla="*/ 5999665 w 7187261"/>
              <a:gd name="connsiteY26" fmla="*/ 4910900 h 5150263"/>
              <a:gd name="connsiteX27" fmla="*/ 6954165 w 7187261"/>
              <a:gd name="connsiteY27" fmla="*/ 3545777 h 5150263"/>
              <a:gd name="connsiteX28" fmla="*/ 7137712 w 7187261"/>
              <a:gd name="connsiteY28" fmla="*/ 2799207 h 5150263"/>
              <a:gd name="connsiteX29" fmla="*/ 7142951 w 7187261"/>
              <a:gd name="connsiteY29" fmla="*/ 2754535 h 5150263"/>
              <a:gd name="connsiteX30" fmla="*/ 7149428 w 7187261"/>
              <a:gd name="connsiteY30" fmla="*/ 2774823 h 5150263"/>
              <a:gd name="connsiteX31" fmla="*/ 7066465 w 7187261"/>
              <a:gd name="connsiteY31" fmla="*/ 3465672 h 5150263"/>
              <a:gd name="connsiteX32" fmla="*/ 6452578 w 7187261"/>
              <a:gd name="connsiteY32" fmla="*/ 4552760 h 5150263"/>
              <a:gd name="connsiteX33" fmla="*/ 5752110 w 7187261"/>
              <a:gd name="connsiteY33" fmla="*/ 5150263 h 5150263"/>
              <a:gd name="connsiteX34" fmla="*/ 5827643 w 7187261"/>
              <a:gd name="connsiteY34" fmla="*/ 5150263 h 5150263"/>
              <a:gd name="connsiteX35" fmla="*/ 6642793 w 7187261"/>
              <a:gd name="connsiteY35" fmla="*/ 4389406 h 5150263"/>
              <a:gd name="connsiteX36" fmla="*/ 7102469 w 7187261"/>
              <a:gd name="connsiteY36" fmla="*/ 3490817 h 5150263"/>
              <a:gd name="connsiteX37" fmla="*/ 7187242 w 7187261"/>
              <a:gd name="connsiteY37" fmla="*/ 2990183 h 5150263"/>
              <a:gd name="connsiteX38" fmla="*/ 7178288 w 7187261"/>
              <a:gd name="connsiteY38" fmla="*/ 2604802 h 5150263"/>
              <a:gd name="connsiteX39" fmla="*/ 6342565 w 7187261"/>
              <a:gd name="connsiteY39" fmla="*/ 441389 h 5150263"/>
              <a:gd name="connsiteX40" fmla="*/ 7126567 w 7187261"/>
              <a:gd name="connsiteY40" fmla="*/ 2355056 h 5150263"/>
              <a:gd name="connsiteX41" fmla="*/ 6342565 w 7187261"/>
              <a:gd name="connsiteY41" fmla="*/ 441389 h 51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187261" h="5150263">
                <a:moveTo>
                  <a:pt x="7178288" y="2604802"/>
                </a:moveTo>
                <a:cubicBezTo>
                  <a:pt x="7168763" y="2513076"/>
                  <a:pt x="7174478" y="2420684"/>
                  <a:pt x="7169335" y="2328577"/>
                </a:cubicBezTo>
                <a:cubicBezTo>
                  <a:pt x="7156952" y="2102882"/>
                  <a:pt x="7120586" y="1879149"/>
                  <a:pt x="7060845" y="1661160"/>
                </a:cubicBezTo>
                <a:cubicBezTo>
                  <a:pt x="6910588" y="1121007"/>
                  <a:pt x="6617428" y="631374"/>
                  <a:pt x="6212263" y="243840"/>
                </a:cubicBezTo>
                <a:cubicBezTo>
                  <a:pt x="6126538" y="162496"/>
                  <a:pt x="6040813" y="80201"/>
                  <a:pt x="5953564" y="0"/>
                </a:cubicBezTo>
                <a:lnTo>
                  <a:pt x="1408615" y="0"/>
                </a:lnTo>
                <a:cubicBezTo>
                  <a:pt x="1180967" y="200316"/>
                  <a:pt x="978332" y="427387"/>
                  <a:pt x="805111" y="676275"/>
                </a:cubicBezTo>
                <a:cubicBezTo>
                  <a:pt x="481261" y="1136523"/>
                  <a:pt x="252089" y="1640872"/>
                  <a:pt x="104928" y="2183035"/>
                </a:cubicBezTo>
                <a:cubicBezTo>
                  <a:pt x="85878" y="2254853"/>
                  <a:pt x="69495" y="2327720"/>
                  <a:pt x="51588" y="2400014"/>
                </a:cubicBezTo>
                <a:cubicBezTo>
                  <a:pt x="49683" y="2407634"/>
                  <a:pt x="51588" y="2416969"/>
                  <a:pt x="41301" y="2424208"/>
                </a:cubicBezTo>
                <a:cubicBezTo>
                  <a:pt x="45900" y="2225469"/>
                  <a:pt x="72186" y="2027834"/>
                  <a:pt x="119692" y="1834801"/>
                </a:cubicBezTo>
                <a:cubicBezTo>
                  <a:pt x="247993" y="1310926"/>
                  <a:pt x="506121" y="857726"/>
                  <a:pt x="870071" y="462248"/>
                </a:cubicBezTo>
                <a:cubicBezTo>
                  <a:pt x="1027729" y="291823"/>
                  <a:pt x="1201617" y="137169"/>
                  <a:pt x="1389279" y="476"/>
                </a:cubicBezTo>
                <a:lnTo>
                  <a:pt x="1320223" y="476"/>
                </a:lnTo>
                <a:cubicBezTo>
                  <a:pt x="960844" y="274320"/>
                  <a:pt x="656330" y="599123"/>
                  <a:pt x="423158" y="989743"/>
                </a:cubicBezTo>
                <a:cubicBezTo>
                  <a:pt x="215608" y="1337596"/>
                  <a:pt x="80258" y="1711357"/>
                  <a:pt x="25585" y="2113693"/>
                </a:cubicBezTo>
                <a:cubicBezTo>
                  <a:pt x="-2705" y="2316480"/>
                  <a:pt x="-2228" y="2521077"/>
                  <a:pt x="2344" y="2725865"/>
                </a:cubicBezTo>
                <a:cubicBezTo>
                  <a:pt x="14155" y="3261932"/>
                  <a:pt x="170650" y="3754565"/>
                  <a:pt x="447256" y="4210717"/>
                </a:cubicBezTo>
                <a:cubicBezTo>
                  <a:pt x="629851" y="4511612"/>
                  <a:pt x="866356" y="4767167"/>
                  <a:pt x="1138962" y="4988910"/>
                </a:cubicBezTo>
                <a:cubicBezTo>
                  <a:pt x="1207161" y="5044345"/>
                  <a:pt x="1277008" y="5096990"/>
                  <a:pt x="1348512" y="5146834"/>
                </a:cubicBezTo>
                <a:lnTo>
                  <a:pt x="1422712" y="5146834"/>
                </a:lnTo>
                <a:cubicBezTo>
                  <a:pt x="1043426" y="4892802"/>
                  <a:pt x="724720" y="4577334"/>
                  <a:pt x="480594" y="4187952"/>
                </a:cubicBezTo>
                <a:cubicBezTo>
                  <a:pt x="452019" y="4141851"/>
                  <a:pt x="423444" y="4095179"/>
                  <a:pt x="398679" y="4046125"/>
                </a:cubicBezTo>
                <a:cubicBezTo>
                  <a:pt x="407442" y="4043267"/>
                  <a:pt x="409156" y="4048982"/>
                  <a:pt x="411823" y="4053078"/>
                </a:cubicBezTo>
                <a:cubicBezTo>
                  <a:pt x="683572" y="4484656"/>
                  <a:pt x="1033139" y="4842701"/>
                  <a:pt x="1439380" y="5147405"/>
                </a:cubicBezTo>
                <a:lnTo>
                  <a:pt x="5710010" y="5150263"/>
                </a:lnTo>
                <a:cubicBezTo>
                  <a:pt x="5810594" y="5075482"/>
                  <a:pt x="5907272" y="4995587"/>
                  <a:pt x="5999665" y="4910900"/>
                </a:cubicBezTo>
                <a:cubicBezTo>
                  <a:pt x="6418765" y="4526661"/>
                  <a:pt x="6746901" y="4078129"/>
                  <a:pt x="6954165" y="3545777"/>
                </a:cubicBezTo>
                <a:cubicBezTo>
                  <a:pt x="7048234" y="3306175"/>
                  <a:pt x="7109956" y="3055115"/>
                  <a:pt x="7137712" y="2799207"/>
                </a:cubicBezTo>
                <a:cubicBezTo>
                  <a:pt x="7139236" y="2784920"/>
                  <a:pt x="7141046" y="2770632"/>
                  <a:pt x="7142951" y="2754535"/>
                </a:cubicBezTo>
                <a:cubicBezTo>
                  <a:pt x="7151714" y="2760440"/>
                  <a:pt x="7149237" y="2768441"/>
                  <a:pt x="7149428" y="2774823"/>
                </a:cubicBezTo>
                <a:cubicBezTo>
                  <a:pt x="7156743" y="3007967"/>
                  <a:pt x="7128777" y="3240881"/>
                  <a:pt x="7066465" y="3465672"/>
                </a:cubicBezTo>
                <a:cubicBezTo>
                  <a:pt x="6952165" y="3878580"/>
                  <a:pt x="6737948" y="4235863"/>
                  <a:pt x="6452578" y="4552760"/>
                </a:cubicBezTo>
                <a:cubicBezTo>
                  <a:pt x="6244553" y="4783836"/>
                  <a:pt x="6008809" y="4980242"/>
                  <a:pt x="5752110" y="5150263"/>
                </a:cubicBezTo>
                <a:lnTo>
                  <a:pt x="5827643" y="5150263"/>
                </a:lnTo>
                <a:cubicBezTo>
                  <a:pt x="6136539" y="4938904"/>
                  <a:pt x="6412192" y="4689348"/>
                  <a:pt x="6642793" y="4389406"/>
                </a:cubicBezTo>
                <a:cubicBezTo>
                  <a:pt x="6851295" y="4118324"/>
                  <a:pt x="7009125" y="3820859"/>
                  <a:pt x="7102469" y="3490817"/>
                </a:cubicBezTo>
                <a:cubicBezTo>
                  <a:pt x="7148646" y="3327473"/>
                  <a:pt x="7177069" y="3159624"/>
                  <a:pt x="7187242" y="2990183"/>
                </a:cubicBezTo>
                <a:cubicBezTo>
                  <a:pt x="7187623" y="2984087"/>
                  <a:pt x="7182384" y="2642330"/>
                  <a:pt x="7178288" y="2604802"/>
                </a:cubicBezTo>
                <a:close/>
                <a:moveTo>
                  <a:pt x="6342565" y="441389"/>
                </a:moveTo>
                <a:cubicBezTo>
                  <a:pt x="6829797" y="986533"/>
                  <a:pt x="7091135" y="1624422"/>
                  <a:pt x="7126567" y="2355056"/>
                </a:cubicBezTo>
                <a:cubicBezTo>
                  <a:pt x="7001123" y="1661827"/>
                  <a:pt x="6756426" y="1017365"/>
                  <a:pt x="6342565" y="441389"/>
                </a:cubicBezTo>
                <a:close/>
              </a:path>
            </a:pathLst>
          </a:custGeom>
          <a:solidFill>
            <a:schemeClr val="accent2"/>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D90E2FE-1DC3-3524-10EF-169EDC6F981E}"/>
              </a:ext>
            </a:extLst>
          </p:cNvPr>
          <p:cNvSpPr>
            <a:spLocks noGrp="1"/>
          </p:cNvSpPr>
          <p:nvPr>
            <p:ph type="ctrTitle"/>
          </p:nvPr>
        </p:nvSpPr>
        <p:spPr>
          <a:xfrm>
            <a:off x="2558716" y="955309"/>
            <a:ext cx="7074568" cy="2898975"/>
          </a:xfrm>
        </p:spPr>
        <p:txBody>
          <a:bodyPr>
            <a:normAutofit/>
          </a:bodyPr>
          <a:lstStyle/>
          <a:p>
            <a:r>
              <a:rPr lang="en-AU" sz="6600" dirty="0">
                <a:solidFill>
                  <a:srgbClr val="FFFFFF"/>
                </a:solidFill>
              </a:rPr>
              <a:t>Work Education</a:t>
            </a:r>
            <a:br>
              <a:rPr lang="en-AU" sz="6600" dirty="0">
                <a:solidFill>
                  <a:srgbClr val="FFFFFF"/>
                </a:solidFill>
              </a:rPr>
            </a:br>
            <a:endParaRPr lang="en-AU" sz="6600" dirty="0">
              <a:solidFill>
                <a:srgbClr val="FFFFFF"/>
              </a:solidFill>
            </a:endParaRPr>
          </a:p>
        </p:txBody>
      </p:sp>
      <p:sp>
        <p:nvSpPr>
          <p:cNvPr id="3" name="Subtitle 2">
            <a:extLst>
              <a:ext uri="{FF2B5EF4-FFF2-40B4-BE49-F238E27FC236}">
                <a16:creationId xmlns:a16="http://schemas.microsoft.com/office/drawing/2014/main" id="{18A92E81-56A5-A8B1-BEFC-5D26E641D5B1}"/>
              </a:ext>
            </a:extLst>
          </p:cNvPr>
          <p:cNvSpPr>
            <a:spLocks noGrp="1"/>
          </p:cNvSpPr>
          <p:nvPr>
            <p:ph type="subTitle" idx="1"/>
          </p:nvPr>
        </p:nvSpPr>
        <p:spPr>
          <a:xfrm>
            <a:off x="2634916" y="4533813"/>
            <a:ext cx="6930189" cy="938463"/>
          </a:xfrm>
        </p:spPr>
        <p:txBody>
          <a:bodyPr>
            <a:normAutofit/>
          </a:bodyPr>
          <a:lstStyle/>
          <a:p>
            <a:r>
              <a:rPr lang="en-AU">
                <a:solidFill>
                  <a:srgbClr val="FFFFFF"/>
                </a:solidFill>
              </a:rPr>
              <a:t>What is it?</a:t>
            </a:r>
          </a:p>
          <a:p>
            <a:r>
              <a:rPr lang="en-AU">
                <a:solidFill>
                  <a:srgbClr val="FFFFFF"/>
                </a:solidFill>
              </a:rPr>
              <a:t>Why is it important?</a:t>
            </a:r>
          </a:p>
        </p:txBody>
      </p:sp>
      <p:sp>
        <p:nvSpPr>
          <p:cNvPr id="12" name="sketch line">
            <a:extLst>
              <a:ext uri="{FF2B5EF4-FFF2-40B4-BE49-F238E27FC236}">
                <a16:creationId xmlns:a16="http://schemas.microsoft.com/office/drawing/2014/main" id="{41F77738-2AF0-4750-A0C7-F97C2C175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173498"/>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5411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53FEFA-1EE4-D6CD-D7EF-29A2246A1E09}"/>
              </a:ext>
            </a:extLst>
          </p:cNvPr>
          <p:cNvSpPr>
            <a:spLocks noGrp="1"/>
          </p:cNvSpPr>
          <p:nvPr>
            <p:ph type="title"/>
          </p:nvPr>
        </p:nvSpPr>
        <p:spPr>
          <a:xfrm>
            <a:off x="572493" y="238539"/>
            <a:ext cx="11018520" cy="1434415"/>
          </a:xfrm>
        </p:spPr>
        <p:txBody>
          <a:bodyPr anchor="b">
            <a:normAutofit/>
          </a:bodyPr>
          <a:lstStyle/>
          <a:p>
            <a:r>
              <a:rPr lang="en-AU" sz="5400" dirty="0"/>
              <a:t>Work &amp; Life Education  2026</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B14036B-1FDC-E98A-D7BD-5BADE53EE165}"/>
              </a:ext>
            </a:extLst>
          </p:cNvPr>
          <p:cNvSpPr>
            <a:spLocks noGrp="1"/>
          </p:cNvSpPr>
          <p:nvPr>
            <p:ph idx="1"/>
          </p:nvPr>
        </p:nvSpPr>
        <p:spPr>
          <a:xfrm>
            <a:off x="572493" y="2071316"/>
            <a:ext cx="6713552" cy="4119172"/>
          </a:xfrm>
        </p:spPr>
        <p:txBody>
          <a:bodyPr anchor="t">
            <a:normAutofit lnSpcReduction="10000"/>
          </a:bodyPr>
          <a:lstStyle/>
          <a:p>
            <a:pPr marL="0" indent="0">
              <a:buNone/>
            </a:pPr>
            <a:r>
              <a:rPr lang="en-AU" sz="2200" u="sng" dirty="0"/>
              <a:t>Work &amp; Life Education has replaced both Connect and Pathways. The work education program will cover many things in relation to Careers</a:t>
            </a:r>
            <a:r>
              <a:rPr lang="en-AU" sz="2200" dirty="0"/>
              <a:t>:</a:t>
            </a:r>
          </a:p>
          <a:p>
            <a:r>
              <a:rPr lang="en-AU" sz="2200" dirty="0"/>
              <a:t>Work Experience</a:t>
            </a:r>
          </a:p>
          <a:p>
            <a:r>
              <a:rPr lang="en-AU" sz="2200" dirty="0"/>
              <a:t>OH&amp;S (occupational health &amp; safety)</a:t>
            </a:r>
          </a:p>
          <a:p>
            <a:r>
              <a:rPr lang="en-AU" sz="2200" dirty="0"/>
              <a:t>Resumes/employer cover letters      </a:t>
            </a:r>
          </a:p>
          <a:p>
            <a:r>
              <a:rPr lang="en-AU" sz="2200" dirty="0"/>
              <a:t>Part time employment</a:t>
            </a:r>
          </a:p>
          <a:p>
            <a:r>
              <a:rPr lang="en-AU" sz="2200" dirty="0"/>
              <a:t>Career </a:t>
            </a:r>
            <a:r>
              <a:rPr lang="en-AU" sz="2200" dirty="0" err="1"/>
              <a:t>Quizes</a:t>
            </a:r>
            <a:endParaRPr lang="en-AU" sz="2200" dirty="0"/>
          </a:p>
          <a:p>
            <a:r>
              <a:rPr lang="en-AU" sz="2200" dirty="0"/>
              <a:t>Guest Speakers</a:t>
            </a:r>
          </a:p>
          <a:p>
            <a:r>
              <a:rPr lang="en-AU" sz="2200" dirty="0"/>
              <a:t>Tertiary Information</a:t>
            </a:r>
          </a:p>
          <a:p>
            <a:r>
              <a:rPr lang="en-AU" sz="2200" dirty="0"/>
              <a:t>Preparing for Work……..and much more</a:t>
            </a:r>
          </a:p>
          <a:p>
            <a:pPr marL="0" indent="0">
              <a:buNone/>
            </a:pPr>
            <a:endParaRPr lang="en-AU" sz="2200" dirty="0"/>
          </a:p>
        </p:txBody>
      </p:sp>
      <p:pic>
        <p:nvPicPr>
          <p:cNvPr id="4" name="Picture 3">
            <a:extLst>
              <a:ext uri="{FF2B5EF4-FFF2-40B4-BE49-F238E27FC236}">
                <a16:creationId xmlns:a16="http://schemas.microsoft.com/office/drawing/2014/main" id="{F8511CF9-6500-9DBD-37CF-CD5FC86E84EA}"/>
              </a:ext>
            </a:extLst>
          </p:cNvPr>
          <p:cNvPicPr>
            <a:picLocks noChangeAspect="1"/>
          </p:cNvPicPr>
          <p:nvPr/>
        </p:nvPicPr>
        <p:blipFill rotWithShape="1">
          <a:blip r:embed="rId2"/>
          <a:srcRect l="28989" r="1504" b="2"/>
          <a:stretch/>
        </p:blipFill>
        <p:spPr>
          <a:xfrm>
            <a:off x="7675658" y="2093976"/>
            <a:ext cx="3941064" cy="4096512"/>
          </a:xfrm>
          <a:prstGeom prst="rect">
            <a:avLst/>
          </a:prstGeom>
        </p:spPr>
      </p:pic>
    </p:spTree>
    <p:extLst>
      <p:ext uri="{BB962C8B-B14F-4D97-AF65-F5344CB8AC3E}">
        <p14:creationId xmlns:p14="http://schemas.microsoft.com/office/powerpoint/2010/main" val="3488980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4F05A-4827-2AB5-A75E-4273467652D6}"/>
              </a:ext>
            </a:extLst>
          </p:cNvPr>
          <p:cNvSpPr>
            <a:spLocks noGrp="1"/>
          </p:cNvSpPr>
          <p:nvPr>
            <p:ph type="title"/>
          </p:nvPr>
        </p:nvSpPr>
        <p:spPr>
          <a:xfrm>
            <a:off x="1171074" y="1396686"/>
            <a:ext cx="3240506" cy="4064628"/>
          </a:xfrm>
        </p:spPr>
        <p:txBody>
          <a:bodyPr>
            <a:normAutofit/>
          </a:bodyPr>
          <a:lstStyle/>
          <a:p>
            <a:r>
              <a:rPr lang="en-AU">
                <a:solidFill>
                  <a:srgbClr val="FFFFFF"/>
                </a:solidFill>
              </a:rPr>
              <a:t>Work experience</a:t>
            </a:r>
          </a:p>
        </p:txBody>
      </p:sp>
      <p:sp>
        <p:nvSpPr>
          <p:cNvPr id="17"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0A98904-3C87-4300-9F51-2B4A575752A8}"/>
              </a:ext>
            </a:extLst>
          </p:cNvPr>
          <p:cNvSpPr>
            <a:spLocks noGrp="1"/>
          </p:cNvSpPr>
          <p:nvPr>
            <p:ph idx="1"/>
          </p:nvPr>
        </p:nvSpPr>
        <p:spPr>
          <a:xfrm>
            <a:off x="5370153" y="1526033"/>
            <a:ext cx="5536397" cy="3935281"/>
          </a:xfrm>
        </p:spPr>
        <p:txBody>
          <a:bodyPr>
            <a:normAutofit fontScale="92500" lnSpcReduction="10000"/>
          </a:bodyPr>
          <a:lstStyle/>
          <a:p>
            <a:r>
              <a:rPr lang="en-AU" sz="1800" dirty="0"/>
              <a:t>Compulsory for Year 10 students, therefore no classes that week</a:t>
            </a:r>
          </a:p>
          <a:p>
            <a:r>
              <a:rPr lang="en-AU" sz="1800" b="1" dirty="0"/>
              <a:t>Monday 22nd June – Friday 26th June</a:t>
            </a:r>
            <a:r>
              <a:rPr lang="en-AU" sz="1800" dirty="0"/>
              <a:t> (last week of Term 2)</a:t>
            </a:r>
          </a:p>
          <a:p>
            <a:r>
              <a:rPr lang="en-AU" sz="1800" dirty="0"/>
              <a:t>Students to source their placement by Period 5, </a:t>
            </a:r>
            <a:r>
              <a:rPr lang="en-AU" sz="1800" dirty="0">
                <a:highlight>
                  <a:srgbClr val="FFFF00"/>
                </a:highlight>
              </a:rPr>
              <a:t>Monday 30th  March (work Experience forms due to Ms TSA)</a:t>
            </a:r>
          </a:p>
          <a:p>
            <a:r>
              <a:rPr lang="en-AU" sz="1800" dirty="0"/>
              <a:t>CONNECTIONS ARE EVERYTHING! Start with family and friends </a:t>
            </a:r>
          </a:p>
          <a:p>
            <a:r>
              <a:rPr lang="en-AU" sz="1800" dirty="0"/>
              <a:t>Must complete paperwork (signed work experience form) and give to Ms Tsaveas or your Work Ed teacher</a:t>
            </a:r>
          </a:p>
          <a:p>
            <a:r>
              <a:rPr lang="en-AU" sz="1800" dirty="0"/>
              <a:t>Additional forms can be found under your Work Ed resource tab on Compass</a:t>
            </a:r>
          </a:p>
          <a:p>
            <a:r>
              <a:rPr lang="en-AU" sz="1800" i="1" dirty="0"/>
              <a:t>Show Reuben’s email as example &amp; yellow pages searching</a:t>
            </a:r>
          </a:p>
          <a:p>
            <a:endParaRPr lang="en-AU" sz="1800" dirty="0"/>
          </a:p>
        </p:txBody>
      </p:sp>
    </p:spTree>
    <p:extLst>
      <p:ext uri="{BB962C8B-B14F-4D97-AF65-F5344CB8AC3E}">
        <p14:creationId xmlns:p14="http://schemas.microsoft.com/office/powerpoint/2010/main" val="588164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Searching Stick Figure | Great PowerPoint ClipArt for Presentations -  PresenterMedia.com">
            <a:extLst>
              <a:ext uri="{FF2B5EF4-FFF2-40B4-BE49-F238E27FC236}">
                <a16:creationId xmlns:a16="http://schemas.microsoft.com/office/drawing/2014/main" id="{1B568312-A82E-A592-1E1D-42BD939565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62" r="1" b="9644"/>
          <a:stretch/>
        </p:blipFill>
        <p:spPr bwMode="auto">
          <a:xfrm>
            <a:off x="7605072" y="0"/>
            <a:ext cx="4436318" cy="4422913"/>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66111496-68C1-0B80-52B5-CD841453028F}"/>
              </a:ext>
            </a:extLst>
          </p:cNvPr>
          <p:cNvSpPr>
            <a:spLocks noGrp="1"/>
          </p:cNvSpPr>
          <p:nvPr>
            <p:ph type="title"/>
          </p:nvPr>
        </p:nvSpPr>
        <p:spPr>
          <a:xfrm>
            <a:off x="838200" y="365125"/>
            <a:ext cx="6766872" cy="1325563"/>
          </a:xfrm>
        </p:spPr>
        <p:txBody>
          <a:bodyPr/>
          <a:lstStyle/>
          <a:p>
            <a:r>
              <a:rPr lang="en-AU" dirty="0"/>
              <a:t>Where to start with finding a placement:</a:t>
            </a:r>
          </a:p>
        </p:txBody>
      </p:sp>
      <p:sp>
        <p:nvSpPr>
          <p:cNvPr id="5" name="Content Placeholder 4">
            <a:extLst>
              <a:ext uri="{FF2B5EF4-FFF2-40B4-BE49-F238E27FC236}">
                <a16:creationId xmlns:a16="http://schemas.microsoft.com/office/drawing/2014/main" id="{799A1CBC-4285-2D9A-C5E2-035E8F8651BF}"/>
              </a:ext>
            </a:extLst>
          </p:cNvPr>
          <p:cNvSpPr>
            <a:spLocks noGrp="1"/>
          </p:cNvSpPr>
          <p:nvPr>
            <p:ph idx="1"/>
          </p:nvPr>
        </p:nvSpPr>
        <p:spPr>
          <a:xfrm>
            <a:off x="838200" y="1825625"/>
            <a:ext cx="7729330" cy="4351338"/>
          </a:xfrm>
        </p:spPr>
        <p:txBody>
          <a:bodyPr>
            <a:normAutofit fontScale="85000" lnSpcReduction="20000"/>
          </a:bodyPr>
          <a:lstStyle/>
          <a:p>
            <a:pPr marL="0" indent="0">
              <a:buNone/>
            </a:pPr>
            <a:r>
              <a:rPr lang="en-AU" dirty="0"/>
              <a:t>Firstly, consider </a:t>
            </a:r>
            <a:r>
              <a:rPr lang="en-AU" b="1" dirty="0"/>
              <a:t>businesses and organisations that interest you most</a:t>
            </a:r>
            <a:r>
              <a:rPr lang="en-AU" dirty="0"/>
              <a:t> – research them, visit them, talk to someone who works there. </a:t>
            </a:r>
            <a:br>
              <a:rPr lang="en-AU" dirty="0"/>
            </a:br>
            <a:endParaRPr lang="en-AU" dirty="0"/>
          </a:p>
          <a:p>
            <a:pPr marL="0" indent="0">
              <a:buNone/>
            </a:pPr>
            <a:r>
              <a:rPr lang="en-AU" dirty="0"/>
              <a:t>Secondly, ask your </a:t>
            </a:r>
            <a:r>
              <a:rPr lang="en-AU" b="1" dirty="0"/>
              <a:t>family members and family friends</a:t>
            </a:r>
            <a:r>
              <a:rPr lang="en-AU" dirty="0"/>
              <a:t>, as well as coaches and adults external to KHS. </a:t>
            </a:r>
          </a:p>
          <a:p>
            <a:pPr marL="0" indent="0">
              <a:buNone/>
            </a:pPr>
            <a:endParaRPr lang="en-AU" dirty="0"/>
          </a:p>
          <a:p>
            <a:pPr marL="0" indent="0">
              <a:buNone/>
            </a:pPr>
            <a:r>
              <a:rPr lang="en-AU" dirty="0"/>
              <a:t>Third option, if you struggle to find a placement, we have </a:t>
            </a:r>
            <a:r>
              <a:rPr lang="en-AU" b="1" dirty="0"/>
              <a:t>parents and alumni (former students) connections </a:t>
            </a:r>
            <a:r>
              <a:rPr lang="en-AU" dirty="0"/>
              <a:t>who might be able to help you. See Ms Elise Dunstan (CR3) if this is the case. </a:t>
            </a:r>
          </a:p>
          <a:p>
            <a:pPr marL="0" indent="0">
              <a:buNone/>
            </a:pPr>
            <a:endParaRPr lang="en-AU" dirty="0"/>
          </a:p>
          <a:p>
            <a:pPr marL="0" indent="0">
              <a:buNone/>
            </a:pPr>
            <a:r>
              <a:rPr lang="en-AU" dirty="0"/>
              <a:t>Make sure you consider the </a:t>
            </a:r>
            <a:r>
              <a:rPr lang="en-AU" b="1" dirty="0"/>
              <a:t>location of the placement </a:t>
            </a:r>
            <a:r>
              <a:rPr lang="en-AU" dirty="0"/>
              <a:t>and ensure you can get there. </a:t>
            </a:r>
          </a:p>
          <a:p>
            <a:endParaRPr lang="en-AU" dirty="0"/>
          </a:p>
          <a:p>
            <a:endParaRPr lang="en-AU" dirty="0"/>
          </a:p>
          <a:p>
            <a:endParaRPr lang="en-AU" dirty="0"/>
          </a:p>
          <a:p>
            <a:endParaRPr lang="en-AU" dirty="0"/>
          </a:p>
        </p:txBody>
      </p:sp>
    </p:spTree>
    <p:extLst>
      <p:ext uri="{BB962C8B-B14F-4D97-AF65-F5344CB8AC3E}">
        <p14:creationId xmlns:p14="http://schemas.microsoft.com/office/powerpoint/2010/main" val="868876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6" descr="Office Worker">
            <a:extLst>
              <a:ext uri="{FF2B5EF4-FFF2-40B4-BE49-F238E27FC236}">
                <a16:creationId xmlns:a16="http://schemas.microsoft.com/office/drawing/2014/main" id="{61FB9FF9-C6D1-24E9-2F6E-FE5061FA1E1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988" y="1744515"/>
            <a:ext cx="3368969" cy="3368969"/>
          </a:xfrm>
          <a:prstGeom prst="rect">
            <a:avLst/>
          </a:prstGeom>
        </p:spPr>
      </p:pic>
      <p:sp>
        <p:nvSpPr>
          <p:cNvPr id="17" name="Freeform: Shape 11">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92881D61-FF02-1FF9-5206-03024911ACAB}"/>
              </a:ext>
            </a:extLst>
          </p:cNvPr>
          <p:cNvSpPr>
            <a:spLocks noGrp="1"/>
          </p:cNvSpPr>
          <p:nvPr>
            <p:ph type="title"/>
          </p:nvPr>
        </p:nvSpPr>
        <p:spPr>
          <a:xfrm>
            <a:off x="5759354" y="457201"/>
            <a:ext cx="5337270" cy="1835911"/>
          </a:xfrm>
        </p:spPr>
        <p:txBody>
          <a:bodyPr anchor="b">
            <a:normAutofit/>
          </a:bodyPr>
          <a:lstStyle/>
          <a:p>
            <a:r>
              <a:rPr lang="en-AU" sz="4200">
                <a:solidFill>
                  <a:srgbClr val="FFFFFF"/>
                </a:solidFill>
              </a:rPr>
              <a:t>Applying for work experience with personal connections </a:t>
            </a:r>
          </a:p>
        </p:txBody>
      </p:sp>
      <p:sp>
        <p:nvSpPr>
          <p:cNvPr id="14" name="sketch line">
            <a:extLst>
              <a:ext uri="{FF2B5EF4-FFF2-40B4-BE49-F238E27FC236}">
                <a16:creationId xmlns:a16="http://schemas.microsoft.com/office/drawing/2014/main" id="{49B530FE-A87D-41A0-A920-ADC6539EA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9353" y="2560829"/>
            <a:ext cx="5029200" cy="18288"/>
          </a:xfrm>
          <a:custGeom>
            <a:avLst/>
            <a:gdLst>
              <a:gd name="csX0" fmla="*/ 0 w 5029200"/>
              <a:gd name="csY0" fmla="*/ 0 h 18288"/>
              <a:gd name="csX1" fmla="*/ 528066 w 5029200"/>
              <a:gd name="csY1" fmla="*/ 0 h 18288"/>
              <a:gd name="csX2" fmla="*/ 1207008 w 5029200"/>
              <a:gd name="csY2" fmla="*/ 0 h 18288"/>
              <a:gd name="csX3" fmla="*/ 1785366 w 5029200"/>
              <a:gd name="csY3" fmla="*/ 0 h 18288"/>
              <a:gd name="csX4" fmla="*/ 2313432 w 5029200"/>
              <a:gd name="csY4" fmla="*/ 0 h 18288"/>
              <a:gd name="csX5" fmla="*/ 2992374 w 5029200"/>
              <a:gd name="csY5" fmla="*/ 0 h 18288"/>
              <a:gd name="csX6" fmla="*/ 3621024 w 5029200"/>
              <a:gd name="csY6" fmla="*/ 0 h 18288"/>
              <a:gd name="csX7" fmla="*/ 4249674 w 5029200"/>
              <a:gd name="csY7" fmla="*/ 0 h 18288"/>
              <a:gd name="csX8" fmla="*/ 5029200 w 5029200"/>
              <a:gd name="csY8" fmla="*/ 0 h 18288"/>
              <a:gd name="csX9" fmla="*/ 5029200 w 5029200"/>
              <a:gd name="csY9" fmla="*/ 18288 h 18288"/>
              <a:gd name="csX10" fmla="*/ 4501134 w 5029200"/>
              <a:gd name="csY10" fmla="*/ 18288 h 18288"/>
              <a:gd name="csX11" fmla="*/ 4023360 w 5029200"/>
              <a:gd name="csY11" fmla="*/ 18288 h 18288"/>
              <a:gd name="csX12" fmla="*/ 3344418 w 5029200"/>
              <a:gd name="csY12" fmla="*/ 18288 h 18288"/>
              <a:gd name="csX13" fmla="*/ 2816352 w 5029200"/>
              <a:gd name="csY13" fmla="*/ 18288 h 18288"/>
              <a:gd name="csX14" fmla="*/ 2137410 w 5029200"/>
              <a:gd name="csY14" fmla="*/ 18288 h 18288"/>
              <a:gd name="csX15" fmla="*/ 1408176 w 5029200"/>
              <a:gd name="csY15" fmla="*/ 18288 h 18288"/>
              <a:gd name="csX16" fmla="*/ 829818 w 5029200"/>
              <a:gd name="csY16" fmla="*/ 18288 h 18288"/>
              <a:gd name="csX17" fmla="*/ 0 w 5029200"/>
              <a:gd name="csY17" fmla="*/ 18288 h 18288"/>
              <a:gd name="csX18" fmla="*/ 0 w 5029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029200" h="18288" fill="none" extrusionOk="0">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path>
              <a:path w="5029200" h="18288" stroke="0" extrusionOk="0">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9AEB579-0D00-4C93-EF2D-D41699068456}"/>
              </a:ext>
            </a:extLst>
          </p:cNvPr>
          <p:cNvSpPr>
            <a:spLocks noGrp="1"/>
          </p:cNvSpPr>
          <p:nvPr>
            <p:ph idx="1"/>
          </p:nvPr>
        </p:nvSpPr>
        <p:spPr>
          <a:xfrm>
            <a:off x="5759354" y="2798064"/>
            <a:ext cx="5461095" cy="3417611"/>
          </a:xfrm>
        </p:spPr>
        <p:txBody>
          <a:bodyPr anchor="t">
            <a:normAutofit/>
          </a:bodyPr>
          <a:lstStyle/>
          <a:p>
            <a:r>
              <a:rPr lang="en-AU" sz="2000" dirty="0">
                <a:solidFill>
                  <a:srgbClr val="FFFFFF"/>
                </a:solidFill>
              </a:rPr>
              <a:t>Is your resume up to date? </a:t>
            </a:r>
          </a:p>
          <a:p>
            <a:pPr marL="0" indent="0">
              <a:buNone/>
            </a:pPr>
            <a:endParaRPr lang="en-AU" sz="2000" dirty="0">
              <a:solidFill>
                <a:srgbClr val="FFFFFF"/>
              </a:solidFill>
            </a:endParaRPr>
          </a:p>
          <a:p>
            <a:r>
              <a:rPr lang="en-AU" sz="2000" dirty="0">
                <a:solidFill>
                  <a:srgbClr val="FFFFFF"/>
                </a:solidFill>
              </a:rPr>
              <a:t>If your resume is ready to go, attach it to an email or better still, hand deliver to the Manager / Owner of the business and introduce yourself. MAKE A POSITIVE FIRST IMPRESSION!</a:t>
            </a:r>
            <a:br>
              <a:rPr lang="en-AU" sz="2000" dirty="0">
                <a:solidFill>
                  <a:srgbClr val="FFFFFF"/>
                </a:solidFill>
              </a:rPr>
            </a:br>
            <a:endParaRPr lang="en-AU" sz="2000" dirty="0">
              <a:solidFill>
                <a:srgbClr val="FFFFFF"/>
              </a:solidFill>
            </a:endParaRPr>
          </a:p>
          <a:p>
            <a:r>
              <a:rPr lang="en-AU" sz="2000" dirty="0">
                <a:solidFill>
                  <a:srgbClr val="FFFFFF"/>
                </a:solidFill>
              </a:rPr>
              <a:t>Consider using the following template…</a:t>
            </a:r>
          </a:p>
          <a:p>
            <a:endParaRPr lang="en-AU" sz="2000" dirty="0">
              <a:solidFill>
                <a:srgbClr val="FFFFFF"/>
              </a:solidFill>
            </a:endParaRPr>
          </a:p>
          <a:p>
            <a:endParaRPr lang="en-AU" sz="2000" dirty="0">
              <a:solidFill>
                <a:srgbClr val="FFFFFF"/>
              </a:solidFill>
            </a:endParaRPr>
          </a:p>
        </p:txBody>
      </p:sp>
    </p:spTree>
    <p:extLst>
      <p:ext uri="{BB962C8B-B14F-4D97-AF65-F5344CB8AC3E}">
        <p14:creationId xmlns:p14="http://schemas.microsoft.com/office/powerpoint/2010/main" val="3757418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55D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CA1ACD6-1130-B7A3-691D-0CF0E5E6E436}"/>
              </a:ext>
            </a:extLst>
          </p:cNvPr>
          <p:cNvPicPr>
            <a:picLocks noChangeAspect="1"/>
          </p:cNvPicPr>
          <p:nvPr/>
        </p:nvPicPr>
        <p:blipFill>
          <a:blip r:embed="rId2"/>
          <a:stretch>
            <a:fillRect/>
          </a:stretch>
        </p:blipFill>
        <p:spPr>
          <a:xfrm>
            <a:off x="6576441" y="643467"/>
            <a:ext cx="4818971" cy="5571066"/>
          </a:xfrm>
          <a:prstGeom prst="rect">
            <a:avLst/>
          </a:prstGeom>
        </p:spPr>
      </p:pic>
      <p:sp>
        <p:nvSpPr>
          <p:cNvPr id="25" name="Rectangle 24">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2DBBC2C0-D6DA-8733-9251-EF2149AEF474}"/>
              </a:ext>
            </a:extLst>
          </p:cNvPr>
          <p:cNvPicPr>
            <a:picLocks noGrp="1" noChangeAspect="1"/>
          </p:cNvPicPr>
          <p:nvPr>
            <p:ph idx="1"/>
          </p:nvPr>
        </p:nvPicPr>
        <p:blipFill>
          <a:blip r:embed="rId3"/>
          <a:stretch>
            <a:fillRect/>
          </a:stretch>
        </p:blipFill>
        <p:spPr>
          <a:xfrm>
            <a:off x="678201" y="643467"/>
            <a:ext cx="5055742" cy="5571066"/>
          </a:xfrm>
          <a:prstGeom prst="rect">
            <a:avLst/>
          </a:prstGeom>
        </p:spPr>
      </p:pic>
    </p:spTree>
    <p:extLst>
      <p:ext uri="{BB962C8B-B14F-4D97-AF65-F5344CB8AC3E}">
        <p14:creationId xmlns:p14="http://schemas.microsoft.com/office/powerpoint/2010/main" val="2910326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614AAB-1112-148B-164C-C8EE5D84424B}"/>
              </a:ext>
            </a:extLst>
          </p:cNvPr>
          <p:cNvSpPr txBox="1"/>
          <p:nvPr/>
        </p:nvSpPr>
        <p:spPr>
          <a:xfrm>
            <a:off x="3048000" y="335846"/>
            <a:ext cx="6096000" cy="6740307"/>
          </a:xfrm>
          <a:prstGeom prst="rect">
            <a:avLst/>
          </a:prstGeom>
          <a:noFill/>
        </p:spPr>
        <p:txBody>
          <a:bodyPr wrap="square">
            <a:spAutoFit/>
          </a:bodyPr>
          <a:lstStyle/>
          <a:p>
            <a:r>
              <a:rPr lang="en-AU" sz="1800" b="1" dirty="0">
                <a:effectLst/>
                <a:latin typeface="Calibri" panose="020F0502020204030204" pitchFamily="34" charset="0"/>
                <a:ea typeface="Calibri" panose="020F0502020204030204" pitchFamily="34" charset="0"/>
              </a:rPr>
              <a:t>Subject: </a:t>
            </a:r>
            <a:r>
              <a:rPr lang="en-AU" sz="1800" dirty="0">
                <a:effectLst/>
                <a:latin typeface="Calibri" panose="020F0502020204030204" pitchFamily="34" charset="0"/>
                <a:ea typeface="Calibri" panose="020F0502020204030204" pitchFamily="34" charset="0"/>
              </a:rPr>
              <a:t>Kew High School work experience inquiry </a:t>
            </a:r>
          </a:p>
          <a:p>
            <a:r>
              <a:rPr lang="en-AU" sz="1800" dirty="0">
                <a:effectLst/>
                <a:latin typeface="Calibri" panose="020F0502020204030204" pitchFamily="34" charset="0"/>
                <a:ea typeface="Calibri" panose="020F0502020204030204" pitchFamily="34" charset="0"/>
              </a:rPr>
              <a:t> </a:t>
            </a:r>
          </a:p>
          <a:p>
            <a:r>
              <a:rPr lang="en-AU" sz="1800" dirty="0">
                <a:effectLst/>
                <a:latin typeface="Calibri" panose="020F0502020204030204" pitchFamily="34" charset="0"/>
                <a:ea typeface="Calibri" panose="020F0502020204030204" pitchFamily="34" charset="0"/>
              </a:rPr>
              <a:t>Dear Michael,</a:t>
            </a:r>
          </a:p>
          <a:p>
            <a:r>
              <a:rPr lang="en-AU" sz="1800" dirty="0">
                <a:effectLst/>
                <a:latin typeface="Calibri" panose="020F0502020204030204" pitchFamily="34" charset="0"/>
                <a:ea typeface="Calibri" panose="020F0502020204030204" pitchFamily="34" charset="0"/>
              </a:rPr>
              <a:t> </a:t>
            </a:r>
          </a:p>
          <a:p>
            <a:r>
              <a:rPr lang="en-AU" sz="1800" dirty="0">
                <a:effectLst/>
                <a:latin typeface="Calibri" panose="020F0502020204030204" pitchFamily="34" charset="0"/>
                <a:ea typeface="Calibri" panose="020F0502020204030204" pitchFamily="34" charset="0"/>
              </a:rPr>
              <a:t>My name is </a:t>
            </a:r>
            <a:r>
              <a:rPr lang="en-AU" sz="1800" dirty="0">
                <a:effectLst/>
                <a:highlight>
                  <a:srgbClr val="000000"/>
                </a:highlight>
                <a:latin typeface="Calibri" panose="020F0502020204030204" pitchFamily="34" charset="0"/>
                <a:ea typeface="Calibri" panose="020F0502020204030204" pitchFamily="34" charset="0"/>
              </a:rPr>
              <a:t>Reuben Lueth</a:t>
            </a:r>
            <a:r>
              <a:rPr lang="en-AU" sz="1800" dirty="0">
                <a:effectLst/>
                <a:latin typeface="Calibri" panose="020F0502020204030204" pitchFamily="34" charset="0"/>
                <a:ea typeface="Calibri" panose="020F0502020204030204" pitchFamily="34" charset="0"/>
              </a:rPr>
              <a:t>, and I am a Year 10 student at Kew High School.  I attended the session you presented at the school last year. As a result of your presentation, I am now involved in discussions focussing on how we can implement some of the concepts you discussed into the school grounds.  </a:t>
            </a:r>
          </a:p>
          <a:p>
            <a:r>
              <a:rPr lang="en-AU" sz="1800" dirty="0">
                <a:effectLst/>
                <a:latin typeface="Calibri" panose="020F0502020204030204" pitchFamily="34" charset="0"/>
                <a:ea typeface="Calibri" panose="020F0502020204030204" pitchFamily="34" charset="0"/>
              </a:rPr>
              <a:t> </a:t>
            </a:r>
          </a:p>
          <a:p>
            <a:r>
              <a:rPr lang="en-AU" sz="1800" dirty="0">
                <a:effectLst/>
                <a:latin typeface="Calibri" panose="020F0502020204030204" pitchFamily="34" charset="0"/>
                <a:ea typeface="Calibri" panose="020F0502020204030204" pitchFamily="34" charset="0"/>
              </a:rPr>
              <a:t>In Year 10, all students undertake a work experience placement in the last week of Term 2, Monday </a:t>
            </a:r>
            <a:r>
              <a:rPr lang="en-AU" dirty="0">
                <a:latin typeface="Calibri" panose="020F0502020204030204" pitchFamily="34" charset="0"/>
                <a:ea typeface="Calibri" panose="020F0502020204030204" pitchFamily="34" charset="0"/>
              </a:rPr>
              <a:t>22nd</a:t>
            </a:r>
            <a:r>
              <a:rPr lang="en-AU" sz="1800" dirty="0">
                <a:effectLst/>
                <a:latin typeface="Calibri" panose="020F0502020204030204" pitchFamily="34" charset="0"/>
                <a:ea typeface="Calibri" panose="020F0502020204030204" pitchFamily="34" charset="0"/>
              </a:rPr>
              <a:t> June – Friday 26th </a:t>
            </a:r>
            <a:r>
              <a:rPr lang="en-AU" dirty="0">
                <a:latin typeface="Calibri" panose="020F0502020204030204" pitchFamily="34" charset="0"/>
                <a:ea typeface="Calibri" panose="020F0502020204030204" pitchFamily="34" charset="0"/>
              </a:rPr>
              <a:t>June</a:t>
            </a:r>
            <a:r>
              <a:rPr lang="en-AU" sz="1800" dirty="0">
                <a:effectLst/>
                <a:latin typeface="Calibri" panose="020F0502020204030204" pitchFamily="34" charset="0"/>
                <a:ea typeface="Calibri" panose="020F0502020204030204" pitchFamily="34" charset="0"/>
              </a:rPr>
              <a:t>.</a:t>
            </a:r>
          </a:p>
          <a:p>
            <a:br>
              <a:rPr lang="en-AU" sz="1800" dirty="0">
                <a:effectLst/>
                <a:latin typeface="Calibri" panose="020F0502020204030204" pitchFamily="34" charset="0"/>
                <a:ea typeface="Calibri" panose="020F0502020204030204" pitchFamily="34" charset="0"/>
              </a:rPr>
            </a:br>
            <a:r>
              <a:rPr lang="en-AU" sz="1800" dirty="0">
                <a:effectLst/>
                <a:latin typeface="Calibri" panose="020F0502020204030204" pitchFamily="34" charset="0"/>
                <a:ea typeface="Calibri" panose="020F0502020204030204" pitchFamily="34" charset="0"/>
              </a:rPr>
              <a:t>I have a strong interest in environmental design and architecture and am keen to learn more about your field of work. Would you consider offering your expertise and time to having me work alongside you and your team? </a:t>
            </a:r>
          </a:p>
          <a:p>
            <a:r>
              <a:rPr lang="en-AU" sz="1800" dirty="0">
                <a:effectLst/>
                <a:latin typeface="Calibri" panose="020F0502020204030204" pitchFamily="34" charset="0"/>
                <a:ea typeface="Calibri" panose="020F0502020204030204" pitchFamily="34" charset="0"/>
              </a:rPr>
              <a:t> </a:t>
            </a:r>
          </a:p>
          <a:p>
            <a:r>
              <a:rPr lang="en-AU" sz="1800" dirty="0">
                <a:effectLst/>
                <a:latin typeface="Calibri" panose="020F0502020204030204" pitchFamily="34" charset="0"/>
                <a:ea typeface="Calibri" panose="020F0502020204030204" pitchFamily="34" charset="0"/>
              </a:rPr>
              <a:t>Kind regards, </a:t>
            </a:r>
          </a:p>
          <a:p>
            <a:r>
              <a:rPr lang="en-AU" sz="1800" dirty="0">
                <a:effectLst/>
                <a:latin typeface="Calibri" panose="020F0502020204030204" pitchFamily="34" charset="0"/>
                <a:ea typeface="Calibri" panose="020F0502020204030204" pitchFamily="34" charset="0"/>
              </a:rPr>
              <a:t> </a:t>
            </a:r>
          </a:p>
          <a:p>
            <a:r>
              <a:rPr lang="en-AU" sz="1800" dirty="0">
                <a:effectLst/>
                <a:highlight>
                  <a:srgbClr val="000000"/>
                </a:highlight>
                <a:latin typeface="Calibri" panose="020F0502020204030204" pitchFamily="34" charset="0"/>
                <a:ea typeface="Calibri" panose="020F0502020204030204" pitchFamily="34" charset="0"/>
              </a:rPr>
              <a:t>Reuben Lueth</a:t>
            </a:r>
          </a:p>
          <a:p>
            <a:r>
              <a:rPr lang="en-AU" sz="1800" dirty="0">
                <a:effectLst/>
                <a:latin typeface="Calibri" panose="020F0502020204030204" pitchFamily="34" charset="0"/>
                <a:ea typeface="Calibri" panose="020F0502020204030204" pitchFamily="34" charset="0"/>
              </a:rPr>
              <a:t>Year 10</a:t>
            </a:r>
          </a:p>
          <a:p>
            <a:r>
              <a:rPr lang="en-AU" sz="1800" dirty="0">
                <a:effectLst/>
                <a:latin typeface="Calibri" panose="020F0502020204030204" pitchFamily="34" charset="0"/>
                <a:ea typeface="Calibri" panose="020F0502020204030204" pitchFamily="34" charset="0"/>
              </a:rPr>
              <a:t>Kew High School</a:t>
            </a:r>
          </a:p>
        </p:txBody>
      </p:sp>
    </p:spTree>
    <p:extLst>
      <p:ext uri="{BB962C8B-B14F-4D97-AF65-F5344CB8AC3E}">
        <p14:creationId xmlns:p14="http://schemas.microsoft.com/office/powerpoint/2010/main" val="264332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E84B70-1529-997A-FAB7-AAD4250CF911}"/>
              </a:ext>
            </a:extLst>
          </p:cNvPr>
          <p:cNvSpPr>
            <a:spLocks noGrp="1"/>
          </p:cNvSpPr>
          <p:nvPr>
            <p:ph type="title"/>
          </p:nvPr>
        </p:nvSpPr>
        <p:spPr>
          <a:xfrm>
            <a:off x="635000" y="640823"/>
            <a:ext cx="3418659" cy="5583148"/>
          </a:xfrm>
        </p:spPr>
        <p:txBody>
          <a:bodyPr anchor="ctr">
            <a:normAutofit/>
          </a:bodyPr>
          <a:lstStyle/>
          <a:p>
            <a:r>
              <a:rPr lang="en-AU" sz="5400" dirty="0"/>
              <a:t>Overview of Work Ed sessions for Semester 1 </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4">
            <a:extLst>
              <a:ext uri="{FF2B5EF4-FFF2-40B4-BE49-F238E27FC236}">
                <a16:creationId xmlns:a16="http://schemas.microsoft.com/office/drawing/2014/main" id="{0C272189-0F85-EFCB-957D-C5869C362CB6}"/>
              </a:ext>
            </a:extLst>
          </p:cNvPr>
          <p:cNvGraphicFramePr>
            <a:graphicFrameLocks noGrp="1"/>
          </p:cNvGraphicFramePr>
          <p:nvPr>
            <p:ph idx="1"/>
            <p:extLst>
              <p:ext uri="{D42A27DB-BD31-4B8C-83A1-F6EECF244321}">
                <p14:modId xmlns:p14="http://schemas.microsoft.com/office/powerpoint/2010/main" val="3520598842"/>
              </p:ext>
            </p:extLst>
          </p:nvPr>
        </p:nvGraphicFramePr>
        <p:xfrm>
          <a:off x="5104661" y="888527"/>
          <a:ext cx="5227880" cy="5288435"/>
        </p:xfrm>
        <a:graphic>
          <a:graphicData uri="http://schemas.openxmlformats.org/drawingml/2006/table">
            <a:tbl>
              <a:tblPr firstRow="1" firstCol="1" bandRow="1">
                <a:tableStyleId>{5C22544A-7EE6-4342-B048-85BDC9FD1C3A}</a:tableStyleId>
              </a:tblPr>
              <a:tblGrid>
                <a:gridCol w="640953">
                  <a:extLst>
                    <a:ext uri="{9D8B030D-6E8A-4147-A177-3AD203B41FA5}">
                      <a16:colId xmlns:a16="http://schemas.microsoft.com/office/drawing/2014/main" val="2422459584"/>
                    </a:ext>
                  </a:extLst>
                </a:gridCol>
                <a:gridCol w="1001995">
                  <a:extLst>
                    <a:ext uri="{9D8B030D-6E8A-4147-A177-3AD203B41FA5}">
                      <a16:colId xmlns:a16="http://schemas.microsoft.com/office/drawing/2014/main" val="1948494624"/>
                    </a:ext>
                  </a:extLst>
                </a:gridCol>
                <a:gridCol w="3584932">
                  <a:extLst>
                    <a:ext uri="{9D8B030D-6E8A-4147-A177-3AD203B41FA5}">
                      <a16:colId xmlns:a16="http://schemas.microsoft.com/office/drawing/2014/main" val="990612505"/>
                    </a:ext>
                  </a:extLst>
                </a:gridCol>
              </a:tblGrid>
              <a:tr h="170899">
                <a:tc gridSpan="3">
                  <a:txBody>
                    <a:bodyPr/>
                    <a:lstStyle/>
                    <a:p>
                      <a:pPr algn="ctr">
                        <a:lnSpc>
                          <a:spcPct val="107000"/>
                        </a:lnSpc>
                        <a:spcAft>
                          <a:spcPts val="800"/>
                        </a:spcAft>
                        <a:buNone/>
                      </a:pPr>
                      <a:r>
                        <a:rPr lang="en-AU" sz="900" kern="100">
                          <a:effectLst/>
                        </a:rPr>
                        <a:t>Timeline 2026</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3702672830"/>
                  </a:ext>
                </a:extLst>
              </a:tr>
              <a:tr h="170899">
                <a:tc gridSpan="3">
                  <a:txBody>
                    <a:bodyPr/>
                    <a:lstStyle/>
                    <a:p>
                      <a:pPr>
                        <a:lnSpc>
                          <a:spcPct val="107000"/>
                        </a:lnSpc>
                        <a:spcAft>
                          <a:spcPts val="800"/>
                        </a:spcAft>
                        <a:buNone/>
                      </a:pPr>
                      <a:r>
                        <a:rPr lang="en-AU" sz="900" kern="100">
                          <a:effectLst/>
                        </a:rPr>
                        <a:t>Term 1</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3399579787"/>
                  </a:ext>
                </a:extLst>
              </a:tr>
              <a:tr h="170899">
                <a:tc>
                  <a:txBody>
                    <a:bodyPr/>
                    <a:lstStyle/>
                    <a:p>
                      <a:pPr>
                        <a:lnSpc>
                          <a:spcPct val="107000"/>
                        </a:lnSpc>
                        <a:spcAft>
                          <a:spcPts val="800"/>
                        </a:spcAft>
                        <a:buNone/>
                      </a:pPr>
                      <a:r>
                        <a:rPr lang="en-AU" sz="900" kern="100">
                          <a:effectLst/>
                        </a:rPr>
                        <a:t> </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Monday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Period 5</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2327629321"/>
                  </a:ext>
                </a:extLst>
              </a:tr>
              <a:tr h="170899">
                <a:tc>
                  <a:txBody>
                    <a:bodyPr/>
                    <a:lstStyle/>
                    <a:p>
                      <a:pPr>
                        <a:lnSpc>
                          <a:spcPct val="107000"/>
                        </a:lnSpc>
                        <a:spcAft>
                          <a:spcPts val="800"/>
                        </a:spcAft>
                        <a:buNone/>
                      </a:pPr>
                      <a:r>
                        <a:rPr lang="en-AU" sz="900" kern="100">
                          <a:effectLst/>
                        </a:rPr>
                        <a:t>Wk1</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 26</a:t>
                      </a:r>
                      <a:r>
                        <a:rPr lang="en-AU" sz="900" kern="100" baseline="30000">
                          <a:effectLst/>
                        </a:rPr>
                        <a:t>th</a:t>
                      </a:r>
                      <a:r>
                        <a:rPr lang="en-AU" sz="900" kern="100">
                          <a:effectLst/>
                        </a:rPr>
                        <a:t> January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No classes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1269732289"/>
                  </a:ext>
                </a:extLst>
              </a:tr>
              <a:tr h="348245">
                <a:tc>
                  <a:txBody>
                    <a:bodyPr/>
                    <a:lstStyle/>
                    <a:p>
                      <a:pPr>
                        <a:lnSpc>
                          <a:spcPct val="107000"/>
                        </a:lnSpc>
                        <a:spcAft>
                          <a:spcPts val="800"/>
                        </a:spcAft>
                        <a:buNone/>
                      </a:pPr>
                      <a:r>
                        <a:rPr lang="en-AU" sz="900" kern="100">
                          <a:effectLst/>
                        </a:rPr>
                        <a:t>Wk2 </a:t>
                      </a:r>
                      <a:r>
                        <a:rPr lang="en-AU" sz="900" kern="100">
                          <a:effectLst/>
                          <a:highlight>
                            <a:srgbClr val="00FFFF"/>
                          </a:highlight>
                        </a:rPr>
                        <a:t>PS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2nd  February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1 Intro: Multiple Intelligences Quiz &amp; Career Personality Quiz</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422891862"/>
                  </a:ext>
                </a:extLst>
              </a:tr>
              <a:tr h="348245">
                <a:tc>
                  <a:txBody>
                    <a:bodyPr/>
                    <a:lstStyle/>
                    <a:p>
                      <a:pPr>
                        <a:lnSpc>
                          <a:spcPct val="107000"/>
                        </a:lnSpc>
                        <a:spcAft>
                          <a:spcPts val="800"/>
                        </a:spcAft>
                        <a:buNone/>
                      </a:pPr>
                      <a:r>
                        <a:rPr lang="en-AU" sz="900" kern="100">
                          <a:effectLst/>
                        </a:rPr>
                        <a:t>Wk3 </a:t>
                      </a:r>
                      <a:r>
                        <a:rPr lang="en-AU" sz="900" kern="100">
                          <a:effectLst/>
                          <a:highlight>
                            <a:srgbClr val="00FFFF"/>
                          </a:highlight>
                        </a:rPr>
                        <a:t>PS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9th February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2 -</a:t>
                      </a:r>
                      <a:r>
                        <a:rPr lang="en-AU" sz="900" kern="100">
                          <a:effectLst/>
                          <a:highlight>
                            <a:srgbClr val="C0C0C0"/>
                          </a:highlight>
                        </a:rPr>
                        <a:t>Work Experience assembly (LIB) – How to apply? </a:t>
                      </a:r>
                      <a:r>
                        <a:rPr lang="en-AU" sz="900" kern="100">
                          <a:effectLst/>
                          <a:highlight>
                            <a:srgbClr val="FFFF00"/>
                          </a:highlight>
                        </a:rPr>
                        <a:t>Followed by Career Action Plan (CAP)</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2651317545"/>
                  </a:ext>
                </a:extLst>
              </a:tr>
              <a:tr h="170899">
                <a:tc>
                  <a:txBody>
                    <a:bodyPr/>
                    <a:lstStyle/>
                    <a:p>
                      <a:pPr>
                        <a:lnSpc>
                          <a:spcPct val="107000"/>
                        </a:lnSpc>
                        <a:spcAft>
                          <a:spcPts val="800"/>
                        </a:spcAft>
                        <a:buNone/>
                      </a:pPr>
                      <a:r>
                        <a:rPr lang="en-AU" sz="900" kern="100">
                          <a:effectLst/>
                        </a:rPr>
                        <a:t>Wk4 </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16th February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3 What is work? Tweak Resume/Cover letter</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755961511"/>
                  </a:ext>
                </a:extLst>
              </a:tr>
              <a:tr h="170899">
                <a:tc>
                  <a:txBody>
                    <a:bodyPr/>
                    <a:lstStyle/>
                    <a:p>
                      <a:pPr>
                        <a:lnSpc>
                          <a:spcPct val="107000"/>
                        </a:lnSpc>
                        <a:spcAft>
                          <a:spcPts val="800"/>
                        </a:spcAft>
                        <a:buNone/>
                      </a:pPr>
                      <a:r>
                        <a:rPr lang="en-AU" sz="900" kern="100">
                          <a:effectLst/>
                        </a:rPr>
                        <a:t>Wk5</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23rd February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C0C0C0"/>
                          </a:highlight>
                        </a:rPr>
                        <a:t>Session 4 – IBM Presentation- facilitated</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1577894521"/>
                  </a:ext>
                </a:extLst>
              </a:tr>
              <a:tr h="170899">
                <a:tc>
                  <a:txBody>
                    <a:bodyPr/>
                    <a:lstStyle/>
                    <a:p>
                      <a:pPr>
                        <a:lnSpc>
                          <a:spcPct val="107000"/>
                        </a:lnSpc>
                        <a:spcAft>
                          <a:spcPts val="800"/>
                        </a:spcAft>
                        <a:buNone/>
                      </a:pPr>
                      <a:r>
                        <a:rPr lang="en-AU" sz="900" kern="100">
                          <a:effectLst/>
                        </a:rPr>
                        <a:t>Wk6 </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2nd March</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5 – Achieving success &amp; Applying for Jobs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144992039"/>
                  </a:ext>
                </a:extLst>
              </a:tr>
              <a:tr h="170899">
                <a:tc>
                  <a:txBody>
                    <a:bodyPr/>
                    <a:lstStyle/>
                    <a:p>
                      <a:pPr>
                        <a:lnSpc>
                          <a:spcPct val="107000"/>
                        </a:lnSpc>
                        <a:spcAft>
                          <a:spcPts val="800"/>
                        </a:spcAft>
                        <a:buNone/>
                      </a:pPr>
                      <a:r>
                        <a:rPr lang="en-AU" sz="900" kern="100">
                          <a:effectLst/>
                        </a:rPr>
                        <a:t>Wk7</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9th March</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Labour Day No School</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156012243"/>
                  </a:ext>
                </a:extLst>
              </a:tr>
              <a:tr h="170899">
                <a:tc>
                  <a:txBody>
                    <a:bodyPr/>
                    <a:lstStyle/>
                    <a:p>
                      <a:pPr>
                        <a:lnSpc>
                          <a:spcPct val="107000"/>
                        </a:lnSpc>
                        <a:spcAft>
                          <a:spcPts val="800"/>
                        </a:spcAft>
                        <a:buNone/>
                      </a:pPr>
                      <a:r>
                        <a:rPr lang="en-AU" sz="900" kern="100">
                          <a:effectLst/>
                        </a:rPr>
                        <a:t>Wk8 </a:t>
                      </a:r>
                      <a:r>
                        <a:rPr lang="en-AU" sz="900" kern="100">
                          <a:effectLst/>
                          <a:highlight>
                            <a:srgbClr val="00FFFF"/>
                          </a:highlight>
                        </a:rPr>
                        <a:t>PS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16th March</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C0C0C0"/>
                          </a:highlight>
                        </a:rPr>
                        <a:t>Session 6 –Elephant program presentation - facilitated</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070444687"/>
                  </a:ext>
                </a:extLst>
              </a:tr>
              <a:tr h="170899">
                <a:tc>
                  <a:txBody>
                    <a:bodyPr/>
                    <a:lstStyle/>
                    <a:p>
                      <a:pPr>
                        <a:lnSpc>
                          <a:spcPct val="107000"/>
                        </a:lnSpc>
                        <a:spcAft>
                          <a:spcPts val="800"/>
                        </a:spcAft>
                        <a:buNone/>
                      </a:pPr>
                      <a:r>
                        <a:rPr lang="en-AU" sz="900" kern="100">
                          <a:effectLst/>
                        </a:rPr>
                        <a:t>Wk9</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23rd March</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7- OH&amp;S Intro</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4263622515"/>
                  </a:ext>
                </a:extLst>
              </a:tr>
              <a:tr h="471028">
                <a:tc>
                  <a:txBody>
                    <a:bodyPr/>
                    <a:lstStyle/>
                    <a:p>
                      <a:pPr>
                        <a:lnSpc>
                          <a:spcPct val="107000"/>
                        </a:lnSpc>
                        <a:spcAft>
                          <a:spcPts val="800"/>
                        </a:spcAft>
                        <a:buNone/>
                      </a:pPr>
                      <a:r>
                        <a:rPr lang="en-AU" sz="900" kern="100">
                          <a:effectLst/>
                        </a:rPr>
                        <a:t>Wk10</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30th March</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8 – OH&amp;S General module</a:t>
                      </a:r>
                      <a:endParaRPr lang="en-AU" sz="900" kern="100">
                        <a:effectLst/>
                      </a:endParaRPr>
                    </a:p>
                    <a:p>
                      <a:pPr>
                        <a:lnSpc>
                          <a:spcPct val="107000"/>
                        </a:lnSpc>
                        <a:spcAft>
                          <a:spcPts val="800"/>
                        </a:spcAft>
                        <a:buNone/>
                      </a:pPr>
                      <a:r>
                        <a:rPr lang="en-AU" sz="900" kern="100">
                          <a:effectLst/>
                          <a:highlight>
                            <a:srgbClr val="00FF00"/>
                          </a:highlight>
                        </a:rPr>
                        <a:t>***WORK EXPERIENCE FORMS DUE</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2797834670"/>
                  </a:ext>
                </a:extLst>
              </a:tr>
              <a:tr h="170899">
                <a:tc gridSpan="3">
                  <a:txBody>
                    <a:bodyPr/>
                    <a:lstStyle/>
                    <a:p>
                      <a:pPr>
                        <a:lnSpc>
                          <a:spcPct val="107000"/>
                        </a:lnSpc>
                        <a:spcAft>
                          <a:spcPts val="800"/>
                        </a:spcAft>
                        <a:buNone/>
                      </a:pPr>
                      <a:r>
                        <a:rPr lang="en-AU" sz="900" kern="100">
                          <a:effectLst/>
                        </a:rPr>
                        <a:t>Term 2</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3644176494"/>
                  </a:ext>
                </a:extLst>
              </a:tr>
              <a:tr h="170899">
                <a:tc>
                  <a:txBody>
                    <a:bodyPr/>
                    <a:lstStyle/>
                    <a:p>
                      <a:pPr>
                        <a:lnSpc>
                          <a:spcPct val="107000"/>
                        </a:lnSpc>
                        <a:spcAft>
                          <a:spcPts val="800"/>
                        </a:spcAft>
                        <a:buNone/>
                      </a:pPr>
                      <a:r>
                        <a:rPr lang="en-AU" sz="900" kern="100">
                          <a:effectLst/>
                        </a:rPr>
                        <a:t>Wk1</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 20th April</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9 – OH&amp;S Industry module</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4163254784"/>
                  </a:ext>
                </a:extLst>
              </a:tr>
              <a:tr h="348245">
                <a:tc>
                  <a:txBody>
                    <a:bodyPr/>
                    <a:lstStyle/>
                    <a:p>
                      <a:pPr>
                        <a:lnSpc>
                          <a:spcPct val="107000"/>
                        </a:lnSpc>
                        <a:spcAft>
                          <a:spcPts val="800"/>
                        </a:spcAft>
                        <a:buNone/>
                      </a:pPr>
                      <a:r>
                        <a:rPr lang="en-AU" sz="900" kern="100">
                          <a:effectLst/>
                        </a:rPr>
                        <a:t>Wk2</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27</a:t>
                      </a:r>
                      <a:r>
                        <a:rPr lang="en-AU" sz="900" kern="100" baseline="30000">
                          <a:effectLst/>
                        </a:rPr>
                        <a:t>th</a:t>
                      </a:r>
                      <a:r>
                        <a:rPr lang="en-AU" sz="900" kern="100">
                          <a:effectLst/>
                        </a:rPr>
                        <a:t> April</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10 – OH&amp;S</a:t>
                      </a:r>
                      <a:r>
                        <a:rPr lang="en-AU" sz="900" kern="100">
                          <a:effectLst/>
                        </a:rPr>
                        <a:t> </a:t>
                      </a:r>
                      <a:r>
                        <a:rPr lang="en-AU" sz="900" kern="100">
                          <a:effectLst/>
                          <a:highlight>
                            <a:srgbClr val="FFFF00"/>
                          </a:highlight>
                        </a:rPr>
                        <a:t>Catch Up session</a:t>
                      </a:r>
                      <a:r>
                        <a:rPr lang="en-AU" sz="900" kern="100">
                          <a:effectLst/>
                        </a:rPr>
                        <a:t> – </a:t>
                      </a:r>
                      <a:r>
                        <a:rPr lang="en-AU" sz="900" kern="100">
                          <a:effectLst/>
                          <a:highlight>
                            <a:srgbClr val="FFFF00"/>
                          </a:highlight>
                        </a:rPr>
                        <a:t>UPLOAD both modules to Learning task/Compass Insights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1243265705"/>
                  </a:ext>
                </a:extLst>
              </a:tr>
              <a:tr h="170899">
                <a:tc>
                  <a:txBody>
                    <a:bodyPr/>
                    <a:lstStyle/>
                    <a:p>
                      <a:pPr>
                        <a:lnSpc>
                          <a:spcPct val="107000"/>
                        </a:lnSpc>
                        <a:spcAft>
                          <a:spcPts val="800"/>
                        </a:spcAft>
                        <a:buNone/>
                      </a:pPr>
                      <a:r>
                        <a:rPr lang="en-AU" sz="900" kern="100">
                          <a:effectLst/>
                        </a:rPr>
                        <a:t>Wk3</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4</a:t>
                      </a:r>
                      <a:r>
                        <a:rPr lang="en-AU" sz="900" kern="100" baseline="30000">
                          <a:effectLst/>
                        </a:rPr>
                        <a:t>th</a:t>
                      </a:r>
                      <a:r>
                        <a:rPr lang="en-AU" sz="900" kern="100">
                          <a:effectLst/>
                        </a:rPr>
                        <a:t> May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11 –/ Start Career Profile Investigation task</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72958305"/>
                  </a:ext>
                </a:extLst>
              </a:tr>
              <a:tr h="170899">
                <a:tc>
                  <a:txBody>
                    <a:bodyPr/>
                    <a:lstStyle/>
                    <a:p>
                      <a:pPr>
                        <a:lnSpc>
                          <a:spcPct val="107000"/>
                        </a:lnSpc>
                        <a:spcAft>
                          <a:spcPts val="800"/>
                        </a:spcAft>
                        <a:buNone/>
                      </a:pPr>
                      <a:r>
                        <a:rPr lang="en-AU" sz="900" kern="100">
                          <a:effectLst/>
                        </a:rPr>
                        <a:t>Wk4</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11</a:t>
                      </a:r>
                      <a:r>
                        <a:rPr lang="en-AU" sz="900" kern="100" baseline="30000">
                          <a:effectLst/>
                        </a:rPr>
                        <a:t>th</a:t>
                      </a:r>
                      <a:r>
                        <a:rPr lang="en-AU" sz="900" kern="100">
                          <a:effectLst/>
                        </a:rPr>
                        <a:t> May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C0C0C0"/>
                          </a:highlight>
                        </a:rPr>
                        <a:t>Session 12 - Careers Week : alumni assembly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053249631"/>
                  </a:ext>
                </a:extLst>
              </a:tr>
              <a:tr h="170899">
                <a:tc>
                  <a:txBody>
                    <a:bodyPr/>
                    <a:lstStyle/>
                    <a:p>
                      <a:pPr>
                        <a:lnSpc>
                          <a:spcPct val="107000"/>
                        </a:lnSpc>
                        <a:spcAft>
                          <a:spcPts val="800"/>
                        </a:spcAft>
                        <a:buNone/>
                      </a:pPr>
                      <a:r>
                        <a:rPr lang="en-AU" sz="900" kern="100">
                          <a:effectLst/>
                        </a:rPr>
                        <a:t>Wk5</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18</a:t>
                      </a:r>
                      <a:r>
                        <a:rPr lang="en-AU" sz="900" kern="100" baseline="30000">
                          <a:effectLst/>
                        </a:rPr>
                        <a:t>th</a:t>
                      </a:r>
                      <a:r>
                        <a:rPr lang="en-AU" sz="900" kern="100">
                          <a:effectLst/>
                        </a:rPr>
                        <a:t> May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13 -  Career Profile Investigation task</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1109952859"/>
                  </a:ext>
                </a:extLst>
              </a:tr>
              <a:tr h="348245">
                <a:tc>
                  <a:txBody>
                    <a:bodyPr/>
                    <a:lstStyle/>
                    <a:p>
                      <a:pPr>
                        <a:lnSpc>
                          <a:spcPct val="107000"/>
                        </a:lnSpc>
                        <a:spcAft>
                          <a:spcPts val="800"/>
                        </a:spcAft>
                        <a:buNone/>
                      </a:pPr>
                      <a:r>
                        <a:rPr lang="en-AU" sz="900" kern="100">
                          <a:effectLst/>
                        </a:rPr>
                        <a:t>Wk6</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25</a:t>
                      </a:r>
                      <a:r>
                        <a:rPr lang="en-AU" sz="900" kern="100" baseline="30000">
                          <a:effectLst/>
                        </a:rPr>
                        <a:t>th</a:t>
                      </a:r>
                      <a:r>
                        <a:rPr lang="en-AU" sz="900" kern="100">
                          <a:effectLst/>
                        </a:rPr>
                        <a:t> May</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14 – Career Profile Investigation/ Course search/Tertiary Investigation</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2134181333"/>
                  </a:ext>
                </a:extLst>
              </a:tr>
              <a:tr h="170899">
                <a:tc>
                  <a:txBody>
                    <a:bodyPr/>
                    <a:lstStyle/>
                    <a:p>
                      <a:pPr>
                        <a:lnSpc>
                          <a:spcPct val="107000"/>
                        </a:lnSpc>
                        <a:spcAft>
                          <a:spcPts val="800"/>
                        </a:spcAft>
                        <a:buNone/>
                      </a:pPr>
                      <a:r>
                        <a:rPr lang="en-AU" sz="900" kern="100">
                          <a:effectLst/>
                        </a:rPr>
                        <a:t>Wk7</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1st June</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Year 10 Exams – No classes</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956471225"/>
                  </a:ext>
                </a:extLst>
              </a:tr>
              <a:tr h="170899">
                <a:tc>
                  <a:txBody>
                    <a:bodyPr/>
                    <a:lstStyle/>
                    <a:p>
                      <a:pPr>
                        <a:lnSpc>
                          <a:spcPct val="107000"/>
                        </a:lnSpc>
                        <a:spcAft>
                          <a:spcPts val="800"/>
                        </a:spcAft>
                        <a:buNone/>
                      </a:pPr>
                      <a:r>
                        <a:rPr lang="en-AU" sz="900" kern="100">
                          <a:effectLst/>
                        </a:rPr>
                        <a:t>Wk8</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8</a:t>
                      </a:r>
                      <a:r>
                        <a:rPr lang="en-AU" sz="900" kern="100" baseline="30000">
                          <a:effectLst/>
                        </a:rPr>
                        <a:t>th</a:t>
                      </a:r>
                      <a:r>
                        <a:rPr lang="en-AU" sz="900" kern="100">
                          <a:effectLst/>
                        </a:rPr>
                        <a:t> June </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Kings Birthday – No School</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4218033285"/>
                  </a:ext>
                </a:extLst>
              </a:tr>
              <a:tr h="348245">
                <a:tc>
                  <a:txBody>
                    <a:bodyPr/>
                    <a:lstStyle/>
                    <a:p>
                      <a:pPr>
                        <a:lnSpc>
                          <a:spcPct val="107000"/>
                        </a:lnSpc>
                        <a:spcAft>
                          <a:spcPts val="800"/>
                        </a:spcAft>
                        <a:buNone/>
                      </a:pPr>
                      <a:r>
                        <a:rPr lang="en-AU" sz="900" kern="100">
                          <a:effectLst/>
                        </a:rPr>
                        <a:t>Wk9</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15</a:t>
                      </a:r>
                      <a:r>
                        <a:rPr lang="en-AU" sz="900" kern="100" baseline="30000">
                          <a:effectLst/>
                        </a:rPr>
                        <a:t>th</a:t>
                      </a:r>
                      <a:r>
                        <a:rPr lang="en-AU" sz="900" kern="100">
                          <a:effectLst/>
                        </a:rPr>
                        <a:t> June</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highlight>
                            <a:srgbClr val="FFFF00"/>
                          </a:highlight>
                        </a:rPr>
                        <a:t>Session 15 – Prerequisites/Subject selection prep/Work experience booklets distributed</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1329888871"/>
                  </a:ext>
                </a:extLst>
              </a:tr>
              <a:tr h="170899">
                <a:tc>
                  <a:txBody>
                    <a:bodyPr/>
                    <a:lstStyle/>
                    <a:p>
                      <a:pPr>
                        <a:lnSpc>
                          <a:spcPct val="107000"/>
                        </a:lnSpc>
                        <a:spcAft>
                          <a:spcPts val="800"/>
                        </a:spcAft>
                        <a:buNone/>
                      </a:pPr>
                      <a:r>
                        <a:rPr lang="en-AU" sz="900" kern="100">
                          <a:effectLst/>
                        </a:rPr>
                        <a:t>Wk10</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a:effectLst/>
                        </a:rPr>
                        <a:t>22nd June</a:t>
                      </a:r>
                      <a:endParaRPr lang="en-AU" sz="900" kern="10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tc>
                  <a:txBody>
                    <a:bodyPr/>
                    <a:lstStyle/>
                    <a:p>
                      <a:pPr>
                        <a:lnSpc>
                          <a:spcPct val="107000"/>
                        </a:lnSpc>
                        <a:spcAft>
                          <a:spcPts val="800"/>
                        </a:spcAft>
                        <a:buNone/>
                      </a:pPr>
                      <a:r>
                        <a:rPr lang="en-AU" sz="900" kern="100" dirty="0">
                          <a:effectLst/>
                        </a:rPr>
                        <a:t>WORK EXPERIENCE</a:t>
                      </a:r>
                      <a:endParaRPr lang="en-AU" sz="900" kern="100" dirty="0">
                        <a:effectLst/>
                        <a:latin typeface="Aptos" panose="020B0004020202020204" pitchFamily="34" charset="0"/>
                        <a:ea typeface="Aptos" panose="020B0004020202020204" pitchFamily="34" charset="0"/>
                        <a:cs typeface="Times New Roman" panose="02020603050405020304" pitchFamily="18" charset="0"/>
                      </a:endParaRPr>
                    </a:p>
                  </a:txBody>
                  <a:tcPr marL="55931" marR="55931" marT="0" marB="0"/>
                </a:tc>
                <a:extLst>
                  <a:ext uri="{0D108BD9-81ED-4DB2-BD59-A6C34878D82A}">
                    <a16:rowId xmlns:a16="http://schemas.microsoft.com/office/drawing/2014/main" val="312894879"/>
                  </a:ext>
                </a:extLst>
              </a:tr>
            </a:tbl>
          </a:graphicData>
        </a:graphic>
      </p:graphicFrame>
      <p:sp>
        <p:nvSpPr>
          <p:cNvPr id="6" name="Rectangle 1">
            <a:extLst>
              <a:ext uri="{FF2B5EF4-FFF2-40B4-BE49-F238E27FC236}">
                <a16:creationId xmlns:a16="http://schemas.microsoft.com/office/drawing/2014/main" id="{A16C8B0F-7D87-DF5D-4754-BBDDFB5434D6}"/>
              </a:ext>
            </a:extLst>
          </p:cNvPr>
          <p:cNvSpPr>
            <a:spLocks noChangeArrowheads="1"/>
          </p:cNvSpPr>
          <p:nvPr/>
        </p:nvSpPr>
        <p:spPr bwMode="auto">
          <a:xfrm>
            <a:off x="1148288" y="-713072"/>
            <a:ext cx="13643202"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876425" algn="l"/>
              </a:tabLst>
              <a:defRPr>
                <a:solidFill>
                  <a:schemeClr val="tx1"/>
                </a:solidFill>
                <a:latin typeface="Arial" panose="020B0604020202020204" pitchFamily="34" charset="0"/>
              </a:defRPr>
            </a:lvl1pPr>
            <a:lvl2pPr eaLnBrk="0" fontAlgn="base" hangingPunct="0">
              <a:spcBef>
                <a:spcPct val="0"/>
              </a:spcBef>
              <a:spcAft>
                <a:spcPct val="0"/>
              </a:spcAft>
              <a:tabLst>
                <a:tab pos="1876425" algn="l"/>
              </a:tabLst>
              <a:defRPr>
                <a:solidFill>
                  <a:schemeClr val="tx1"/>
                </a:solidFill>
                <a:latin typeface="Arial" panose="020B0604020202020204" pitchFamily="34" charset="0"/>
              </a:defRPr>
            </a:lvl2pPr>
            <a:lvl3pPr eaLnBrk="0" fontAlgn="base" hangingPunct="0">
              <a:spcBef>
                <a:spcPct val="0"/>
              </a:spcBef>
              <a:spcAft>
                <a:spcPct val="0"/>
              </a:spcAft>
              <a:tabLst>
                <a:tab pos="1876425" algn="l"/>
              </a:tabLst>
              <a:defRPr>
                <a:solidFill>
                  <a:schemeClr val="tx1"/>
                </a:solidFill>
                <a:latin typeface="Arial" panose="020B0604020202020204" pitchFamily="34" charset="0"/>
              </a:defRPr>
            </a:lvl3pPr>
            <a:lvl4pPr eaLnBrk="0" fontAlgn="base" hangingPunct="0">
              <a:spcBef>
                <a:spcPct val="0"/>
              </a:spcBef>
              <a:spcAft>
                <a:spcPct val="0"/>
              </a:spcAft>
              <a:tabLst>
                <a:tab pos="1876425" algn="l"/>
              </a:tabLst>
              <a:defRPr>
                <a:solidFill>
                  <a:schemeClr val="tx1"/>
                </a:solidFill>
                <a:latin typeface="Arial" panose="020B0604020202020204" pitchFamily="34" charset="0"/>
              </a:defRPr>
            </a:lvl4pPr>
            <a:lvl5pPr eaLnBrk="0" fontAlgn="base" hangingPunct="0">
              <a:spcBef>
                <a:spcPct val="0"/>
              </a:spcBef>
              <a:spcAft>
                <a:spcPct val="0"/>
              </a:spcAft>
              <a:tabLst>
                <a:tab pos="1876425" algn="l"/>
              </a:tabLst>
              <a:defRPr>
                <a:solidFill>
                  <a:schemeClr val="tx1"/>
                </a:solidFill>
                <a:latin typeface="Arial" panose="020B0604020202020204" pitchFamily="34" charset="0"/>
              </a:defRPr>
            </a:lvl5pPr>
            <a:lvl6pPr eaLnBrk="0" fontAlgn="base" hangingPunct="0">
              <a:spcBef>
                <a:spcPct val="0"/>
              </a:spcBef>
              <a:spcAft>
                <a:spcPct val="0"/>
              </a:spcAft>
              <a:tabLst>
                <a:tab pos="1876425" algn="l"/>
              </a:tabLst>
              <a:defRPr>
                <a:solidFill>
                  <a:schemeClr val="tx1"/>
                </a:solidFill>
                <a:latin typeface="Arial" panose="020B0604020202020204" pitchFamily="34" charset="0"/>
              </a:defRPr>
            </a:lvl6pPr>
            <a:lvl7pPr eaLnBrk="0" fontAlgn="base" hangingPunct="0">
              <a:spcBef>
                <a:spcPct val="0"/>
              </a:spcBef>
              <a:spcAft>
                <a:spcPct val="0"/>
              </a:spcAft>
              <a:tabLst>
                <a:tab pos="1876425" algn="l"/>
              </a:tabLst>
              <a:defRPr>
                <a:solidFill>
                  <a:schemeClr val="tx1"/>
                </a:solidFill>
                <a:latin typeface="Arial" panose="020B0604020202020204" pitchFamily="34" charset="0"/>
              </a:defRPr>
            </a:lvl7pPr>
            <a:lvl8pPr eaLnBrk="0" fontAlgn="base" hangingPunct="0">
              <a:spcBef>
                <a:spcPct val="0"/>
              </a:spcBef>
              <a:spcAft>
                <a:spcPct val="0"/>
              </a:spcAft>
              <a:tabLst>
                <a:tab pos="1876425" algn="l"/>
              </a:tabLst>
              <a:defRPr>
                <a:solidFill>
                  <a:schemeClr val="tx1"/>
                </a:solidFill>
                <a:latin typeface="Arial" panose="020B0604020202020204" pitchFamily="34" charset="0"/>
              </a:defRPr>
            </a:lvl8pPr>
            <a:lvl9pPr eaLnBrk="0" fontAlgn="base" hangingPunct="0">
              <a:spcBef>
                <a:spcPct val="0"/>
              </a:spcBef>
              <a:spcAft>
                <a:spcPct val="0"/>
              </a:spcAft>
              <a:tabLst>
                <a:tab pos="18764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876425" algn="l"/>
              </a:tabLst>
            </a:pPr>
            <a:r>
              <a:rPr kumimoji="0" lang="en-AU" altLang="en-US" sz="1600" b="1" i="0" u="sng"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Year 10  Work Education Timeline</a:t>
            </a:r>
            <a:endParaRPr kumimoji="0" lang="en-AU"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876425" algn="l"/>
              </a:tabLst>
            </a:pPr>
            <a:r>
              <a:rPr kumimoji="0" lang="en-AU" altLang="en-US" sz="1100" b="1" i="0" u="sng"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PS = Peer support- 24 Yr 10 students are involved and missing from your class</a:t>
            </a:r>
            <a:endParaRPr kumimoji="0" lang="en-AU"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1876425" algn="l"/>
              </a:tabLst>
            </a:pPr>
            <a:endParaRPr kumimoji="0" lang="en-AU"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4265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960EBB9-7D31-C5ED-A3AF-DD326AE2627E}"/>
              </a:ext>
            </a:extLst>
          </p:cNvPr>
          <p:cNvGraphicFramePr>
            <a:graphicFrameLocks noGrp="1"/>
          </p:cNvGraphicFramePr>
          <p:nvPr>
            <p:extLst>
              <p:ext uri="{D42A27DB-BD31-4B8C-83A1-F6EECF244321}">
                <p14:modId xmlns:p14="http://schemas.microsoft.com/office/powerpoint/2010/main" val="752287405"/>
              </p:ext>
            </p:extLst>
          </p:nvPr>
        </p:nvGraphicFramePr>
        <p:xfrm>
          <a:off x="750499" y="698740"/>
          <a:ext cx="10914759" cy="5293686"/>
        </p:xfrm>
        <a:graphic>
          <a:graphicData uri="http://schemas.openxmlformats.org/drawingml/2006/table">
            <a:tbl>
              <a:tblPr firstRow="1" firstCol="1" bandRow="1">
                <a:tableStyleId>{5C22544A-7EE6-4342-B048-85BDC9FD1C3A}</a:tableStyleId>
              </a:tblPr>
              <a:tblGrid>
                <a:gridCol w="3606647">
                  <a:extLst>
                    <a:ext uri="{9D8B030D-6E8A-4147-A177-3AD203B41FA5}">
                      <a16:colId xmlns:a16="http://schemas.microsoft.com/office/drawing/2014/main" val="3219099521"/>
                    </a:ext>
                  </a:extLst>
                </a:gridCol>
                <a:gridCol w="3606647">
                  <a:extLst>
                    <a:ext uri="{9D8B030D-6E8A-4147-A177-3AD203B41FA5}">
                      <a16:colId xmlns:a16="http://schemas.microsoft.com/office/drawing/2014/main" val="3379183489"/>
                    </a:ext>
                  </a:extLst>
                </a:gridCol>
                <a:gridCol w="3701465">
                  <a:extLst>
                    <a:ext uri="{9D8B030D-6E8A-4147-A177-3AD203B41FA5}">
                      <a16:colId xmlns:a16="http://schemas.microsoft.com/office/drawing/2014/main" val="3504970066"/>
                    </a:ext>
                  </a:extLst>
                </a:gridCol>
              </a:tblGrid>
              <a:tr h="394299">
                <a:tc>
                  <a:txBody>
                    <a:bodyPr/>
                    <a:lstStyle/>
                    <a:p>
                      <a:pPr>
                        <a:lnSpc>
                          <a:spcPct val="107000"/>
                        </a:lnSpc>
                        <a:spcAft>
                          <a:spcPts val="800"/>
                        </a:spcAft>
                      </a:pPr>
                      <a:r>
                        <a:rPr lang="en-AU" sz="2100" dirty="0">
                          <a:effectLst/>
                        </a:rPr>
                        <a:t>TASK</a:t>
                      </a:r>
                      <a:endParaRPr lang="en-AU"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457200">
                        <a:lnSpc>
                          <a:spcPct val="107000"/>
                        </a:lnSpc>
                      </a:pPr>
                      <a:r>
                        <a:rPr lang="en-AU" sz="2100">
                          <a:effectLst/>
                        </a:rPr>
                        <a:t>OUTLINE</a:t>
                      </a:r>
                      <a:endParaRPr lang="en-AU" sz="210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457200">
                        <a:lnSpc>
                          <a:spcPct val="107000"/>
                        </a:lnSpc>
                        <a:spcAft>
                          <a:spcPts val="800"/>
                        </a:spcAft>
                      </a:pPr>
                      <a:r>
                        <a:rPr lang="en-AU" sz="2100">
                          <a:effectLst/>
                        </a:rPr>
                        <a:t>DATE</a:t>
                      </a:r>
                      <a:endParaRPr lang="en-AU" sz="210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extLst>
                  <a:ext uri="{0D108BD9-81ED-4DB2-BD59-A6C34878D82A}">
                    <a16:rowId xmlns:a16="http://schemas.microsoft.com/office/drawing/2014/main" val="1193116587"/>
                  </a:ext>
                </a:extLst>
              </a:tr>
              <a:tr h="929668">
                <a:tc>
                  <a:txBody>
                    <a:bodyPr/>
                    <a:lstStyle/>
                    <a:p>
                      <a:pPr>
                        <a:lnSpc>
                          <a:spcPct val="107000"/>
                        </a:lnSpc>
                        <a:spcAft>
                          <a:spcPts val="800"/>
                        </a:spcAft>
                      </a:pPr>
                      <a:r>
                        <a:rPr lang="en-AU" sz="2100" dirty="0">
                          <a:effectLst/>
                        </a:rPr>
                        <a:t>CAREER ACTION PLAN</a:t>
                      </a:r>
                    </a:p>
                    <a:p>
                      <a:pPr>
                        <a:lnSpc>
                          <a:spcPct val="107000"/>
                        </a:lnSpc>
                        <a:spcAft>
                          <a:spcPts val="800"/>
                        </a:spcAft>
                      </a:pPr>
                      <a:r>
                        <a:rPr lang="en-AU" sz="2100" dirty="0">
                          <a:effectLst/>
                        </a:rPr>
                        <a:t> </a:t>
                      </a:r>
                      <a:endParaRPr lang="en-AU"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buFont typeface="Symbol" panose="05050102010706020507" pitchFamily="18" charset="2"/>
                        <a:buChar char=""/>
                      </a:pPr>
                      <a:r>
                        <a:rPr lang="en-AU" sz="2100" b="1" u="sng" dirty="0">
                          <a:effectLst/>
                        </a:rPr>
                        <a:t>Learning task 1</a:t>
                      </a:r>
                      <a:endParaRPr lang="en-AU" sz="21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buFont typeface="Symbol" panose="05050102010706020507" pitchFamily="18" charset="2"/>
                        <a:buChar char=""/>
                      </a:pPr>
                      <a:r>
                        <a:rPr lang="en-AU" sz="2100" b="1" u="sng" dirty="0">
                          <a:effectLst/>
                        </a:rPr>
                        <a:t> 16th February</a:t>
                      </a:r>
                    </a:p>
                    <a:p>
                      <a:pPr marL="457200">
                        <a:lnSpc>
                          <a:spcPct val="107000"/>
                        </a:lnSpc>
                        <a:spcAft>
                          <a:spcPts val="800"/>
                        </a:spcAft>
                      </a:pPr>
                      <a:r>
                        <a:rPr lang="en-AU" sz="2100" b="1" u="sng" dirty="0">
                          <a:effectLst/>
                        </a:rPr>
                        <a:t> </a:t>
                      </a:r>
                      <a:endParaRPr lang="en-AU" sz="21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extLst>
                  <a:ext uri="{0D108BD9-81ED-4DB2-BD59-A6C34878D82A}">
                    <a16:rowId xmlns:a16="http://schemas.microsoft.com/office/drawing/2014/main" val="3240858421"/>
                  </a:ext>
                </a:extLst>
              </a:tr>
              <a:tr h="1419667">
                <a:tc>
                  <a:txBody>
                    <a:bodyPr/>
                    <a:lstStyle/>
                    <a:p>
                      <a:pPr>
                        <a:lnSpc>
                          <a:spcPct val="107000"/>
                        </a:lnSpc>
                        <a:spcAft>
                          <a:spcPts val="800"/>
                        </a:spcAft>
                      </a:pPr>
                      <a:r>
                        <a:rPr lang="en-AU" sz="2100">
                          <a:effectLst/>
                        </a:rPr>
                        <a:t>WORK EXPERIECE form </a:t>
                      </a:r>
                      <a:endParaRPr lang="en-AU" sz="210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buFont typeface="Symbol" panose="05050102010706020507" pitchFamily="18" charset="2"/>
                        <a:buChar char=""/>
                      </a:pPr>
                      <a:r>
                        <a:rPr lang="en-AU" sz="2100" dirty="0">
                          <a:effectLst/>
                        </a:rPr>
                        <a:t>Organised and Signed (both Employer and student /parent) and submitted</a:t>
                      </a:r>
                    </a:p>
                  </a:txBody>
                  <a:tcPr marL="129508" marR="129508" marT="0" marB="0"/>
                </a:tc>
                <a:tc>
                  <a:txBody>
                    <a:bodyPr/>
                    <a:lstStyle/>
                    <a:p>
                      <a:pPr marL="342900" lvl="0" indent="-342900">
                        <a:lnSpc>
                          <a:spcPct val="107000"/>
                        </a:lnSpc>
                        <a:spcAft>
                          <a:spcPts val="800"/>
                        </a:spcAft>
                        <a:buFont typeface="Symbol" panose="05050102010706020507" pitchFamily="18" charset="2"/>
                        <a:buChar char=""/>
                      </a:pPr>
                      <a:r>
                        <a:rPr lang="en-AU" sz="2100" dirty="0">
                          <a:effectLst/>
                        </a:rPr>
                        <a:t> </a:t>
                      </a:r>
                      <a:r>
                        <a:rPr lang="en-AU" sz="2100" b="1" u="sng" dirty="0">
                          <a:effectLst/>
                        </a:rPr>
                        <a:t>30</a:t>
                      </a:r>
                      <a:r>
                        <a:rPr lang="en-AU" sz="2100" b="1" u="sng" baseline="30000" dirty="0">
                          <a:effectLst/>
                        </a:rPr>
                        <a:t>th</a:t>
                      </a:r>
                      <a:r>
                        <a:rPr lang="en-AU" sz="2100" b="1" u="sng" dirty="0">
                          <a:effectLst/>
                        </a:rPr>
                        <a:t> March</a:t>
                      </a:r>
                      <a:endParaRPr lang="en-AU" sz="21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extLst>
                  <a:ext uri="{0D108BD9-81ED-4DB2-BD59-A6C34878D82A}">
                    <a16:rowId xmlns:a16="http://schemas.microsoft.com/office/drawing/2014/main" val="1599540920"/>
                  </a:ext>
                </a:extLst>
              </a:tr>
              <a:tr h="1077878">
                <a:tc>
                  <a:txBody>
                    <a:bodyPr/>
                    <a:lstStyle/>
                    <a:p>
                      <a:pPr>
                        <a:lnSpc>
                          <a:spcPct val="107000"/>
                        </a:lnSpc>
                        <a:spcAft>
                          <a:spcPts val="800"/>
                        </a:spcAft>
                      </a:pPr>
                      <a:r>
                        <a:rPr lang="en-AU" sz="2100">
                          <a:effectLst/>
                        </a:rPr>
                        <a:t>WORK EXPERIENCE DATES</a:t>
                      </a:r>
                      <a:endParaRPr lang="en-AU" sz="210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buFont typeface="Symbol" panose="05050102010706020507" pitchFamily="18" charset="2"/>
                        <a:buChar char=""/>
                      </a:pPr>
                      <a:r>
                        <a:rPr lang="en-AU" sz="2100" dirty="0">
                          <a:effectLst/>
                        </a:rPr>
                        <a:t>All students will be participating in Work Experience – NO CLASSES</a:t>
                      </a:r>
                      <a:endParaRPr lang="en-AU"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457200">
                        <a:lnSpc>
                          <a:spcPct val="107000"/>
                        </a:lnSpc>
                      </a:pPr>
                      <a:r>
                        <a:rPr lang="en-AU" sz="2100" dirty="0">
                          <a:effectLst/>
                        </a:rPr>
                        <a:t> </a:t>
                      </a:r>
                    </a:p>
                    <a:p>
                      <a:pPr marL="342900" lvl="0" indent="-342900">
                        <a:lnSpc>
                          <a:spcPct val="107000"/>
                        </a:lnSpc>
                        <a:spcAft>
                          <a:spcPts val="800"/>
                        </a:spcAft>
                        <a:buFont typeface="Arial" panose="020B0604020202020204" pitchFamily="34" charset="0"/>
                        <a:buChar char="•"/>
                      </a:pPr>
                      <a:r>
                        <a:rPr lang="en-AU" sz="2100" dirty="0">
                          <a:effectLst/>
                        </a:rPr>
                        <a:t> </a:t>
                      </a:r>
                      <a:r>
                        <a:rPr lang="en-AU" sz="2100" b="1" u="sng" dirty="0">
                          <a:effectLst/>
                        </a:rPr>
                        <a:t>22nd to the 26</a:t>
                      </a:r>
                      <a:r>
                        <a:rPr lang="en-AU" sz="2100" b="1" u="sng" baseline="30000" dirty="0">
                          <a:effectLst/>
                        </a:rPr>
                        <a:t>th </a:t>
                      </a:r>
                      <a:r>
                        <a:rPr lang="en-AU" sz="2100" b="1" u="sng" dirty="0">
                          <a:effectLst/>
                        </a:rPr>
                        <a:t>of June</a:t>
                      </a:r>
                      <a:endParaRPr lang="en-AU" sz="21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extLst>
                  <a:ext uri="{0D108BD9-81ED-4DB2-BD59-A6C34878D82A}">
                    <a16:rowId xmlns:a16="http://schemas.microsoft.com/office/drawing/2014/main" val="1459312517"/>
                  </a:ext>
                </a:extLst>
              </a:tr>
              <a:tr h="736087">
                <a:tc>
                  <a:txBody>
                    <a:bodyPr/>
                    <a:lstStyle/>
                    <a:p>
                      <a:pPr>
                        <a:lnSpc>
                          <a:spcPct val="107000"/>
                        </a:lnSpc>
                        <a:spcAft>
                          <a:spcPts val="800"/>
                        </a:spcAft>
                      </a:pPr>
                      <a:r>
                        <a:rPr lang="en-AU" sz="2100">
                          <a:effectLst/>
                        </a:rPr>
                        <a:t>GENERAL MODULE (OH&amp;S)</a:t>
                      </a:r>
                      <a:endParaRPr lang="en-AU" sz="210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buFont typeface="Symbol" panose="05050102010706020507" pitchFamily="18" charset="2"/>
                        <a:buChar char=""/>
                      </a:pPr>
                      <a:r>
                        <a:rPr lang="en-AU" sz="2100" b="1" u="sng" dirty="0">
                          <a:effectLst/>
                        </a:rPr>
                        <a:t>Learning task 2A</a:t>
                      </a:r>
                    </a:p>
                    <a:p>
                      <a:pPr marL="342900" lvl="0" indent="-342900">
                        <a:lnSpc>
                          <a:spcPct val="107000"/>
                        </a:lnSpc>
                        <a:buFont typeface="Symbol" panose="05050102010706020507" pitchFamily="18" charset="2"/>
                        <a:buChar char=""/>
                      </a:pPr>
                      <a:r>
                        <a:rPr lang="en-AU" sz="2100" dirty="0">
                          <a:effectLst/>
                        </a:rPr>
                        <a:t>Complete and Upload</a:t>
                      </a:r>
                      <a:endParaRPr lang="en-AU"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spcAft>
                          <a:spcPts val="800"/>
                        </a:spcAft>
                        <a:buFont typeface="Symbol" panose="05050102010706020507" pitchFamily="18" charset="2"/>
                        <a:buChar char=""/>
                      </a:pPr>
                      <a:r>
                        <a:rPr lang="en-AU" sz="2100" b="1" u="sng" dirty="0">
                          <a:effectLst/>
                          <a:latin typeface="Calibri" panose="020F0502020204030204" pitchFamily="34" charset="0"/>
                          <a:ea typeface="Calibri" panose="020F0502020204030204" pitchFamily="34" charset="0"/>
                          <a:cs typeface="Times New Roman" panose="02020603050405020304" pitchFamily="18" charset="0"/>
                        </a:rPr>
                        <a:t>30</a:t>
                      </a:r>
                      <a:r>
                        <a:rPr lang="en-AU" sz="2100" b="1" u="sng"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AU" sz="2100" b="1" u="sng" dirty="0">
                          <a:effectLst/>
                          <a:latin typeface="Calibri" panose="020F0502020204030204" pitchFamily="34" charset="0"/>
                          <a:ea typeface="Calibri" panose="020F0502020204030204" pitchFamily="34" charset="0"/>
                          <a:cs typeface="Times New Roman" panose="02020603050405020304" pitchFamily="18" charset="0"/>
                        </a:rPr>
                        <a:t> March</a:t>
                      </a:r>
                    </a:p>
                  </a:txBody>
                  <a:tcPr marL="129508" marR="129508" marT="0" marB="0"/>
                </a:tc>
                <a:extLst>
                  <a:ext uri="{0D108BD9-81ED-4DB2-BD59-A6C34878D82A}">
                    <a16:rowId xmlns:a16="http://schemas.microsoft.com/office/drawing/2014/main" val="3239022474"/>
                  </a:ext>
                </a:extLst>
              </a:tr>
              <a:tr h="736087">
                <a:tc>
                  <a:txBody>
                    <a:bodyPr/>
                    <a:lstStyle/>
                    <a:p>
                      <a:pPr>
                        <a:lnSpc>
                          <a:spcPct val="107000"/>
                        </a:lnSpc>
                        <a:spcAft>
                          <a:spcPts val="800"/>
                        </a:spcAft>
                      </a:pPr>
                      <a:r>
                        <a:rPr lang="en-AU" sz="2100">
                          <a:effectLst/>
                        </a:rPr>
                        <a:t>INDUSTRY MODULE (OH&amp;S)</a:t>
                      </a:r>
                      <a:endParaRPr lang="en-AU" sz="210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buFont typeface="Symbol" panose="05050102010706020507" pitchFamily="18" charset="2"/>
                        <a:buChar char=""/>
                      </a:pPr>
                      <a:r>
                        <a:rPr lang="en-AU" sz="2100" b="1" u="sng" dirty="0">
                          <a:effectLst/>
                        </a:rPr>
                        <a:t>Learning Task 2B</a:t>
                      </a:r>
                    </a:p>
                    <a:p>
                      <a:pPr marL="342900" lvl="0" indent="-342900">
                        <a:lnSpc>
                          <a:spcPct val="107000"/>
                        </a:lnSpc>
                        <a:buFont typeface="Symbol" panose="05050102010706020507" pitchFamily="18" charset="2"/>
                        <a:buChar char=""/>
                      </a:pPr>
                      <a:r>
                        <a:rPr lang="en-AU" sz="2100" dirty="0">
                          <a:effectLst/>
                        </a:rPr>
                        <a:t>Complete and Upload</a:t>
                      </a:r>
                      <a:endParaRPr lang="en-AU" sz="2100"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tc>
                  <a:txBody>
                    <a:bodyPr/>
                    <a:lstStyle/>
                    <a:p>
                      <a:pPr marL="342900" lvl="0" indent="-342900">
                        <a:lnSpc>
                          <a:spcPct val="107000"/>
                        </a:lnSpc>
                        <a:spcAft>
                          <a:spcPts val="800"/>
                        </a:spcAft>
                        <a:buFont typeface="Symbol" panose="05050102010706020507" pitchFamily="18" charset="2"/>
                        <a:buChar char=""/>
                      </a:pPr>
                      <a:r>
                        <a:rPr lang="en-AU" sz="2100" b="1" u="sng" dirty="0">
                          <a:effectLst/>
                        </a:rPr>
                        <a:t> 27</a:t>
                      </a:r>
                      <a:r>
                        <a:rPr lang="en-AU" sz="2100" b="1" u="sng" baseline="30000" dirty="0">
                          <a:effectLst/>
                        </a:rPr>
                        <a:t>th</a:t>
                      </a:r>
                      <a:r>
                        <a:rPr lang="en-AU" sz="2100" b="1" u="sng" dirty="0">
                          <a:effectLst/>
                        </a:rPr>
                        <a:t> April</a:t>
                      </a:r>
                      <a:endParaRPr lang="en-AU" sz="21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129508" marR="129508" marT="0" marB="0"/>
                </a:tc>
                <a:extLst>
                  <a:ext uri="{0D108BD9-81ED-4DB2-BD59-A6C34878D82A}">
                    <a16:rowId xmlns:a16="http://schemas.microsoft.com/office/drawing/2014/main" val="3738419714"/>
                  </a:ext>
                </a:extLst>
              </a:tr>
            </a:tbl>
          </a:graphicData>
        </a:graphic>
      </p:graphicFrame>
    </p:spTree>
    <p:extLst>
      <p:ext uri="{BB962C8B-B14F-4D97-AF65-F5344CB8AC3E}">
        <p14:creationId xmlns:p14="http://schemas.microsoft.com/office/powerpoint/2010/main" val="2608422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581FDB-AD4F-14FD-C208-6A4A24B49AE7}"/>
              </a:ext>
            </a:extLst>
          </p:cNvPr>
          <p:cNvPicPr>
            <a:picLocks noChangeAspect="1"/>
          </p:cNvPicPr>
          <p:nvPr/>
        </p:nvPicPr>
        <p:blipFill>
          <a:blip r:embed="rId2"/>
          <a:stretch>
            <a:fillRect/>
          </a:stretch>
        </p:blipFill>
        <p:spPr>
          <a:xfrm>
            <a:off x="1673524" y="508958"/>
            <a:ext cx="8091577" cy="5830267"/>
          </a:xfrm>
          <a:prstGeom prst="rect">
            <a:avLst/>
          </a:prstGeom>
        </p:spPr>
      </p:pic>
    </p:spTree>
    <p:extLst>
      <p:ext uri="{BB962C8B-B14F-4D97-AF65-F5344CB8AC3E}">
        <p14:creationId xmlns:p14="http://schemas.microsoft.com/office/powerpoint/2010/main" val="4033673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19" name="Rectangle 1118">
            <a:extLst>
              <a:ext uri="{FF2B5EF4-FFF2-40B4-BE49-F238E27FC236}">
                <a16:creationId xmlns:a16="http://schemas.microsoft.com/office/drawing/2014/main" id="{959C6B72-F8E6-4281-8F3E-93FC0DC98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105D62-C828-EA33-C0AC-8C5B65314745}"/>
              </a:ext>
            </a:extLst>
          </p:cNvPr>
          <p:cNvSpPr>
            <a:spLocks noGrp="1"/>
          </p:cNvSpPr>
          <p:nvPr>
            <p:ph type="title"/>
          </p:nvPr>
        </p:nvSpPr>
        <p:spPr>
          <a:xfrm>
            <a:off x="612648" y="365125"/>
            <a:ext cx="5295015" cy="2063808"/>
          </a:xfrm>
        </p:spPr>
        <p:txBody>
          <a:bodyPr vert="horz" lIns="91440" tIns="45720" rIns="91440" bIns="45720" rtlCol="0" anchor="b">
            <a:normAutofit/>
          </a:bodyPr>
          <a:lstStyle/>
          <a:p>
            <a:r>
              <a:rPr lang="en-US" sz="5400"/>
              <a:t>Career Tools</a:t>
            </a:r>
          </a:p>
        </p:txBody>
      </p:sp>
      <p:sp>
        <p:nvSpPr>
          <p:cNvPr id="1121" name="sketch line">
            <a:extLst>
              <a:ext uri="{FF2B5EF4-FFF2-40B4-BE49-F238E27FC236}">
                <a16:creationId xmlns:a16="http://schemas.microsoft.com/office/drawing/2014/main" id="{490234EE-E0D8-4805-9227-CCEAC6016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2650181"/>
            <a:ext cx="4343400" cy="18288"/>
          </a:xfrm>
          <a:custGeom>
            <a:avLst/>
            <a:gdLst>
              <a:gd name="csX0" fmla="*/ 0 w 4343400"/>
              <a:gd name="csY0" fmla="*/ 0 h 18288"/>
              <a:gd name="csX1" fmla="*/ 577052 w 4343400"/>
              <a:gd name="csY1" fmla="*/ 0 h 18288"/>
              <a:gd name="csX2" fmla="*/ 1067235 w 4343400"/>
              <a:gd name="csY2" fmla="*/ 0 h 18288"/>
              <a:gd name="csX3" fmla="*/ 1600853 w 4343400"/>
              <a:gd name="csY3" fmla="*/ 0 h 18288"/>
              <a:gd name="csX4" fmla="*/ 2264773 w 4343400"/>
              <a:gd name="csY4" fmla="*/ 0 h 18288"/>
              <a:gd name="csX5" fmla="*/ 2841825 w 4343400"/>
              <a:gd name="csY5" fmla="*/ 0 h 18288"/>
              <a:gd name="csX6" fmla="*/ 3375442 w 4343400"/>
              <a:gd name="csY6" fmla="*/ 0 h 18288"/>
              <a:gd name="csX7" fmla="*/ 4343400 w 4343400"/>
              <a:gd name="csY7" fmla="*/ 0 h 18288"/>
              <a:gd name="csX8" fmla="*/ 4343400 w 4343400"/>
              <a:gd name="csY8" fmla="*/ 18288 h 18288"/>
              <a:gd name="csX9" fmla="*/ 3722914 w 4343400"/>
              <a:gd name="csY9" fmla="*/ 18288 h 18288"/>
              <a:gd name="csX10" fmla="*/ 3189297 w 4343400"/>
              <a:gd name="csY10" fmla="*/ 18288 h 18288"/>
              <a:gd name="csX11" fmla="*/ 2481943 w 4343400"/>
              <a:gd name="csY11" fmla="*/ 18288 h 18288"/>
              <a:gd name="csX12" fmla="*/ 1904891 w 4343400"/>
              <a:gd name="csY12" fmla="*/ 18288 h 18288"/>
              <a:gd name="csX13" fmla="*/ 1414707 w 4343400"/>
              <a:gd name="csY13" fmla="*/ 18288 h 18288"/>
              <a:gd name="csX14" fmla="*/ 750788 w 4343400"/>
              <a:gd name="csY14" fmla="*/ 18288 h 18288"/>
              <a:gd name="csX15" fmla="*/ 0 w 4343400"/>
              <a:gd name="csY15" fmla="*/ 18288 h 18288"/>
              <a:gd name="csX16" fmla="*/ 0 w 43434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stroke="0"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Content Placeholder 1115">
            <a:extLst>
              <a:ext uri="{FF2B5EF4-FFF2-40B4-BE49-F238E27FC236}">
                <a16:creationId xmlns:a16="http://schemas.microsoft.com/office/drawing/2014/main" id="{B5A48992-73C6-1285-F4B0-F5F1BC5AF166}"/>
              </a:ext>
            </a:extLst>
          </p:cNvPr>
          <p:cNvSpPr>
            <a:spLocks noGrp="1"/>
          </p:cNvSpPr>
          <p:nvPr>
            <p:ph idx="1"/>
          </p:nvPr>
        </p:nvSpPr>
        <p:spPr>
          <a:xfrm>
            <a:off x="610435" y="2889717"/>
            <a:ext cx="5711952" cy="3268957"/>
          </a:xfrm>
        </p:spPr>
        <p:txBody>
          <a:bodyPr>
            <a:normAutofit/>
          </a:bodyPr>
          <a:lstStyle/>
          <a:p>
            <a:pPr marL="0" indent="0">
              <a:buNone/>
            </a:pPr>
            <a:r>
              <a:rPr lang="en-US" sz="1800" dirty="0">
                <a:hlinkClick r:id="rId2"/>
              </a:rPr>
              <a:t>https://www.kewhighschoolcareers.com.au/</a:t>
            </a:r>
            <a:endParaRPr lang="en-US" sz="1800" dirty="0"/>
          </a:p>
          <a:p>
            <a:endParaRPr lang="en-US" sz="2200" dirty="0"/>
          </a:p>
        </p:txBody>
      </p:sp>
      <p:pic>
        <p:nvPicPr>
          <p:cNvPr id="5" name="Content Placeholder 4">
            <a:extLst>
              <a:ext uri="{FF2B5EF4-FFF2-40B4-BE49-F238E27FC236}">
                <a16:creationId xmlns:a16="http://schemas.microsoft.com/office/drawing/2014/main" id="{A655F637-6588-5E05-3521-730E2D62AB0C}"/>
              </a:ext>
            </a:extLst>
          </p:cNvPr>
          <p:cNvPicPr>
            <a:picLocks noChangeAspect="1"/>
          </p:cNvPicPr>
          <p:nvPr/>
        </p:nvPicPr>
        <p:blipFill>
          <a:blip r:embed="rId3"/>
          <a:stretch>
            <a:fillRect/>
          </a:stretch>
        </p:blipFill>
        <p:spPr>
          <a:xfrm>
            <a:off x="485176" y="3908496"/>
            <a:ext cx="4283122" cy="1231397"/>
          </a:xfrm>
          <a:prstGeom prst="rect">
            <a:avLst/>
          </a:prstGeom>
        </p:spPr>
      </p:pic>
      <p:pic>
        <p:nvPicPr>
          <p:cNvPr id="4" name="Picture 3">
            <a:extLst>
              <a:ext uri="{FF2B5EF4-FFF2-40B4-BE49-F238E27FC236}">
                <a16:creationId xmlns:a16="http://schemas.microsoft.com/office/drawing/2014/main" id="{89ACAC1C-2059-A660-5D98-9353F9D22B22}"/>
              </a:ext>
            </a:extLst>
          </p:cNvPr>
          <p:cNvPicPr>
            <a:picLocks noChangeAspect="1"/>
          </p:cNvPicPr>
          <p:nvPr/>
        </p:nvPicPr>
        <p:blipFill>
          <a:blip r:embed="rId4"/>
          <a:stretch>
            <a:fillRect/>
          </a:stretch>
        </p:blipFill>
        <p:spPr>
          <a:xfrm>
            <a:off x="5378733" y="775526"/>
            <a:ext cx="6675198" cy="5128055"/>
          </a:xfrm>
          <a:prstGeom prst="rect">
            <a:avLst/>
          </a:prstGeom>
        </p:spPr>
      </p:pic>
    </p:spTree>
    <p:extLst>
      <p:ext uri="{BB962C8B-B14F-4D97-AF65-F5344CB8AC3E}">
        <p14:creationId xmlns:p14="http://schemas.microsoft.com/office/powerpoint/2010/main" val="115560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E55DB-F0D5-B73F-7F84-718687675365}"/>
              </a:ext>
            </a:extLst>
          </p:cNvPr>
          <p:cNvSpPr>
            <a:spLocks noGrp="1"/>
          </p:cNvSpPr>
          <p:nvPr>
            <p:ph type="title"/>
          </p:nvPr>
        </p:nvSpPr>
        <p:spPr/>
        <p:txBody>
          <a:bodyPr>
            <a:normAutofit/>
          </a:bodyPr>
          <a:lstStyle/>
          <a:p>
            <a:r>
              <a:rPr lang="en-AU" dirty="0"/>
              <a:t>Easy place to find Work Experience Forms </a:t>
            </a:r>
            <a:br>
              <a:rPr lang="en-AU" dirty="0"/>
            </a:br>
            <a:r>
              <a:rPr lang="en-AU" sz="3100" dirty="0"/>
              <a:t>(either school career website or Work Ed teams)</a:t>
            </a:r>
          </a:p>
        </p:txBody>
      </p:sp>
      <p:sp>
        <p:nvSpPr>
          <p:cNvPr id="3" name="Content Placeholder 2">
            <a:extLst>
              <a:ext uri="{FF2B5EF4-FFF2-40B4-BE49-F238E27FC236}">
                <a16:creationId xmlns:a16="http://schemas.microsoft.com/office/drawing/2014/main" id="{C0179344-B0FB-8F00-EC56-6F86DBCAC46E}"/>
              </a:ext>
            </a:extLst>
          </p:cNvPr>
          <p:cNvSpPr>
            <a:spLocks noGrp="1"/>
          </p:cNvSpPr>
          <p:nvPr>
            <p:ph idx="1"/>
          </p:nvPr>
        </p:nvSpPr>
        <p:spPr/>
        <p:txBody>
          <a:bodyPr/>
          <a:lstStyle/>
          <a:p>
            <a:endParaRPr lang="en-AU"/>
          </a:p>
        </p:txBody>
      </p:sp>
      <p:pic>
        <p:nvPicPr>
          <p:cNvPr id="5" name="Picture 4">
            <a:extLst>
              <a:ext uri="{FF2B5EF4-FFF2-40B4-BE49-F238E27FC236}">
                <a16:creationId xmlns:a16="http://schemas.microsoft.com/office/drawing/2014/main" id="{1E3D3E16-9919-1E24-355B-FF11E86CB5D2}"/>
              </a:ext>
            </a:extLst>
          </p:cNvPr>
          <p:cNvPicPr>
            <a:picLocks noChangeAspect="1"/>
          </p:cNvPicPr>
          <p:nvPr/>
        </p:nvPicPr>
        <p:blipFill>
          <a:blip r:embed="rId2"/>
          <a:stretch>
            <a:fillRect/>
          </a:stretch>
        </p:blipFill>
        <p:spPr>
          <a:xfrm>
            <a:off x="619368" y="1808290"/>
            <a:ext cx="10836511" cy="4775680"/>
          </a:xfrm>
          <a:prstGeom prst="rect">
            <a:avLst/>
          </a:prstGeom>
        </p:spPr>
      </p:pic>
    </p:spTree>
    <p:extLst>
      <p:ext uri="{BB962C8B-B14F-4D97-AF65-F5344CB8AC3E}">
        <p14:creationId xmlns:p14="http://schemas.microsoft.com/office/powerpoint/2010/main" val="160271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5C3B8-A73C-E78F-172D-FE2310996814}"/>
              </a:ext>
            </a:extLst>
          </p:cNvPr>
          <p:cNvSpPr>
            <a:spLocks noGrp="1"/>
          </p:cNvSpPr>
          <p:nvPr>
            <p:ph type="title"/>
          </p:nvPr>
        </p:nvSpPr>
        <p:spPr/>
        <p:txBody>
          <a:bodyPr/>
          <a:lstStyle/>
          <a:p>
            <a:r>
              <a:rPr lang="en-AU" dirty="0"/>
              <a:t>All documents also on Teams (Year 10 work education 2026)</a:t>
            </a:r>
          </a:p>
        </p:txBody>
      </p:sp>
      <p:sp>
        <p:nvSpPr>
          <p:cNvPr id="3" name="Content Placeholder 2">
            <a:extLst>
              <a:ext uri="{FF2B5EF4-FFF2-40B4-BE49-F238E27FC236}">
                <a16:creationId xmlns:a16="http://schemas.microsoft.com/office/drawing/2014/main" id="{DAE436D3-2117-9B5A-770F-F172E3F6F2C7}"/>
              </a:ext>
            </a:extLst>
          </p:cNvPr>
          <p:cNvSpPr>
            <a:spLocks noGrp="1"/>
          </p:cNvSpPr>
          <p:nvPr>
            <p:ph idx="1"/>
          </p:nvPr>
        </p:nvSpPr>
        <p:spPr/>
        <p:txBody>
          <a:bodyPr/>
          <a:lstStyle/>
          <a:p>
            <a:endParaRPr lang="en-AU"/>
          </a:p>
        </p:txBody>
      </p:sp>
      <p:pic>
        <p:nvPicPr>
          <p:cNvPr id="5" name="Picture 4">
            <a:extLst>
              <a:ext uri="{FF2B5EF4-FFF2-40B4-BE49-F238E27FC236}">
                <a16:creationId xmlns:a16="http://schemas.microsoft.com/office/drawing/2014/main" id="{887D091F-A324-B017-D89E-75E424E9A040}"/>
              </a:ext>
            </a:extLst>
          </p:cNvPr>
          <p:cNvPicPr>
            <a:picLocks noChangeAspect="1"/>
          </p:cNvPicPr>
          <p:nvPr/>
        </p:nvPicPr>
        <p:blipFill>
          <a:blip r:embed="rId2"/>
          <a:stretch>
            <a:fillRect/>
          </a:stretch>
        </p:blipFill>
        <p:spPr>
          <a:xfrm>
            <a:off x="838199" y="1825624"/>
            <a:ext cx="10410645" cy="4351338"/>
          </a:xfrm>
          <a:prstGeom prst="rect">
            <a:avLst/>
          </a:prstGeom>
        </p:spPr>
      </p:pic>
    </p:spTree>
    <p:extLst>
      <p:ext uri="{BB962C8B-B14F-4D97-AF65-F5344CB8AC3E}">
        <p14:creationId xmlns:p14="http://schemas.microsoft.com/office/powerpoint/2010/main" val="1774678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EDCB-6F79-194F-DF17-1F9230AB4F98}"/>
              </a:ext>
            </a:extLst>
          </p:cNvPr>
          <p:cNvSpPr>
            <a:spLocks noGrp="1"/>
          </p:cNvSpPr>
          <p:nvPr>
            <p:ph type="title"/>
          </p:nvPr>
        </p:nvSpPr>
        <p:spPr/>
        <p:txBody>
          <a:bodyPr>
            <a:normAutofit fontScale="90000"/>
          </a:bodyPr>
          <a:lstStyle/>
          <a:p>
            <a:r>
              <a:rPr lang="en-AU" dirty="0">
                <a:solidFill>
                  <a:srgbClr val="011A3C"/>
                </a:solidFill>
                <a:latin typeface="VIC-Bold"/>
              </a:rPr>
              <a:t>Forms for use in work experience arrangements</a:t>
            </a:r>
            <a:br>
              <a:rPr lang="en-AU" dirty="0">
                <a:solidFill>
                  <a:srgbClr val="011A3C"/>
                </a:solidFill>
                <a:latin typeface="VIC-Bold"/>
              </a:rPr>
            </a:br>
            <a:endParaRPr lang="en-AU" dirty="0"/>
          </a:p>
        </p:txBody>
      </p:sp>
      <p:sp>
        <p:nvSpPr>
          <p:cNvPr id="3" name="Content Placeholder 2">
            <a:extLst>
              <a:ext uri="{FF2B5EF4-FFF2-40B4-BE49-F238E27FC236}">
                <a16:creationId xmlns:a16="http://schemas.microsoft.com/office/drawing/2014/main" id="{5D375395-E41D-1204-DD9F-FD21DDEFBC4E}"/>
              </a:ext>
            </a:extLst>
          </p:cNvPr>
          <p:cNvSpPr>
            <a:spLocks noGrp="1"/>
          </p:cNvSpPr>
          <p:nvPr>
            <p:ph idx="1"/>
          </p:nvPr>
        </p:nvSpPr>
        <p:spPr/>
        <p:txBody>
          <a:bodyPr/>
          <a:lstStyle/>
          <a:p>
            <a:endParaRPr lang="en-AU" dirty="0"/>
          </a:p>
          <a:p>
            <a:endParaRPr lang="en-AU" dirty="0"/>
          </a:p>
          <a:p>
            <a:endParaRPr lang="en-AU" dirty="0"/>
          </a:p>
        </p:txBody>
      </p:sp>
      <p:sp>
        <p:nvSpPr>
          <p:cNvPr id="11" name="TextBox 10">
            <a:extLst>
              <a:ext uri="{FF2B5EF4-FFF2-40B4-BE49-F238E27FC236}">
                <a16:creationId xmlns:a16="http://schemas.microsoft.com/office/drawing/2014/main" id="{7929E2B0-3465-52D3-290E-C389C40AFA2F}"/>
              </a:ext>
            </a:extLst>
          </p:cNvPr>
          <p:cNvSpPr txBox="1"/>
          <p:nvPr/>
        </p:nvSpPr>
        <p:spPr>
          <a:xfrm>
            <a:off x="838200" y="1751161"/>
            <a:ext cx="10143226" cy="2031325"/>
          </a:xfrm>
          <a:prstGeom prst="rect">
            <a:avLst/>
          </a:prstGeom>
          <a:noFill/>
        </p:spPr>
        <p:txBody>
          <a:bodyPr wrap="square">
            <a:spAutoFit/>
          </a:bodyPr>
          <a:lstStyle/>
          <a:p>
            <a:pPr algn="l">
              <a:buNone/>
            </a:pPr>
            <a:endParaRPr lang="en-AU" dirty="0">
              <a:solidFill>
                <a:srgbClr val="011A3C"/>
              </a:solidFill>
              <a:latin typeface="VIC-Bold"/>
            </a:endParaRPr>
          </a:p>
          <a:p>
            <a:pPr algn="l">
              <a:buNone/>
            </a:pPr>
            <a:endParaRPr lang="en-AU" b="0" i="0" dirty="0">
              <a:solidFill>
                <a:srgbClr val="011A3C"/>
              </a:solidFill>
              <a:effectLst/>
              <a:latin typeface="VIC-Bold"/>
            </a:endParaRPr>
          </a:p>
          <a:p>
            <a:pPr algn="l">
              <a:buFont typeface="Arial" panose="020B0604020202020204" pitchFamily="34" charset="0"/>
              <a:buChar char="•"/>
            </a:pPr>
            <a:r>
              <a:rPr lang="en-AU" b="0" i="0" u="none" strike="noStrike" dirty="0">
                <a:solidFill>
                  <a:srgbClr val="1855BF"/>
                </a:solidFill>
                <a:effectLst/>
                <a:latin typeface="VIC-Regular"/>
                <a:hlinkClick r:id="rId2"/>
              </a:rPr>
              <a:t>Work experience arrangement form (DOCX)</a:t>
            </a:r>
            <a:endParaRPr lang="en-AU" b="0" i="0" dirty="0">
              <a:solidFill>
                <a:srgbClr val="011A3C"/>
              </a:solidFill>
              <a:effectLst/>
              <a:latin typeface="VIC-Regular"/>
            </a:endParaRPr>
          </a:p>
          <a:p>
            <a:pPr algn="l">
              <a:buFont typeface="Arial" panose="020B0604020202020204" pitchFamily="34" charset="0"/>
              <a:buChar char="•"/>
            </a:pPr>
            <a:r>
              <a:rPr lang="en-AU" b="0" i="0" u="none" strike="noStrike" dirty="0">
                <a:solidFill>
                  <a:srgbClr val="1855BF"/>
                </a:solidFill>
                <a:effectLst/>
                <a:latin typeface="VIC-Regular"/>
                <a:hlinkClick r:id="rId3"/>
              </a:rPr>
              <a:t>Work experience arrangement form (PDF)</a:t>
            </a:r>
            <a:endParaRPr lang="en-AU" b="0" i="0" dirty="0">
              <a:solidFill>
                <a:srgbClr val="011A3C"/>
              </a:solidFill>
              <a:effectLst/>
              <a:latin typeface="VIC-Regular"/>
            </a:endParaRPr>
          </a:p>
          <a:p>
            <a:pPr algn="l">
              <a:buFont typeface="Arial" panose="020B0604020202020204" pitchFamily="34" charset="0"/>
              <a:buChar char="•"/>
            </a:pPr>
            <a:r>
              <a:rPr lang="en-AU" b="0" i="0" u="none" strike="noStrike" dirty="0">
                <a:solidFill>
                  <a:srgbClr val="1855BF"/>
                </a:solidFill>
                <a:effectLst/>
                <a:latin typeface="VIC-Regular"/>
                <a:hlinkClick r:id="rId4"/>
              </a:rPr>
              <a:t>Work experience travel and accommodation form (DOCX)</a:t>
            </a:r>
            <a:r>
              <a:rPr lang="en-AU" b="0" i="0" dirty="0">
                <a:solidFill>
                  <a:srgbClr val="011A3C"/>
                </a:solidFill>
                <a:effectLst/>
                <a:latin typeface="VIC-Regular"/>
              </a:rPr>
              <a:t> (to be used where relevant)</a:t>
            </a:r>
          </a:p>
          <a:p>
            <a:pPr algn="l">
              <a:buFont typeface="Arial" panose="020B0604020202020204" pitchFamily="34" charset="0"/>
              <a:buChar char="•"/>
            </a:pPr>
            <a:r>
              <a:rPr lang="en-AU" b="0" i="0" u="none" strike="noStrike" dirty="0">
                <a:solidFill>
                  <a:srgbClr val="1855BF"/>
                </a:solidFill>
                <a:effectLst/>
                <a:latin typeface="VIC-Regular"/>
                <a:hlinkClick r:id="rId5"/>
              </a:rPr>
              <a:t>Work experience travel and accommodation form (PDF)</a:t>
            </a:r>
            <a:r>
              <a:rPr lang="en-AU" b="0" i="0" dirty="0">
                <a:solidFill>
                  <a:srgbClr val="011A3C"/>
                </a:solidFill>
                <a:effectLst/>
                <a:latin typeface="VIC-Regular"/>
              </a:rPr>
              <a:t> (to be used where relevant)</a:t>
            </a:r>
          </a:p>
          <a:p>
            <a:pPr algn="l">
              <a:buFont typeface="Arial" panose="020B0604020202020204" pitchFamily="34" charset="0"/>
              <a:buChar char="•"/>
            </a:pPr>
            <a:r>
              <a:rPr lang="en-AU" b="0" i="0" u="none" strike="noStrike" dirty="0">
                <a:solidFill>
                  <a:srgbClr val="1855BF"/>
                </a:solidFill>
                <a:effectLst/>
                <a:latin typeface="VIC-Regular"/>
                <a:hlinkClick r:id="rId6"/>
              </a:rPr>
              <a:t>Proposed work experience with animals – summary of student's experience (DOCX)</a:t>
            </a:r>
            <a:endParaRPr lang="en-AU" b="0" i="0" dirty="0">
              <a:solidFill>
                <a:srgbClr val="011A3C"/>
              </a:solidFill>
              <a:effectLst/>
              <a:latin typeface="VIC-Regular"/>
            </a:endParaRPr>
          </a:p>
        </p:txBody>
      </p:sp>
    </p:spTree>
    <p:extLst>
      <p:ext uri="{BB962C8B-B14F-4D97-AF65-F5344CB8AC3E}">
        <p14:creationId xmlns:p14="http://schemas.microsoft.com/office/powerpoint/2010/main" val="259848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80DF40B2-80F7-4E71-B46C-284163F36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7DEA43-9470-6D9F-EFEF-8A4DC0C2B2B1}"/>
              </a:ext>
            </a:extLst>
          </p:cNvPr>
          <p:cNvSpPr>
            <a:spLocks noGrp="1"/>
          </p:cNvSpPr>
          <p:nvPr>
            <p:ph type="title"/>
          </p:nvPr>
        </p:nvSpPr>
        <p:spPr>
          <a:xfrm>
            <a:off x="838199" y="548464"/>
            <a:ext cx="3807187" cy="2228074"/>
          </a:xfrm>
        </p:spPr>
        <p:txBody>
          <a:bodyPr>
            <a:normAutofit/>
          </a:bodyPr>
          <a:lstStyle/>
          <a:p>
            <a:r>
              <a:rPr lang="en-AU" sz="4000" b="1" u="sng" dirty="0"/>
              <a:t>For students absent last week </a:t>
            </a:r>
            <a:r>
              <a:rPr lang="en-AU" sz="2000" b="1" dirty="0"/>
              <a:t>Now create / update / log into your profile – link:</a:t>
            </a:r>
            <a:br>
              <a:rPr lang="en-AU" sz="4000" dirty="0"/>
            </a:br>
            <a:r>
              <a:rPr lang="en-AU" sz="1600" b="0" i="0" dirty="0">
                <a:effectLst/>
                <a:latin typeface="Aptos" panose="020B0004020202020204" pitchFamily="34" charset="0"/>
                <a:hlinkClick r:id="rId2" tooltip="Original URL: https://kewhighschool.sharepoint.com/:b:/s/KHS-StudentSupport/Ee8kVR7FaGJJlVBLtpdIFzgB9Hf5bKOORaZ6fHTkjRdcrA?e=saonch. Click or tap if you trust this link."/>
              </a:rPr>
              <a:t>Career Tools how to create an account.pdf</a:t>
            </a:r>
            <a:endParaRPr lang="en-AU" sz="4000" dirty="0"/>
          </a:p>
        </p:txBody>
      </p:sp>
      <p:pic>
        <p:nvPicPr>
          <p:cNvPr id="4" name="Content Placeholder 3">
            <a:extLst>
              <a:ext uri="{FF2B5EF4-FFF2-40B4-BE49-F238E27FC236}">
                <a16:creationId xmlns:a16="http://schemas.microsoft.com/office/drawing/2014/main" id="{D1D7A1B2-2FCE-6587-56AE-E89EE8FA1B53}"/>
              </a:ext>
            </a:extLst>
          </p:cNvPr>
          <p:cNvPicPr>
            <a:picLocks noGrp="1" noChangeAspect="1"/>
          </p:cNvPicPr>
          <p:nvPr>
            <p:ph idx="1"/>
          </p:nvPr>
        </p:nvPicPr>
        <p:blipFill>
          <a:blip r:embed="rId3"/>
          <a:stretch>
            <a:fillRect/>
          </a:stretch>
        </p:blipFill>
        <p:spPr>
          <a:xfrm>
            <a:off x="838200" y="3074725"/>
            <a:ext cx="3798888" cy="2918350"/>
          </a:xfrm>
          <a:prstGeom prst="rect">
            <a:avLst/>
          </a:prstGeom>
        </p:spPr>
      </p:pic>
      <p:pic>
        <p:nvPicPr>
          <p:cNvPr id="6" name="Picture 5">
            <a:extLst>
              <a:ext uri="{FF2B5EF4-FFF2-40B4-BE49-F238E27FC236}">
                <a16:creationId xmlns:a16="http://schemas.microsoft.com/office/drawing/2014/main" id="{8F3E227E-5242-3851-AC3A-AB7C28B284D1}"/>
              </a:ext>
            </a:extLst>
          </p:cNvPr>
          <p:cNvPicPr>
            <a:picLocks noChangeAspect="1"/>
          </p:cNvPicPr>
          <p:nvPr/>
        </p:nvPicPr>
        <p:blipFill>
          <a:blip r:embed="rId4"/>
          <a:stretch>
            <a:fillRect/>
          </a:stretch>
        </p:blipFill>
        <p:spPr>
          <a:xfrm>
            <a:off x="5912907" y="2748185"/>
            <a:ext cx="4046433" cy="3984269"/>
          </a:xfrm>
          <a:prstGeom prst="rect">
            <a:avLst/>
          </a:prstGeom>
        </p:spPr>
      </p:pic>
      <p:sp>
        <p:nvSpPr>
          <p:cNvPr id="8" name="TextBox 7">
            <a:extLst>
              <a:ext uri="{FF2B5EF4-FFF2-40B4-BE49-F238E27FC236}">
                <a16:creationId xmlns:a16="http://schemas.microsoft.com/office/drawing/2014/main" id="{C1BCE185-3563-0268-9F66-79E72AD647E7}"/>
              </a:ext>
            </a:extLst>
          </p:cNvPr>
          <p:cNvSpPr txBox="1"/>
          <p:nvPr/>
        </p:nvSpPr>
        <p:spPr>
          <a:xfrm>
            <a:off x="6004560" y="388619"/>
            <a:ext cx="4488180" cy="2172390"/>
          </a:xfrm>
          <a:prstGeom prst="rect">
            <a:avLst/>
          </a:prstGeom>
          <a:noFill/>
        </p:spPr>
        <p:txBody>
          <a:bodyPr wrap="square">
            <a:spAutoFit/>
          </a:bodyPr>
          <a:lstStyle/>
          <a:p>
            <a:pPr algn="l">
              <a:spcAft>
                <a:spcPts val="1125"/>
              </a:spcAft>
            </a:pPr>
            <a:r>
              <a:rPr lang="en-AU" b="1" i="0" dirty="0">
                <a:solidFill>
                  <a:srgbClr val="333333"/>
                </a:solidFill>
                <a:effectLst/>
                <a:latin typeface="Montserrat" panose="00000500000000000000" pitchFamily="2" charset="0"/>
              </a:rPr>
              <a:t>Resetting the password:</a:t>
            </a:r>
            <a:endParaRPr lang="en-AU" b="0" i="0" dirty="0">
              <a:solidFill>
                <a:srgbClr val="333333"/>
              </a:solidFill>
              <a:effectLst/>
              <a:latin typeface="Montserrat" panose="00000500000000000000" pitchFamily="2" charset="0"/>
            </a:endParaRPr>
          </a:p>
          <a:p>
            <a:pPr algn="l">
              <a:spcAft>
                <a:spcPts val="1125"/>
              </a:spcAft>
            </a:pPr>
            <a:r>
              <a:rPr lang="en-AU" b="0" i="0" dirty="0">
                <a:solidFill>
                  <a:srgbClr val="333333"/>
                </a:solidFill>
                <a:effectLst/>
                <a:latin typeface="Montserrat" panose="00000500000000000000" pitchFamily="2" charset="0"/>
              </a:rPr>
              <a:t>1. Go to the Log in page (via your school's Career Website)</a:t>
            </a:r>
            <a:br>
              <a:rPr lang="en-AU" b="0" i="0" dirty="0">
                <a:solidFill>
                  <a:srgbClr val="333333"/>
                </a:solidFill>
                <a:effectLst/>
                <a:latin typeface="Montserrat" panose="00000500000000000000" pitchFamily="2" charset="0"/>
              </a:rPr>
            </a:br>
            <a:r>
              <a:rPr lang="en-AU" b="0" i="0" dirty="0">
                <a:solidFill>
                  <a:srgbClr val="333333"/>
                </a:solidFill>
                <a:effectLst/>
                <a:latin typeface="Montserrat" panose="00000500000000000000" pitchFamily="2" charset="0"/>
              </a:rPr>
              <a:t>2. Click the "Forgot Password" link </a:t>
            </a:r>
            <a:br>
              <a:rPr lang="en-AU" b="0" i="0" dirty="0">
                <a:solidFill>
                  <a:srgbClr val="333333"/>
                </a:solidFill>
                <a:effectLst/>
                <a:latin typeface="Montserrat" panose="00000500000000000000" pitchFamily="2" charset="0"/>
              </a:rPr>
            </a:br>
            <a:r>
              <a:rPr lang="en-AU" b="0" i="0" dirty="0">
                <a:solidFill>
                  <a:srgbClr val="333333"/>
                </a:solidFill>
                <a:effectLst/>
                <a:latin typeface="Montserrat" panose="00000500000000000000" pitchFamily="2" charset="0"/>
              </a:rPr>
              <a:t>3. The student will input their email address and click "Send password reset email"</a:t>
            </a:r>
          </a:p>
        </p:txBody>
      </p:sp>
    </p:spTree>
    <p:extLst>
      <p:ext uri="{BB962C8B-B14F-4D97-AF65-F5344CB8AC3E}">
        <p14:creationId xmlns:p14="http://schemas.microsoft.com/office/powerpoint/2010/main" val="40520583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139A91C7086847A98671EDF19DF6A7" ma:contentTypeVersion="3" ma:contentTypeDescription="Create a new document." ma:contentTypeScope="" ma:versionID="1ac54db21b4203d299765f3564495803">
  <xsd:schema xmlns:xsd="http://www.w3.org/2001/XMLSchema" xmlns:xs="http://www.w3.org/2001/XMLSchema" xmlns:p="http://schemas.microsoft.com/office/2006/metadata/properties" xmlns:ns2="4f0bfc7f-89f7-4a8e-b4ce-697b04347147" targetNamespace="http://schemas.microsoft.com/office/2006/metadata/properties" ma:root="true" ma:fieldsID="5248034578c8672181713fe683e858fe" ns2:_="">
    <xsd:import namespace="4f0bfc7f-89f7-4a8e-b4ce-697b043471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fc7f-89f7-4a8e-b4ce-697b043471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9D3D1B6-C393-4324-8598-8A54365F6F56}"/>
</file>

<file path=customXml/itemProps2.xml><?xml version="1.0" encoding="utf-8"?>
<ds:datastoreItem xmlns:ds="http://schemas.openxmlformats.org/officeDocument/2006/customXml" ds:itemID="{A3A0BD60-622E-4A10-9977-3FDBA6177EB2}"/>
</file>

<file path=customXml/itemProps3.xml><?xml version="1.0" encoding="utf-8"?>
<ds:datastoreItem xmlns:ds="http://schemas.openxmlformats.org/officeDocument/2006/customXml" ds:itemID="{342DABEE-BC87-43D9-9657-E3FCC3007F60}"/>
</file>

<file path=docProps/app.xml><?xml version="1.0" encoding="utf-8"?>
<Properties xmlns="http://schemas.openxmlformats.org/officeDocument/2006/extended-properties" xmlns:vt="http://schemas.openxmlformats.org/officeDocument/2006/docPropsVTypes">
  <TotalTime>7746</TotalTime>
  <Words>1046</Words>
  <Application>Microsoft Office PowerPoint</Application>
  <PresentationFormat>Widescreen</PresentationFormat>
  <Paragraphs>158</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Arial</vt:lpstr>
      <vt:lpstr>Calibri</vt:lpstr>
      <vt:lpstr>Calibri Light</vt:lpstr>
      <vt:lpstr>Montserrat</vt:lpstr>
      <vt:lpstr>Symbol</vt:lpstr>
      <vt:lpstr>VIC-Bold</vt:lpstr>
      <vt:lpstr>VIC-Regular</vt:lpstr>
      <vt:lpstr>Office Theme</vt:lpstr>
      <vt:lpstr>Work Education </vt:lpstr>
      <vt:lpstr>Work &amp; Life Education  2026</vt:lpstr>
      <vt:lpstr>Work experience</vt:lpstr>
      <vt:lpstr>Where to start with finding a placement:</vt:lpstr>
      <vt:lpstr>Applying for work experience with personal connections </vt:lpstr>
      <vt:lpstr>PowerPoint Presentation</vt:lpstr>
      <vt:lpstr>PowerPoint Presentation</vt:lpstr>
      <vt:lpstr>Overview of Work Ed sessions for Semester 1 </vt:lpstr>
      <vt:lpstr>PowerPoint Presentation</vt:lpstr>
      <vt:lpstr>PowerPoint Presentation</vt:lpstr>
      <vt:lpstr>Career Tools</vt:lpstr>
      <vt:lpstr>Easy place to find Work Experience Forms  (either school career website or Work Ed teams)</vt:lpstr>
      <vt:lpstr>All documents also on Teams (Year 10 work education 2026)</vt:lpstr>
      <vt:lpstr>Forms for use in work experience arrangements </vt:lpstr>
      <vt:lpstr>For students absent last week Now create / update / log into your profile – link: Career Tools how to create an account.pdf</vt:lpstr>
    </vt:vector>
  </TitlesOfParts>
  <Company>Kew High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Pathways</dc:title>
  <dc:creator>DUNSTAN, Elise</dc:creator>
  <cp:lastModifiedBy>Elena TSAVEAS</cp:lastModifiedBy>
  <cp:revision>8</cp:revision>
  <cp:lastPrinted>2026-02-05T03:41:13Z</cp:lastPrinted>
  <dcterms:created xsi:type="dcterms:W3CDTF">2023-02-24T01:51:02Z</dcterms:created>
  <dcterms:modified xsi:type="dcterms:W3CDTF">2026-02-06T01:37:01Z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0x01010038139A91C7086847A98671EDF19DF6A7</vt:lpwstr>
  </property>
</Properties>
</file>