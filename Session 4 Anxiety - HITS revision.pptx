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011471df548ff" /><Relationship Type="http://schemas.openxmlformats.org/officeDocument/2006/relationships/extended-properties" Target="/docProps/app.xml" Id="Rd02b0f7ebd894601" /><Relationship Type="http://schemas.openxmlformats.org/officeDocument/2006/relationships/officeDocument" Target="/ppt/presentation.xml" Id="R15c9d9a2f36d4b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93fbf04bd4d76"/>
  </p:sldMasterIdLst>
  <p:notesMasterIdLst>
    <p:notesMasterId xmlns:r="http://schemas.openxmlformats.org/officeDocument/2006/relationships" r:id="R2ef0237b3ff74d1f"/>
  </p:notesMasterIdLst>
  <p:sldIdLst>
    <p:sldId xmlns:r="http://schemas.openxmlformats.org/officeDocument/2006/relationships" id="256" r:id="R90610a9690fd4adf"/>
    <p:sldId xmlns:r="http://schemas.openxmlformats.org/officeDocument/2006/relationships" id="257" r:id="R5052431d11914f7d"/>
    <p:sldId xmlns:r="http://schemas.openxmlformats.org/officeDocument/2006/relationships" id="258" r:id="Rb64ca01db5b24f3f"/>
    <p:sldId xmlns:r="http://schemas.openxmlformats.org/officeDocument/2006/relationships" id="259" r:id="R1152f0de28a9459e"/>
    <p:sldId xmlns:r="http://schemas.openxmlformats.org/officeDocument/2006/relationships" id="260" r:id="Rc2888ee22d164625"/>
    <p:sldId xmlns:r="http://schemas.openxmlformats.org/officeDocument/2006/relationships" id="261" r:id="Rc09b0d1378694e6e"/>
    <p:sldId xmlns:r="http://schemas.openxmlformats.org/officeDocument/2006/relationships" id="262" r:id="R8a9444609b85449c"/>
    <p:sldId xmlns:r="http://schemas.openxmlformats.org/officeDocument/2006/relationships" id="263" r:id="R871b77de0b4f4d5f"/>
    <p:sldId xmlns:r="http://schemas.openxmlformats.org/officeDocument/2006/relationships" id="264" r:id="Rd5d26e6ffb224c8a"/>
    <p:sldId xmlns:r="http://schemas.openxmlformats.org/officeDocument/2006/relationships" id="265" r:id="Rd703882165534db9"/>
    <p:sldId xmlns:r="http://schemas.openxmlformats.org/officeDocument/2006/relationships" id="266" r:id="R33c7354fb9b743e0"/>
    <p:sldId xmlns:r="http://schemas.openxmlformats.org/officeDocument/2006/relationships" id="267" r:id="R7d820e73ad98463b"/>
    <p:sldId xmlns:r="http://schemas.openxmlformats.org/officeDocument/2006/relationships" id="268" r:id="Re69ba89e56b64176"/>
    <p:sldId xmlns:r="http://schemas.openxmlformats.org/officeDocument/2006/relationships" id="269" r:id="Re971d396370049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6adf4b7a254a1c" /><Relationship Type="http://schemas.openxmlformats.org/officeDocument/2006/relationships/slideMaster" Target="/ppt/slideMasters/slideMaster1.xml" Id="R0c293fbf04bd4d76" /><Relationship Type="http://schemas.openxmlformats.org/officeDocument/2006/relationships/notesMaster" Target="/ppt/notesMasters/notesMaster1.xml" Id="R2ef0237b3ff74d1f" /><Relationship Type="http://schemas.openxmlformats.org/officeDocument/2006/relationships/presProps" Target="/ppt/presProps.xml" Id="R6c5cb4f13c0940c2" /><Relationship Type="http://schemas.openxmlformats.org/officeDocument/2006/relationships/tableStyles" Target="/ppt/tableStyles.xml" Id="Rbc5c72e96bd54ff9" /><Relationship Type="http://schemas.openxmlformats.org/officeDocument/2006/relationships/slide" Target="/ppt/slides/slide1.xml" Id="R90610a9690fd4adf" /><Relationship Type="http://schemas.openxmlformats.org/officeDocument/2006/relationships/slide" Target="/ppt/slides/slide2.xml" Id="R5052431d11914f7d" /><Relationship Type="http://schemas.openxmlformats.org/officeDocument/2006/relationships/slide" Target="/ppt/slides/slide3.xml" Id="Rb64ca01db5b24f3f" /><Relationship Type="http://schemas.openxmlformats.org/officeDocument/2006/relationships/slide" Target="/ppt/slides/slide4.xml" Id="R1152f0de28a9459e" /><Relationship Type="http://schemas.openxmlformats.org/officeDocument/2006/relationships/slide" Target="/ppt/slides/slide5.xml" Id="Rc2888ee22d164625" /><Relationship Type="http://schemas.openxmlformats.org/officeDocument/2006/relationships/slide" Target="/ppt/slides/slide6.xml" Id="Rc09b0d1378694e6e" /><Relationship Type="http://schemas.openxmlformats.org/officeDocument/2006/relationships/slide" Target="/ppt/slides/slide7.xml" Id="R8a9444609b85449c" /><Relationship Type="http://schemas.openxmlformats.org/officeDocument/2006/relationships/slide" Target="/ppt/slides/slide8.xml" Id="R871b77de0b4f4d5f" /><Relationship Type="http://schemas.openxmlformats.org/officeDocument/2006/relationships/slide" Target="/ppt/slides/slide9.xml" Id="Rd5d26e6ffb224c8a" /><Relationship Type="http://schemas.openxmlformats.org/officeDocument/2006/relationships/slide" Target="/ppt/slides/slide10.xml" Id="Rd703882165534db9" /><Relationship Type="http://schemas.openxmlformats.org/officeDocument/2006/relationships/slide" Target="/ppt/slides/slide11.xml" Id="R33c7354fb9b743e0" /><Relationship Type="http://schemas.openxmlformats.org/officeDocument/2006/relationships/slide" Target="/ppt/slides/slide12.xml" Id="R7d820e73ad98463b" /><Relationship Type="http://schemas.openxmlformats.org/officeDocument/2006/relationships/slide" Target="/ppt/slides/slide13.xml" Id="Re69ba89e56b64176" /><Relationship Type="http://schemas.openxmlformats.org/officeDocument/2006/relationships/slide" Target="/ppt/slides/slide14.xml" Id="Re971d3963700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65d0b9a0a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098b0100a4fe0" /><Relationship Type="http://schemas.openxmlformats.org/officeDocument/2006/relationships/notesMaster" Target="/ppt/notesMasters/notesMaster1.xml" Id="Rddb479b2c43447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6eb2182fb94266" /><Relationship Type="http://schemas.openxmlformats.org/officeDocument/2006/relationships/notesMaster" Target="/ppt/notesMasters/notesMaster1.xml" Id="R2d57ffe8498342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78e412e50646cc" /><Relationship Type="http://schemas.openxmlformats.org/officeDocument/2006/relationships/notesMaster" Target="/ppt/notesMasters/notesMaster1.xml" Id="R9c503b4ae8a04f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d2b771dcfb41d8" /><Relationship Type="http://schemas.openxmlformats.org/officeDocument/2006/relationships/notesMaster" Target="/ppt/notesMasters/notesMaster1.xml" Id="R431b770caf9b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2a2348dab54f00" /><Relationship Type="http://schemas.openxmlformats.org/officeDocument/2006/relationships/notesMaster" Target="/ppt/notesMasters/notesMaster1.xml" Id="Rdef229b92fa943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d05e4fc3b4555" /><Relationship Type="http://schemas.openxmlformats.org/officeDocument/2006/relationships/notesMaster" Target="/ppt/notesMasters/notesMaster1.xml" Id="R5a825768a4264c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843984b12448f3" /><Relationship Type="http://schemas.openxmlformats.org/officeDocument/2006/relationships/notesMaster" Target="/ppt/notesMasters/notesMaster1.xml" Id="Rb1bca3214a744e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4e4f151e774d1a" /><Relationship Type="http://schemas.openxmlformats.org/officeDocument/2006/relationships/notesMaster" Target="/ppt/notesMasters/notesMaster1.xml" Id="R23aeefd44e1b49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e5938f43994fed" /><Relationship Type="http://schemas.openxmlformats.org/officeDocument/2006/relationships/notesMaster" Target="/ppt/notesMasters/notesMaster1.xml" Id="R5d96ecc8404d4e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46f64a393043c3" /><Relationship Type="http://schemas.openxmlformats.org/officeDocument/2006/relationships/notesMaster" Target="/ppt/notesMasters/notesMaster1.xml" Id="Rd3727a57014848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c51aacdede447e" /><Relationship Type="http://schemas.openxmlformats.org/officeDocument/2006/relationships/notesMaster" Target="/ppt/notesMasters/notesMaster1.xml" Id="Rb5ed76b1c2054c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570173e204404c" /><Relationship Type="http://schemas.openxmlformats.org/officeDocument/2006/relationships/notesMaster" Target="/ppt/notesMasters/notesMaster1.xml" Id="R4b3b4482b9f544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d1d26f0ea64433" /><Relationship Type="http://schemas.openxmlformats.org/officeDocument/2006/relationships/notesMaster" Target="/ppt/notesMasters/notesMaster1.xml" Id="R336c584f51664a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ee306d7eee4dc4" /><Relationship Type="http://schemas.openxmlformats.org/officeDocument/2006/relationships/notesMaster" Target="/ppt/notesMasters/notesMaster1.xml" Id="R9c2f2ed5f0ee4b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prompt: What do you notice about the shape before I explain it? Accept observations only; do not name the model yet. Keep personal disclosure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Yerkes &amp; Dodson (1908): https://onlinelibrary.wiley.com/doi/10.1002/cne.920180503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learning intention and success criteria. Ask students to paraphrase the three verbs: locate, match, explain. This is the reference point for the final self-check.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Victorian Department of Education HITS: https://www.education.vic.gov.au/Documents/school/teachers/support/highimpactteachstrat.docx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seconds silent think, then 60 seconds in pairs. Do not confirm immediately. Listen for evidence about attention, energy and control rather than a claim that one feeling is always best. Likely choice: B for this familiar, short task, but the next slides complicate that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Victorian Department of Education HITS: https://www.education.vic.gov.au/Documents/school/teachers/support/highimpactteachstrat.docx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 explanation: arousal means how activated or switched-on the body and mind are. Moving from very low to moderate activation can improve energy and attention. Beyond a point, extra activation can interfere with attention, memory and control. Ask students to connect the curve to the three cases on slide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Yerkes &amp; Dodson (1908): https://onlinelibrary.wiley.com/doi/10.1002/cne.920180503</a:t>
            </a:r>
          </a:p>
          <a:p xmlns:a="http://schemas.openxmlformats.org/drawingml/2006/main">
            <a:r>
              <a:t>- Diamond et al. review: https://pmc.ncbi.nlm.nih.gov/articles/PMC2657838/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 note for students: the famous curve is a later generalisation from a 1908 mouse-learning study using electric shock. Treat it as a thinking tool, not a diagnostic test or a promise that everyone has the same optimum. The two lines are conceptual, not measured class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Yerkes &amp; Dodson (1908): https://onlinelibrary.wiley.com/doi/10.1002/cne.920180503</a:t>
            </a:r>
          </a:p>
          <a:p xmlns:a="http://schemas.openxmlformats.org/drawingml/2006/main">
            <a:r>
              <a:t>- Teigen (1994): https://journals.sagepub.com/doi/10.1177/0959354394044004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20 seconds of private think time. No student is required to report a body symptom. Invite fictional examples if discussing aloud. Emphasise patterns: one clue alone does not diagnose anxiety.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Headspace anxiety signs: https://headspace.org.au/explore-topics/for-young-people/anxiety/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Pairs place A-D on a hand-drawn curve or point on the projected curve. Expected reasoning: A low; B around ready for a familiar short speech; C high; D may be ready for a physical task even if it looks high for a complex thinking task. Ask: Why might D move if the task changed to solving an unfamiliar equation?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Victorian Department of Education HITS: https://www.education.vic.gov.au/Documents/school/teachers/support/highimpactteachstrat.docx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Think aloud through the evidence. Reappraisal does not mean pretending distress is pleasant; it means interpreting manageable activation as potentially useful. Then give a contrasting example and ask students which step would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Jamieson et al. (2010): https://pmc.ncbi.nlm.nih.gov/articles/PMC3410434/</a:t>
            </a:r>
          </a:p>
          <a:p xmlns:a="http://schemas.openxmlformats.org/drawingml/2006/main">
            <a:r>
              <a:t>- Jamieson et al. (2016): https://eric.ed.gov/?id=ED566260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4-in/6-out pace without asking anyone to hold their breath. Students who feel dizzy or uncomfortable should stop and breathe normally. Point out that strategies are experiments, not guarantees; if one does not help, choose another or seek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Laborde et al. (2022): https://research.leedstrinity.ac.uk/en/publications/effects-of-voluntary-slow-breathing-on-heart-rate-and-heart-rate-</a:t>
            </a:r>
          </a:p>
          <a:p xmlns:a="http://schemas.openxmlformats.org/drawingml/2006/main">
            <a:r>
              <a:t>- Jamieson et al. (2010): https://pmc.ncbi.nlm.nih.gov/articles/PMC3410434/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need scrap paper. Explain that Scan A and B are similar but not identical, and practice effects may influence the second score. The trial is for noticing and choosing, not diagnosing or proving a treatment effect. Answer count for each scan: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Victorian Department of Education HITS: https://www.education.vic.gov.au/Documents/school/teachers/support/highimpactteachstrat.docx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 for exactly 30 seconds, then advance. There are 18 instances of 42. Do not discuss answers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 for exactly 30 seconds, then advance. There are 18 instances of 27. Remind students that score change can reflect practice or random error as well as strategy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reflection before discussing. Pair feedback stem: ‘Your evidence supports/doesn’t yet support your claim because…’ Collect the 0-1-2 self-check as an exit ticket or use hands/fingers for a quick scan of the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Victorian Department of Education HITS: https://www.education.vic.gov.au/Documents/school/teachers/support/highimpactteachstrat.docx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re-stating the boundary: arousal-management strategies are not a substitute for professional support. Remind students of the school’s actual referral pathway and local procedures before presenting this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Headspace: https://headspace.org.au/explore-topics/for-young-people/anxiety/</a:t>
            </a:r>
          </a:p>
          <a:p xmlns:a="http://schemas.openxmlformats.org/drawingml/2006/main">
            <a:r>
              <a:t>- Healthdirect Australia: https://www.healthdirect.gov.au/anxiety</a:t>
            </a:r>
          </a:p>
          <a:p xmlns:a="http://schemas.openxmlformats.org/drawingml/2006/main">
            <a:r>
              <a:t>- Beyond Blue: https://www.beyondblue.org.au/mental-health/anxiety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5c78ad2d341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1defae8324758" /><Relationship Type="http://schemas.openxmlformats.org/officeDocument/2006/relationships/slideLayout" Target="/ppt/slideLayouts/slideLayout1.xml" Id="Rf8386f27f6044c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386f27f6044c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0513eee2a45c4" /><Relationship Type="http://schemas.openxmlformats.org/officeDocument/2006/relationships/chart" Target="/ppt/slides/charts/chart1.xml" Id="Rf35e0eb1a13f4c67" /><Relationship Type="http://schemas.openxmlformats.org/officeDocument/2006/relationships/notesSlide" Target="/ppt/notesSlides/notesSlide1.xml" Id="R26bdca23cfd7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9104ef34c4cb1" /><Relationship Type="http://schemas.openxmlformats.org/officeDocument/2006/relationships/notesSlide" Target="/ppt/notesSlides/notesSlide2.xml" Id="R71e85ecf82cd45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59861a5384321" /><Relationship Type="http://schemas.openxmlformats.org/officeDocument/2006/relationships/notesSlide" Target="/ppt/notesSlides/notesSlide3.xml" Id="R4214140eee85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811b906e94e9a" /><Relationship Type="http://schemas.openxmlformats.org/officeDocument/2006/relationships/chart" Target="/ppt/slides/charts/chart2.xml" Id="Rcf9ba4f22545434c" /><Relationship Type="http://schemas.openxmlformats.org/officeDocument/2006/relationships/notesSlide" Target="/ppt/notesSlides/notesSlide4.xml" Id="R694e6403f51346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10a9a7db049d8" /><Relationship Type="http://schemas.openxmlformats.org/officeDocument/2006/relationships/chart" Target="/ppt/slides/charts/chart3.xml" Id="R50cd1d8a4ff04f16" /><Relationship Type="http://schemas.openxmlformats.org/officeDocument/2006/relationships/notesSlide" Target="/ppt/notesSlides/notesSlide5.xml" Id="R816b23eb281f4f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d61f559374f20" /><Relationship Type="http://schemas.openxmlformats.org/officeDocument/2006/relationships/notesSlide" Target="/ppt/notesSlides/notesSlide6.xml" Id="Rff3c1f2617fd42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1e2baf6df49a6" /><Relationship Type="http://schemas.openxmlformats.org/officeDocument/2006/relationships/notesSlide" Target="/ppt/notesSlides/notesSlide7.xml" Id="Rcf94b625c28b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c95aea3624f99" /><Relationship Type="http://schemas.openxmlformats.org/officeDocument/2006/relationships/notesSlide" Target="/ppt/notesSlides/notesSlide8.xml" Id="R145657271c1548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2668fb8f04444" /><Relationship Type="http://schemas.openxmlformats.org/officeDocument/2006/relationships/notesSlide" Target="/ppt/notesSlides/notesSlide9.xml" Id="Rc3593aaaa86f44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6600671404468" /><Relationship Type="http://schemas.openxmlformats.org/officeDocument/2006/relationships/notesSlide" Target="/ppt/notesSlides/notesSlide10.xml" Id="R7531be7f4cc041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2910db5644123" /><Relationship Type="http://schemas.openxmlformats.org/officeDocument/2006/relationships/notesSlide" Target="/ppt/notesSlides/notesSlide11.xml" Id="Rdc3f0246848541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8ec324ba54f58" /><Relationship Type="http://schemas.openxmlformats.org/officeDocument/2006/relationships/notesSlide" Target="/ppt/notesSlides/notesSlide12.xml" Id="R9537a789b98b48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8095a5be24687" /><Relationship Type="http://schemas.openxmlformats.org/officeDocument/2006/relationships/notesSlide" Target="/ppt/notesSlides/notesSlide13.xml" Id="R10390e77d4fe4e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283c3ea6149ca" /><Relationship Type="http://schemas.openxmlformats.org/officeDocument/2006/relationships/notesSlide" Target="/ppt/notesSlides/notesSlide14.xml" Id="R13c71a2bf03a4a5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Performance</c:v>
          </c:tx>
          <c:spPr>
            <a:ln xmlns:a="http://schemas.openxmlformats.org/drawingml/2006/main" w="57150">
              <a:solidFill>
                <a:srgbClr val="E35D55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25</c:v>
              </c:pt>
              <c:pt idx="2">
                <c:v>52</c:v>
              </c:pt>
              <c:pt idx="3">
                <c:v>78</c:v>
              </c:pt>
              <c:pt idx="4">
                <c:v>94</c:v>
              </c:pt>
              <c:pt idx="5">
                <c:v>82</c:v>
              </c:pt>
              <c:pt idx="6">
                <c:v>56</c:v>
              </c:pt>
              <c:pt idx="7">
                <c:v>28</c:v>
              </c:pt>
              <c:pt idx="8">
                <c:v>10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24242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24242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Performance</c:v>
          </c:tx>
          <c:spPr>
            <a:ln xmlns:a="http://schemas.openxmlformats.org/drawingml/2006/main" w="57150">
              <a:solidFill>
                <a:srgbClr val="242424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23</c:v>
              </c:pt>
              <c:pt idx="2">
                <c:v>48</c:v>
              </c:pt>
              <c:pt idx="3">
                <c:v>76</c:v>
              </c:pt>
              <c:pt idx="4">
                <c:v>95</c:v>
              </c:pt>
              <c:pt idx="5">
                <c:v>80</c:v>
              </c:pt>
              <c:pt idx="6">
                <c:v>54</c:v>
              </c:pt>
              <c:pt idx="7">
                <c:v>27</c:v>
              </c:pt>
              <c:pt idx="8">
                <c:v>8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24242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24242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Complex or new</c:v>
          </c:tx>
          <c:spPr>
            <a:ln xmlns:a="http://schemas.openxmlformats.org/drawingml/2006/main" w="47625">
              <a:solidFill>
                <a:srgbClr val="E35D55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>General</c:formatCode>
              <c:ptCount val="9"/>
              <c:pt idx="0">
                <c:v>12</c:v>
              </c:pt>
              <c:pt idx="1">
                <c:v>47</c:v>
              </c:pt>
              <c:pt idx="2">
                <c:v>86</c:v>
              </c:pt>
              <c:pt idx="3">
                <c:v>96</c:v>
              </c:pt>
              <c:pt idx="4">
                <c:v>76</c:v>
              </c:pt>
              <c:pt idx="5">
                <c:v>48</c:v>
              </c:pt>
              <c:pt idx="6">
                <c:v>28</c:v>
              </c:pt>
              <c:pt idx="7">
                <c:v>16</c:v>
              </c:pt>
              <c:pt idx="8">
                <c:v>10</c:v>
              </c:pt>
            </c:numLit>
          </c:val>
        </c:ser>
        <c:ser>
          <c:idx val="1"/>
          <c:order val="1"/>
          <c:tx>
            <c:v>Simple or practised</c:v>
          </c:tx>
          <c:spPr>
            <a:ln xmlns:a="http://schemas.openxmlformats.org/drawingml/2006/main" w="47625">
              <a:solidFill>
                <a:srgbClr val="2D7D7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>General</c:formatCode>
              <c:ptCount val="9"/>
              <c:pt idx="0">
                <c:v>5</c:v>
              </c:pt>
              <c:pt idx="1">
                <c:v>15</c:v>
              </c:pt>
              <c:pt idx="2">
                <c:v>31</c:v>
              </c:pt>
              <c:pt idx="3">
                <c:v>52</c:v>
              </c:pt>
              <c:pt idx="4">
                <c:v>74</c:v>
              </c:pt>
              <c:pt idx="5">
                <c:v>92</c:v>
              </c:pt>
              <c:pt idx="6">
                <c:v>96</c:v>
              </c:pt>
              <c:pt idx="7">
                <c:v>83</c:v>
              </c:pt>
              <c:pt idx="8">
                <c:v>58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24242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24242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49CA0-DA71-40AF-B486-2A908A2F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WHEN NERVES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HELP — AND HURT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FE898-29F5-4A4A-80F3-CE371E55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6645F"/>
                </a:solidFill>
                <a:latin typeface="Aptos"/>
                <a:ea typeface="Aptos"/>
                <a:cs typeface="Aptos"/>
              </a:rPr>
              <a:t>Using arousal to get ready for a challenge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38875" y="723900"/>
          <a:ext xmlns:a="http://schemas.openxmlformats.org/drawingml/2006/main" cx="4905375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e0eb1a13f4c6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5B4A3-7131-4171-BC41-8A476653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TOO LITTLE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95776-81C2-46FF-8FA2-EDB502B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B5C0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5C05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AB50B-F618-4031-A176-A814215F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3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TOO MUCH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DDDD1-2322-4FC7-A817-13B8519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5D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9C01B-F4BB-49BF-8DA8-C8D1511F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ANXIETY · SESSION 4</a:t>
            </a:r>
          </a:p>
        </p:txBody>
      </p:sp>
    </p:spTree>
    <p:extLst>
      <p:ext uri="{BB962C8B-B14F-4D97-AF65-F5344CB8AC3E}">
        <p14:creationId xmlns:p14="http://schemas.microsoft.com/office/powerpoint/2010/main" val="2042761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8671D-555C-4590-B1D5-705A9145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07EC-972B-4535-BA1C-837DA2E9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10EDE-0CDA-4C12-A5A5-186306C9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Today: notice, choose,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474B3-2D86-447F-841B-DC3F1A4A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D37E1-2972-4570-972E-24268A4B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42F77-356D-4277-BA87-30A5A535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Learning intention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B112D-5100-41B0-82B9-1FB839E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762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Understand how arousal can affect performance — and choose a response that fits your current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F015B-6C4C-4603-9D68-CEDBDFA0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54859-04A4-41A2-8323-8FC383FE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192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C25DF-C6DE-465E-AEA4-BB64E96A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76475"/>
            <a:ext cx="4762500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I can…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1  locate a scenario on the curve and use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2  match a strategy to low, ready or high arousal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3  explain one limit of the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09DE2-E11F-4225-AD44-23A6938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645F"/>
                </a:solidFill>
                <a:latin typeface="Aptos"/>
                <a:ea typeface="Aptos"/>
                <a:cs typeface="Aptos"/>
              </a:rPr>
              <a:t>You can pass on sharing personal information. Examples can stay fictional.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AEB64-4F44-4192-B881-5587B7EC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B045F-9604-4ED1-A094-EBC9F8E2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4F51A-CA67-4F10-A73C-D89420B8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Today: notice, choose,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C395E-A96C-47A7-934D-08B3B49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B321D-416E-4FCD-92B7-8C638E7C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4426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C25BB-F5B6-4C86-9536-B36AB2D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290BA-6EA8-4653-823B-D1CB171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CB74B-2ACE-4106-A1F3-5CCE21D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Who is most ready to present?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59B52-3F7E-48F0-8C7F-2435E76D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783D0-F8B6-4EE0-8A2D-742B29B0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28669-442D-42F9-937C-30EF8BDE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A · 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1C574-B7ED-4F06-A5CC-E67EDBCA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378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Slumped in the chair.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Attention drifts.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No urgency to begin.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1C75A-92CC-4ACF-AEE2-125A2558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196215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65EC2-9742-441B-A869-8905478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962150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8B5C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5C05"/>
                </a:solidFill>
                <a:latin typeface="Aptos"/>
                <a:ea typeface="Aptos"/>
                <a:cs typeface="Aptos"/>
              </a:rPr>
              <a:t>B · SOME NERVES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513EF-6F03-4833-925C-7E7AC98E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14600"/>
            <a:ext cx="3378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Heart is beating faster.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Focused on the first line.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Wants to get started.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CF85F-1F6A-45D6-A937-9FC77D5F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96215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AE86B-C5EF-485F-AC29-2ED5F35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962150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C · OVERLOADED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DE5E0-5EC8-4E9A-9AB6-12939DAF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514600"/>
            <a:ext cx="3378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Breathing is quick.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Mind feels blank.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Wants to escape.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AD481-DBB4-4C2F-BC08-8550A798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THINK → PAIR →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4118D-54C7-4A76-BB2E-93D4447A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Choose A, B or C. What evidence supports your choice?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DDF9F-8DA2-4F67-9817-49341BE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989CD-7256-46AE-9F75-CA9DDB5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480EC-1395-4458-8C1E-3EAEBEA0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Who is most ready to present?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065D9-B2B1-49CA-AFE5-0E22E00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9FD17-FC78-46BA-9147-8884CF8A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9703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209CA-30F6-4513-AE9B-3ED43076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25263-5EEA-49BA-8506-AA99E243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9B292-C98F-4417-B19B-F9D9E050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Arousal helps — until it doesn’t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11F60-3C0E-48D5-8846-4D25F36E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3F4D7-C1AF-49A1-8D5B-30CF7966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352550" y="1676400"/>
          <a:ext xmlns:a="http://schemas.openxmlformats.org/drawingml/2006/main" cx="9486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9ba4f22545434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6714D-66E1-45E5-82F5-2F95E279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61805-0453-40A4-B2E3-23569DBC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48250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02076-C5E9-416A-9B64-63789A01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48250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DCA26-80F5-4EB3-B9D2-1B2592FC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2EA80-A186-4C2A-B9F7-4C5453D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00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5C0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B5C05"/>
                </a:solidFill>
                <a:latin typeface="Aptos"/>
                <a:ea typeface="Aptos"/>
                <a:cs typeface="Aptos"/>
              </a:rPr>
              <a:t>READY 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C00C8-FA8F-4924-BAFC-B79F048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00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39F9F-497D-481B-98EE-CF40B8F3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667375"/>
            <a:ext cx="1895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AROUSAL 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B3713-8BE3-4A0F-97E4-2588498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05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D7D78"/>
                </a:solidFill>
                <a:latin typeface="Aptos"/>
                <a:ea typeface="Aptos"/>
                <a:cs typeface="Aptos"/>
              </a:rPr>
              <a:t>under-alert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D7D78"/>
                </a:solidFill>
                <a:latin typeface="Aptos"/>
                <a:ea typeface="Aptos"/>
                <a:cs typeface="Aptos"/>
              </a:rPr>
              <a:t>slow · distracted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B0F48-B990-4AD4-9D99-6680A8D8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859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B5C0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5C05"/>
                </a:solidFill>
                <a:latin typeface="Aptos"/>
                <a:ea typeface="Aptos"/>
                <a:cs typeface="Aptos"/>
              </a:rPr>
              <a:t>alert + in control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B5C0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5C05"/>
                </a:solidFill>
                <a:latin typeface="Aptos"/>
                <a:ea typeface="Aptos"/>
                <a:cs typeface="Aptos"/>
              </a:rPr>
              <a:t>focused · responsive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BF11F-6CDA-4E73-9CEA-3BDA6A9D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35D55"/>
                </a:solidFill>
                <a:latin typeface="Aptos"/>
                <a:ea typeface="Aptos"/>
                <a:cs typeface="Aptos"/>
              </a:rPr>
              <a:t>overloaded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35D55"/>
                </a:solidFill>
                <a:latin typeface="Aptos"/>
                <a:ea typeface="Aptos"/>
                <a:cs typeface="Aptos"/>
              </a:rPr>
              <a:t>rushed · narrowed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84BA0-C379-4915-B178-81F63D59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ACCAF-1CDE-43DB-84F8-D4993743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57A33-C5D5-46F8-8612-46304C1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Arousal helps — until it doesn’t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46699-CFD2-47E7-AC6C-7C81CD8C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37C16-EC28-4749-8BE7-3873345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6852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E5FFF-0796-4C44-9351-FF0D856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DC1EB-9C90-4D21-8F7C-6D88D7DC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48320-D165-4C05-82D6-3B3907B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Useful model. Not a universal law.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EA26B-926D-46F5-9793-2C6E398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03CA7-208F-4FDB-9575-0E2476FA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905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cd1d8a4ff04f1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FFA35-260B-4605-BCB9-8EA81F9B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9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5D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C8C81-8125-4BCD-9F4F-FFC65FC6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complex / new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42D4D-CE72-4170-83A4-D8ACCF51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19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7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BCD1C-A79F-417D-B66D-E4DC2D6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simple / practised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E57B8-8DAF-449C-BDC9-FD001CA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The ‘best’ zone can move.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22134-1316-4546-A81F-AD460C5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95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It depends on the task, how familiar it is, and the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A difficult or unfamiliar task may need a calmer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AROUSAL is activation. ANXIETY is an experience that includes thoughts and feelings — and can become a health condition when it persists and disrupts life.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537CF-F7C2-49F8-9715-8EDCB260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7A43D-8FC9-4D0B-84B9-9306967D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3DCC9-3AB1-4A6F-999A-A06DC4FA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Useful model. Not a universal law.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5C44B-42FC-4230-8B46-3623FE2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02B82-6887-499F-941E-4D1300B3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2459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08537-E837-4DF9-94A7-8734B899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171EF-4296-402E-A9E8-F3723887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FB680-6E1F-45B9-8F5E-92DECC54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Arousal leaves clues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86AA8-8A8C-48CA-87C4-35427974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DFE29-AE60-45ED-AAB9-6829D5D3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FBB1F-39C0-42C4-8097-2E7483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BODY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05DAD-7C21-4D59-AD40-43578E2D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378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heartbeat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breathing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muscle tension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energy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C08B0-E6A8-4FB5-9F91-978370DB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1952625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82B7E-DE73-4B1B-9401-F1B3D38E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952625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486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86A8A"/>
                </a:solidFill>
                <a:latin typeface="Aptos"/>
                <a:ea typeface="Aptos"/>
                <a:cs typeface="Aptos"/>
              </a:rPr>
              <a:t>THOUGHTS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7AA82-4737-4A08-857C-4D05CD58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05075"/>
            <a:ext cx="3378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clear or scattered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helpful or threatening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wide or narrow attention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0DAA5-C190-4509-9646-F9454B2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952625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7A5B6-00AA-4A72-B0C1-CBF02695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952625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84A94-0CF1-4517-8175-DC6906AD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505075"/>
            <a:ext cx="3378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start or delay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steady or rushed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approach or avoid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F83F2-14DC-4BCF-A973-4BFA05A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QUICK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3F732-084F-4709-959D-E11B22C5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Privately choose one clue you could notice before a test, performance or difficult conversation.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6DE65-54BF-40BD-9040-4DD88FC0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C602E-8CE1-4317-B725-7C9105B9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2222F-304B-48A4-A80D-9D0AD8E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Arousal leaves clues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3C8F5-F678-44E7-91F5-B22D9571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0C719-7D6C-4C2C-A2FA-FEAD9066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0773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9EBF2-A1FF-4AF3-8136-9340441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9DDD6-AFA4-48A9-9021-B0E7FEB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A7836-AE1C-4B8E-A7CA-348F62E8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Place each person on the curve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86233-680F-4CA6-8286-C04D2A78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C71B6-AFB1-4813-B76B-45E48A7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4C65F-3F4A-4624-A248-E6277434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3F9F3-F456-44B6-9A86-9252DD6B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Before a quiz: yawning, staring out the window, not starting.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8A9B8-634F-42D5-85E9-BFD28CC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39A3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39A36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0BCCC-4238-4C73-B4AC-250ED379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Before a speech: heart faster, knows the first line, focused on beginning.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23150-A6F2-4B09-92C3-8ABF4E1E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B6F35-B52B-4EC0-875A-221F6009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Before a speech: mind blank, hands shaking, wants to leave.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1F047-7823-4DF1-9085-598D2612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86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86A8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07A4D-6E34-4A7B-8132-7CB1D87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Before a sprint: breathing hard after a warm-up and eager to go.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9DB61-A3B6-4E0C-BD54-C0B1B40B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88527-F833-4747-A983-2DB5192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95825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604CC-A2F2-4233-9F12-03A6E9DC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95825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9554F-52F4-4BE5-AA67-54B7F274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FF77A-0FEF-4ACE-88A3-CE721A8F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482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5C0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B5C05"/>
                </a:solidFill>
                <a:latin typeface="Aptos"/>
                <a:ea typeface="Aptos"/>
                <a:cs typeface="Aptos"/>
              </a:rPr>
              <a:t>READY ZONE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E40C5-98E5-4F46-B0F8-F97C97C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482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9CC7B-1757-45B8-915F-EA30BE2C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314950"/>
            <a:ext cx="1895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AROUSAL 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AE1EB-C7C2-40E4-B788-974D7C92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In pairs: place A–D, then defend one placement with a body, thought or action clue.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1D0C1-853F-4FE2-B4C5-45899409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9FB7-8964-4451-9378-488B83A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7DBCA-F206-4ADF-8DB5-16AA0D73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Place each person on the curve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E4DBC-6DF2-464A-AC74-EDE465F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06A25-BF51-4B5D-AE3C-0C604C21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9743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5ACA1-6D75-4BF0-A884-72B6343B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85420-0311-4621-BE47-2DBFE41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33BB2-F41A-401C-8D01-948479AC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Worked example: use the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1DF73-0D47-4B3F-98A9-41B9A0EF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B9E57-2B0E-428C-971F-774E80B8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252EB-22BE-4534-8E46-7D392A42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Jordan has a two-minute speech. Their heart is faster and breathing is quick, but they remember the first sentence and want to begin.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4488F-0AA9-433A-AF81-514C03F6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AE31B-992F-4A59-A40F-34CED52C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1 ·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69D7B-D150-487F-AEDA-C28731F4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378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Body is activated.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Attention is still usable.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266CB-8B4E-445D-8113-B16582F3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320040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A8644-574D-472D-81B6-9EB58CEA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00400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D39A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39A36"/>
                </a:solidFill>
                <a:latin typeface="Aptos"/>
                <a:ea typeface="Aptos"/>
                <a:cs typeface="Aptos"/>
              </a:rPr>
              <a:t>2 · LOCATE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377B2-959B-44A6-8FC9-900D2383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52850"/>
            <a:ext cx="3378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Likely near the ready zone — not zero nerves.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D2354-78CC-4377-93E2-0AB68CDF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20040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95A8A-E83B-4D63-B38E-EDBC517A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200400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3 · RESPOND +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6DF8E-6FA2-4386-A45F-0E4DC4A2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752850"/>
            <a:ext cx="3378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‘This energy can help.’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Pause, then test the first line clearly.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D7417-A45C-4A00-BF83-F9C2DB62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The goal is usable energy and control — not a perfectly calm feeling.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B5A6A-9A3C-4A45-B68B-C82F2D3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B4A04-D109-4469-B1F1-5A3CE66B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2D603-5F6E-4A71-B9D4-781E7622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Worked example: use the energy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00859-991F-49F9-B0BD-D9134D4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6F897-E31B-4ED4-97EC-BBD99FD0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9762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6C569-1F38-43EE-BE25-E5B1A93F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EC4EC-2A48-41C2-9F53-34397813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E3651-9773-428C-8FCD-BF495D64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Match the strategy to the zone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25F3B-1961-43BD-9743-C293AA4F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6D955-D5D4-40D5-AB76-44077AE8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8D68F-F698-4259-8DFD-780B7836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TOO LOW · ACTIVATE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6348C-F3D7-41E3-A143-F73F055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378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stand or move for 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name the first tiny step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use a short countdown to begin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91BA9-7609-4040-856D-F9E523F2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1952625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64F4E-431E-44E9-B37B-FA4B918D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952625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8B5C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5C05"/>
                </a:solidFill>
                <a:latin typeface="Aptos"/>
                <a:ea typeface="Aptos"/>
                <a:cs typeface="Aptos"/>
              </a:rPr>
              <a:t>READY · PROTECT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19689-E074-46FC-86E6-A4D6AF04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05075"/>
            <a:ext cx="3378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keep your routine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rehearse the first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don’t overcorrect useful nerves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A5D36-8FCD-4D78-89E2-F21BEFA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952625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DC4DB-5560-4FDA-B193-E619AAB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952625"/>
            <a:ext cx="337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TOO HIGH · SETTLE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D7914-7891-49CB-9C91-6249D7A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505075"/>
            <a:ext cx="3378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breathe in 4, out 6 ×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loosen jaw and shoulders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• narrow attention to the first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8098F-5DFF-4BB0-A13B-2E7E1EC6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486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86A8A"/>
                </a:solidFill>
                <a:latin typeface="Aptos"/>
                <a:ea typeface="Aptos"/>
                <a:cs typeface="Aptos"/>
              </a:rPr>
              <a:t>Language option: ‘My body is preparing me. I can use some of this energy.’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09880-BD74-46EA-A94D-3FEBCED3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928C5-6A5E-4C63-A96B-F2BC5A59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CDC61-E636-4EAC-A2F8-F5B5B272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Match the strategy to the zone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34F30-E51C-4DAE-8B18-D94EEAF0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A0AFC-7328-4AEB-AD76-A0F2324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0573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6DB82-026B-4C81-86F3-2977DB3E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2161E-6830-4989-B7E1-C9BCFC3A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DD0DB-3008-4466-AD64-90F3AA6C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Mini performance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6A6CA-A0CF-4B24-B30A-225F8257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B0ED6-88D0-4B9D-A8C1-20435CE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91177-CCBE-46A0-80A5-02E13EBC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CBFEE-0A0E-479D-B1D6-16998AA7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69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Rate your arousal privately: 0–10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69DC3-1AF8-4E22-BD35-B1FBDE8B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F69EA-159B-4FAA-8FFA-9934E8AF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65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Complete Scan A for 30 seconds. Record your 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F696A-D2E1-44E1-AE85-C3E98403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9EC5D-7E32-4847-871F-DC450636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Choose one matched strategy. Use it for 60 seconds.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7AD08-0D50-45C9-A082-7D5FD036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3AD09-1799-4E4B-9BE0-EF4806F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957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Complete Scan B for 30 seconds. Record your count.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F0928-ACDF-406A-9B79-2872326D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9867E-CC66-4325-8939-D3831059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Compare feeling + accuracy. One trial is evidence, not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0E1D3-FA31-44BA-A97A-690F2EC4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645F"/>
                </a:solidFill>
                <a:latin typeface="Aptos"/>
                <a:ea typeface="Aptos"/>
                <a:cs typeface="Aptos"/>
              </a:rPr>
              <a:t>Pass option: observe the class process without recording personal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3CAEC-6947-497E-995A-12971AE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DD2ED-8D99-4EA6-8E9E-3B28C81A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D5219-F4B9-4828-AE0E-A5915579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Mini performance lab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7093E-6F69-4AB1-B9AA-DD41A5AF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7D907-1115-4FB5-975F-93AFF63F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7943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E8359-2E9A-426E-A87D-A71CFA18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22B10-102B-4E05-80B5-7AE09822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3B3AF-BC6C-4D51-999E-DF1C4B50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Scan A · Count every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4CD16-B5E8-42C9-8FE4-2DD9094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C35C9-C461-40D8-97C9-4B6BD46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F6BB1-BD92-46AC-8F7E-E5A8F416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645F"/>
                </a:solidFill>
                <a:latin typeface="Aptos"/>
                <a:ea typeface="Aptos"/>
                <a:cs typeface="Aptos"/>
              </a:rPr>
              <a:t>30 seconds — accuracy matters more than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EC2E7-13C3-4B87-8585-3FEAABFC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0572750" cy="3590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88   42   31   78   88   74   42   15   78   85   24   63   13   73   87   13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60   47   56   27   85   99   79   68   42   44   41   43   64   40   34   42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42   58   74   87   80   42   75   48   26   68   43   87   87   46   27   30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45   73   23   14   64   65   12   42   59   21   43   42   60   87   37   57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38   19   78   87   97   91   14   93   19   97   58   19   89   74   40   42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63   65   95   76   42   75   23   22   64   13   93   66   76   17   12   35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40   88   43   13   80   12   62   69   87   99   34   60   17   34   82   19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93   36   77   42   31   52   28   21   21   39   78   60   32   81   72   14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36   27   74   39   42   51   43   70   42   48   89   66   32   52   15   56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34   86   62   71   93   33   73   63   42   70   31   64   17   55   54   83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86   55   27   36   30   42   92   87   14   42   43   84   13   42   58   73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59   52   73   60   65   79   66   69   89   39   54   65   13   59   42   97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62E14-43B4-4792-8AAD-5213028F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Record: ____ / 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0F80D-DB51-4A49-9E6F-2067A24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8620C-3116-444D-A08D-11C2F0A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8DDC3-1327-4FF6-84CF-D97AECF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Scan A · Count every 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D64B6-425E-4DD2-BD6A-0D480D6C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56288-D7C0-4809-A93F-96360230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9456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76D55-8257-4391-BD03-5A65019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EE7D-67B9-46AE-89E6-A9EC561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F02C8-4843-494B-B3B4-C13CD4D7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Scan B · Count every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A4B60-7B1F-4F9A-B68F-2F0BC547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32E80-646B-416A-A49B-B0FA8BF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F7B0D-46F2-48C5-A66B-E27F0684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645F"/>
                </a:solidFill>
                <a:latin typeface="Aptos"/>
                <a:ea typeface="Aptos"/>
                <a:cs typeface="Aptos"/>
              </a:rPr>
              <a:t>30 seconds — use the same 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517B0-E1E7-4624-A976-15901D60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0572750" cy="3590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35   99   72   95   85   25   12   54   27   27   94   90   93   42   58   25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64   54   32   94   71   32   15   55   13   21   60   65   41   48   24   32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98   18   52   41   16   27   88   53   61   17   55   60   22   77   27   27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29   76   22   48   58   91   61   46   16   82   69   28   89   41   96   34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83   52   27   13   61   40   62   28   81   69   74   50   27   15   44   93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42   54   30   27   90   43   40   31   73   27   13   28   51   58   27   12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82   34   19   98   82   10   29   95   82   85   52   95   28   42   32   65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76   58   89   44   52   25   34   42   47   69   19   31   44   16   33   63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80   47   21   27   35   79   15   70   27   79   23   40   28   31   12   40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85   27   45   27   19   84   53   81   96   70   73   78   58   27   12   28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48   61   12   57   65   48   61   94   12   91   62   82   31   83   36   23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defRPr>
            </a:pPr>
            <a:r>
              <a:rPr sz="2025" b="0">
                <a:solidFill>
                  <a:srgbClr val="242424"/>
                </a:solidFill>
                <a:latin typeface="Aptos Mono"/>
                <a:ea typeface="Aptos Mono"/>
                <a:cs typeface="Aptos Mono"/>
              </a:rPr>
              <a:t>10   49   10   27   69   27   37   24   52   27   22   23   47   18   29   31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DD92D-0D7B-43D9-A94C-8F4E90A9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Record: ____ / 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DD31B-A510-4988-B8BE-C1C378D3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5A37B-E648-404F-BCB9-673889FF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FA44B-6215-4A8D-9A9C-77CED66F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Scan B · Count every 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B0DFF-B7B7-4610-97EE-0685AB8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A0EB7-1334-43D9-8DE5-E169F0D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33406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14D1D-C22C-49AE-B00C-A97620F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94C68-F9E0-42E8-A952-3052117C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8013A-6979-4D14-87EC-A52009D3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Use evidence, then check the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155D7-5D7B-467E-BB19-181B1D19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84C86-5552-4B51-A820-4F5C3B5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84137-32FC-4F71-8E8A-A5790BD0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My arousal moved from ____ to ____.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D724B-93AE-427A-93B1-64F9A454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My count moved from ____ to ____ / 18.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C81E6-58CD-42D5-BD27-7A9AEC27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Next time I would __________ because __________.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27D65-FC92-4D4E-9CDD-1CD42A8B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1B55A-B3A6-4B29-8488-C0ED2344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SELF-CHECK · 0 = not yet   1 = partly   2 = securely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783FC-4D43-4E04-B6B6-E0A196E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981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__  I located a state on the curve using a clue.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__  I matched a strategy to the zone and explained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2424"/>
                </a:solidFill>
                <a:latin typeface="Aptos"/>
                <a:ea typeface="Aptos"/>
                <a:cs typeface="Aptos"/>
              </a:rPr>
              <a:t>__  I explained one reason the curve cannot predict everyone.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FE781-A3DD-43FA-968A-4A015DE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613E5-6B1E-424C-8483-839FC57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8C2F5-FE0D-4CE3-8063-A0E7C73E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Use evidence, then check the 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0377C-4FD1-427B-B2D7-330BCE28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01A0B-9367-4244-B9BA-7D11F84D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5520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0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8F766-86AE-4833-A2B1-0B95F1DF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AA9E0-72B9-4EE6-BD4E-2B035746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1DAF6-B65F-4156-915E-2C3749B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Ongoing anxiety deserves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DFCF4-997C-434E-982F-0272732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DEFE4-9EDC-44CC-8714-1262D866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2EE21-ADF5-4712-AE91-751D3DA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D7D7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7D78"/>
                </a:solidFill>
                <a:latin typeface="Aptos"/>
                <a:ea typeface="Aptos"/>
                <a:cs typeface="Aptos"/>
              </a:rPr>
              <a:t>Ordinary nerves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D93E3-03F0-4B48-8183-4A8291FB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61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Often linked to a challenge and ease after it passes.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47979-5405-46E9-9876-C26D78CC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0" cy="2228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53B76-94B6-4364-B8DC-8A4A98A2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6690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Get extra support when…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AA51F-117E-4830-A7DF-7E1CDFB7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4619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worry or panic is ongoing, hard to control, getting worse, or disrupting school, sleep, relationships or daily life.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F0814-9B24-4811-9D27-68EAE3C6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1727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2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752E5-516C-4EF6-A38C-431BD4FC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29150"/>
            <a:ext cx="963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Talk to a trusted adult, the school wellbeing team, a GP, headspace or Beyond Blue.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424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2424"/>
                </a:solidFill>
                <a:latin typeface="Aptos"/>
                <a:ea typeface="Aptos"/>
                <a:cs typeface="Aptos"/>
              </a:rPr>
              <a:t>If someone is in immediate danger, call 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D5868-E0A0-46BE-9D41-3E41CBC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00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645F"/>
                </a:solidFill>
                <a:latin typeface="Aptos"/>
                <a:ea typeface="Aptos"/>
                <a:cs typeface="Aptos"/>
              </a:rPr>
              <a:t>This lesson helps you notice and respond; it cannot diagnose an anxiety disorder.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6EE35-6119-487A-A6FF-A3E9DB68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"/>
            <a:ext cx="11449050" cy="611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5A023-9CEB-422D-9087-6C9D76F1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5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5D55"/>
                </a:solidFill>
                <a:latin typeface="Aptos"/>
                <a:ea typeface="Aptos"/>
                <a:cs typeface="Aptos"/>
              </a:rPr>
              <a:t>AROUSAL &amp;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BD604-C7A6-4601-88C8-046F683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42424"/>
                </a:solidFill>
                <a:latin typeface="Aptos Display"/>
                <a:ea typeface="Aptos Display"/>
                <a:cs typeface="Aptos Display"/>
              </a:rPr>
              <a:t>Ongoing anxiety deserves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C5547-14A6-4744-9EB8-2DB9CEAC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E74AC-2549-4F84-900C-47EE3998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66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645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55295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2026-08-10T04:38:53.7250000Z</dcterms:created>
  <dcterms:modified xsi:type="dcterms:W3CDTF">2026-08-10T04:38:53.7250000Z</dcterms:modified>
</coreProperties>
</file>