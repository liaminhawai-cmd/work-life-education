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3914" y="1417320"/>
            <a:ext cx="11484429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dirty="0">
                <a:solidFill>
                  <a:srgbClr val="FFFFFF"/>
                </a:solidFill>
                <a:latin typeface="Aptos Display"/>
              </a:rPr>
              <a:t>STUDY SMARTER</a:t>
            </a:r>
          </a:p>
          <a:p>
            <a:pPr algn="ctr"/>
            <a:r>
              <a:rPr sz="2500" dirty="0">
                <a:solidFill>
                  <a:srgbClr val="FFFFFF"/>
                </a:solidFill>
                <a:latin typeface="Aptos"/>
              </a:rPr>
              <a:t>3 common study myths — and what to do instead</a:t>
            </a:r>
            <a:endParaRPr lang="en-AU" sz="2500" dirty="0">
              <a:solidFill>
                <a:srgbClr val="FFFFFF"/>
              </a:solidFill>
              <a:latin typeface="Aptos"/>
            </a:endParaRPr>
          </a:p>
          <a:p>
            <a:pPr algn="ctr"/>
            <a:endParaRPr lang="en-AU" sz="250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en-US" i="1" dirty="0">
                <a:solidFill>
                  <a:schemeClr val="bg1"/>
                </a:solidFill>
              </a:rPr>
              <a:t>Based on research into learning and study strategies</a:t>
            </a:r>
            <a:r>
              <a:rPr lang="en-US" i="1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en-US" i="1">
                <a:solidFill>
                  <a:schemeClr val="bg1"/>
                </a:solidFill>
              </a:rPr>
              <a:t>including </a:t>
            </a:r>
            <a:r>
              <a:rPr lang="en-US" i="1" dirty="0">
                <a:solidFill>
                  <a:schemeClr val="bg1"/>
                </a:solidFill>
              </a:rPr>
              <a:t>work by Sean Kang, Associate Professor in the Science of Learning at the University of Melbourne.</a:t>
            </a:r>
            <a:endParaRPr lang="en-AU" dirty="0">
              <a:solidFill>
                <a:schemeClr val="bg1"/>
              </a:solidFill>
            </a:endParaRPr>
          </a:p>
          <a:p>
            <a:pPr algn="ctr"/>
            <a:endParaRPr sz="25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54480" y="3977639"/>
            <a:ext cx="9052560" cy="1005840"/>
          </a:xfrm>
          <a:prstGeom prst="roundRect">
            <a:avLst/>
          </a:prstGeom>
          <a:solidFill>
            <a:srgbClr val="EEF2F2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F3042"/>
                </a:solidFill>
                <a:latin typeface="Aptos Display"/>
              </a:rPr>
              <a:t>The goal: remember AND use what you 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Think about how you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96969"/>
                </a:solidFill>
                <a:latin typeface="Aptos"/>
              </a:rPr>
              <a:t>What do you usually do before an exam?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Read my notes or textbook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Highlight / underline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Make summary notes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Use flashcards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Do practice questions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Get someone to quiz me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Explain the topic to someone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Something else: __________________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MYTH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96969"/>
                </a:solidFill>
                <a:latin typeface="Aptos"/>
              </a:rPr>
              <a:t>“If I read my notes again and again, I'll remember everything.”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965960"/>
            <a:ext cx="8503920" cy="1325880"/>
          </a:xfrm>
          <a:prstGeom prst="roundRect">
            <a:avLst/>
          </a:prstGeom>
          <a:solidFill>
            <a:srgbClr val="F4EEE4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1F3042"/>
                </a:solidFill>
                <a:latin typeface="Aptos Display"/>
              </a:rPr>
              <a:t>Familiar ≠ remembered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Rereading can make information feel familiar.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But it is a relatively passive way to study.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It is more useful when combined with active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What to do instead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206240"/>
          </a:xfrm>
          <a:prstGeom prst="roundRect">
            <a:avLst/>
          </a:prstGeom>
          <a:solidFill>
            <a:srgbClr val="F2F6F6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367070"/>
                </a:solidFill>
                <a:latin typeface="Aptos Display"/>
              </a:rPr>
              <a:t>SPACE IT OUT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Study today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Review tomorrow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Come back a few days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4206240"/>
          </a:xfrm>
          <a:prstGeom prst="roundRect">
            <a:avLst/>
          </a:prstGeom>
          <a:solidFill>
            <a:srgbClr val="F2F6F6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367070"/>
                </a:solidFill>
                <a:latin typeface="Aptos Display"/>
              </a:rPr>
              <a:t>MIX IT UP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Reread briefly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Then test yourself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Use practice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Quick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96969"/>
                </a:solidFill>
                <a:latin typeface="Aptos"/>
              </a:rPr>
              <a:t>Retrieval practice: can you remember without looking?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332720" cy="1463040"/>
          </a:xfrm>
          <a:prstGeom prst="roundRect">
            <a:avLst/>
          </a:prstGeom>
          <a:solidFill>
            <a:srgbClr val="F2F6F6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F3042"/>
                </a:solidFill>
                <a:latin typeface="Aptos Display"/>
              </a:rPr>
              <a:t>Look at a short list for 30 seconds → hide it → write down everything you remember.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What did you remember?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What did you forget?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How did it feel to retrieve the information?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MYTH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96969"/>
                </a:solidFill>
                <a:latin typeface="Aptos"/>
              </a:rPr>
              <a:t>“If I feel confident, I must know the content.”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9966960" cy="1280160"/>
          </a:xfrm>
          <a:prstGeom prst="roundRect">
            <a:avLst/>
          </a:prstGeom>
          <a:solidFill>
            <a:srgbClr val="F4EEE4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042"/>
                </a:solidFill>
                <a:latin typeface="Aptos Display"/>
              </a:rPr>
              <a:t>Confidence can be misleading when the notes are in front of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747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Seeing information repeatedly can make it feel easy.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An exam asks you to remember and use information without your notes.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The best test is what you can do when the support is removed.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Make study more like the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📚 Put your notes away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⏱️ Set a timer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✍️ Answer practice questions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✅ Check your answers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🔎 Identify what you need to improve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🔁 Practise the weak areas again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MYTH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96969"/>
                </a:solidFill>
                <a:latin typeface="Aptos"/>
              </a:rPr>
              <a:t>“Studying means getting information into my head.”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206240"/>
          </a:xfrm>
          <a:prstGeom prst="roundRect">
            <a:avLst/>
          </a:prstGeom>
          <a:solidFill>
            <a:srgbClr val="F2F6F6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367070"/>
                </a:solidFill>
                <a:latin typeface="Aptos Display"/>
              </a:rPr>
              <a:t>GET IT IN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Read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Watch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Take notes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Learn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4206240"/>
          </a:xfrm>
          <a:prstGeom prst="roundRect">
            <a:avLst/>
          </a:prstGeom>
          <a:solidFill>
            <a:srgbClr val="F2F6F6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>
                <a:solidFill>
                  <a:srgbClr val="367070"/>
                </a:solidFill>
                <a:latin typeface="Aptos Display"/>
              </a:rPr>
              <a:t>GET IT OUT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Remember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Answer questions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Explain</a:t>
            </a:r>
          </a:p>
          <a:p>
            <a:pPr>
              <a:spcBef>
                <a:spcPts val="1000"/>
              </a:spcBef>
              <a:defRPr sz="1900">
                <a:solidFill>
                  <a:srgbClr val="2D2D2D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Retrieval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96969"/>
                </a:solidFill>
                <a:latin typeface="Aptos"/>
              </a:rPr>
              <a:t>Practise getting information OUT of your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🧠 Flashcards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❓ Practice quizzes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✍️ Brain dumps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📖 End-of-chapter questions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🗣️ Explain the topic to someone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⏸️ Pause and recall key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Strategy #1: Ask yourself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737360"/>
            <a:ext cx="9966960" cy="1234440"/>
          </a:xfrm>
          <a:prstGeom prst="roundRect">
            <a:avLst/>
          </a:prstGeom>
          <a:solidFill>
            <a:srgbClr val="F2F6F6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042"/>
                </a:solidFill>
                <a:latin typeface="Aptos Display"/>
              </a:rPr>
              <a:t>Don't just memorise a fact. Ask: “Why is this true?”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Example: Germany invaded Poland.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Ask: Why did this happen?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Connect the new information to what you already know.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Making connections can make information easier to retrieve later.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Strategy #2: Explain it to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691640"/>
            <a:ext cx="10149840" cy="1325880"/>
          </a:xfrm>
          <a:prstGeom prst="roundRect">
            <a:avLst/>
          </a:prstGeom>
          <a:solidFill>
            <a:srgbClr val="F4EEE4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F3042"/>
                </a:solidFill>
                <a:latin typeface="Aptos Display"/>
              </a:rPr>
              <a:t>Pretend you're teaching someone who knows NOTHING about the topic.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429000"/>
            <a:ext cx="9509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D2D2D"/>
                </a:solidFill>
                <a:latin typeface="Aptos"/>
              </a:defRPr>
            </a:pPr>
            <a:r>
              <a:t>What is it?</a:t>
            </a:r>
          </a:p>
          <a:p>
            <a:pPr>
              <a:spcAft>
                <a:spcPts val="1300"/>
              </a:spcAft>
              <a:defRPr sz="2200">
                <a:solidFill>
                  <a:srgbClr val="2D2D2D"/>
                </a:solidFill>
                <a:latin typeface="Aptos"/>
              </a:defRPr>
            </a:pPr>
            <a:r>
              <a:t>How does it work?</a:t>
            </a:r>
          </a:p>
          <a:p>
            <a:pPr>
              <a:spcAft>
                <a:spcPts val="1300"/>
              </a:spcAft>
              <a:defRPr sz="2200">
                <a:solidFill>
                  <a:srgbClr val="2D2D2D"/>
                </a:solidFill>
                <a:latin typeface="Aptos"/>
              </a:defRPr>
            </a:pPr>
            <a:r>
              <a:t>Why does it matter?</a:t>
            </a:r>
          </a:p>
          <a:p>
            <a:pPr>
              <a:spcAft>
                <a:spcPts val="1300"/>
              </a:spcAft>
              <a:defRPr sz="2200">
                <a:solidFill>
                  <a:srgbClr val="2D2D2D"/>
                </a:solidFill>
                <a:latin typeface="Aptos"/>
              </a:defRPr>
            </a:pPr>
            <a:r>
              <a:t>How does it connect to other ideas?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A useful warning 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1417320"/>
          </a:xfrm>
          <a:prstGeom prst="roundRect">
            <a:avLst/>
          </a:prstGeom>
          <a:solidFill>
            <a:srgbClr val="F2F6F6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042"/>
                </a:solidFill>
                <a:latin typeface="Aptos Display"/>
              </a:rPr>
              <a:t>If you can't explain it without your notes, you may need more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886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Don't panic — this is useful information.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It tells you exactly what to work on next.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Use retrieval practice, then check your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Put it all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515600" cy="1234440"/>
          </a:xfrm>
          <a:prstGeom prst="roundRect">
            <a:avLst/>
          </a:prstGeom>
          <a:solidFill>
            <a:srgbClr val="EEF2F2"/>
          </a:solidFill>
          <a:ln>
            <a:solidFill>
              <a:srgbClr val="36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042"/>
                </a:solidFill>
                <a:latin typeface="Aptos Display"/>
              </a:rPr>
              <a:t>READ → CLOSE → REMEMBER → PRACTISE → CHECK → REPEAT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204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Space your study across several days.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Test yourself without your notes.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Practise questions like the real assessment.</a:t>
            </a:r>
          </a:p>
          <a:p>
            <a:pPr>
              <a:spcAft>
                <a:spcPts val="1300"/>
              </a:spcAft>
              <a:defRPr sz="2100">
                <a:solidFill>
                  <a:srgbClr val="2D2D2D"/>
                </a:solidFill>
                <a:latin typeface="Aptos"/>
              </a:defRPr>
            </a:pPr>
            <a:r>
              <a:t>Explain ideas and make connections.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Your study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Am I just rereading my notes?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Have I tested myself without looking?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Can I explain this in my own words?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Have I practised answering questions?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Have I come back to this topic on different days?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☐ Do I know what I still need to work 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042"/>
                </a:solidFill>
                <a:latin typeface="Aptos Display"/>
              </a:rPr>
              <a:t>Your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50876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My old study habit: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____________________________________________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A strategy I will try: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____________________________________________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When will I use it?</a:t>
            </a:r>
          </a:p>
          <a:p>
            <a:pPr>
              <a:spcAft>
                <a:spcPts val="1300"/>
              </a:spcAft>
              <a:defRPr sz="2300">
                <a:solidFill>
                  <a:srgbClr val="2D2D2D"/>
                </a:solidFill>
                <a:latin typeface="Aptos"/>
              </a:defRPr>
            </a:pPr>
            <a:r>
              <a:t>____________________________________________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 Display"/>
              </a:rPr>
              <a:t>REMEMBER</a:t>
            </a:r>
          </a:p>
          <a:p>
            <a:pPr algn="ctr"/>
            <a:r>
              <a:rPr sz="2500">
                <a:solidFill>
                  <a:srgbClr val="FFFFFF"/>
                </a:solidFill>
                <a:latin typeface="Aptos"/>
              </a:rPr>
              <a:t>Don't just study until it feels familiar.</a:t>
            </a:r>
          </a:p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Study until you can remember and use it without your notes.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10528"/>
            <a:ext cx="10881360" cy="22860"/>
          </a:xfrm>
          <a:prstGeom prst="rect">
            <a:avLst/>
          </a:prstGeom>
          <a:solidFill>
            <a:srgbClr val="36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96969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39A91C7086847A98671EDF19DF6A7" ma:contentTypeVersion="3" ma:contentTypeDescription="Create a new document." ma:contentTypeScope="" ma:versionID="1ac54db21b4203d299765f3564495803">
  <xsd:schema xmlns:xsd="http://www.w3.org/2001/XMLSchema" xmlns:xs="http://www.w3.org/2001/XMLSchema" xmlns:p="http://schemas.microsoft.com/office/2006/metadata/properties" xmlns:ns2="4f0bfc7f-89f7-4a8e-b4ce-697b04347147" targetNamespace="http://schemas.microsoft.com/office/2006/metadata/properties" ma:root="true" ma:fieldsID="5248034578c8672181713fe683e858fe" ns2:_="">
    <xsd:import namespace="4f0bfc7f-89f7-4a8e-b4ce-697b043471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bfc7f-89f7-4a8e-b4ce-697b043471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BACBDA-F18D-49D0-8F13-B404CCA3CA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0bfc7f-89f7-4a8e-b4ce-697b043471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5B859E2-5C34-4DE0-825B-F0C741135A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28D9D2-64E4-4A77-B7BE-E4417729D50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686</Words>
  <Application>Microsoft Office PowerPoint</Application>
  <PresentationFormat>Widescreen</PresentationFormat>
  <Paragraphs>125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Rosemary CARTER</cp:lastModifiedBy>
  <cp:revision>2</cp:revision>
  <dcterms:created xsi:type="dcterms:W3CDTF">2013-01-27T09:14:16Z</dcterms:created>
  <dcterms:modified xsi:type="dcterms:W3CDTF">2026-09-30T04:51:16Z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0x01010038139A91C7086847A98671EDF19DF6A7</vt:lpwstr>
  </property>
</Properties>
</file>