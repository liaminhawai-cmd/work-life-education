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74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9E071-4B1C-424E-B7F8-BFB539B80762}" v="1" dt="2026-10-03T11:29:07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28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mary CARTER" userId="f5eb7cac-558e-48d4-978f-c6683c08957e" providerId="ADAL" clId="{1B307536-99D5-4237-BFC9-EDF335FC449B}"/>
    <pc:docChg chg="modSld sldOrd">
      <pc:chgData name="Rosemary CARTER" userId="f5eb7cac-558e-48d4-978f-c6683c08957e" providerId="ADAL" clId="{1B307536-99D5-4237-BFC9-EDF335FC449B}" dt="2026-10-03T11:29:55.734" v="3"/>
      <pc:docMkLst>
        <pc:docMk/>
      </pc:docMkLst>
      <pc:sldChg chg="ord">
        <pc:chgData name="Rosemary CARTER" userId="f5eb7cac-558e-48d4-978f-c6683c08957e" providerId="ADAL" clId="{1B307536-99D5-4237-BFC9-EDF335FC449B}" dt="2026-10-03T11:25:16.306" v="1"/>
        <pc:sldMkLst>
          <pc:docMk/>
          <pc:sldMk cId="0" sldId="260"/>
        </pc:sldMkLst>
      </pc:sldChg>
      <pc:sldChg chg="addSp delSp modSp modAnim">
        <pc:chgData name="Rosemary CARTER" userId="f5eb7cac-558e-48d4-978f-c6683c08957e" providerId="ADAL" clId="{1B307536-99D5-4237-BFC9-EDF335FC449B}" dt="2026-10-03T11:29:55.734" v="3"/>
        <pc:sldMkLst>
          <pc:docMk/>
          <pc:sldMk cId="0" sldId="263"/>
        </pc:sldMkLst>
        <pc:spChg chg="del">
          <ac:chgData name="Rosemary CARTER" userId="f5eb7cac-558e-48d4-978f-c6683c08957e" providerId="ADAL" clId="{1B307536-99D5-4237-BFC9-EDF335FC449B}" dt="2026-10-03T11:29:55.734" v="3"/>
          <ac:spMkLst>
            <pc:docMk/>
            <pc:sldMk cId="0" sldId="263"/>
            <ac:spMk id="11" creationId="{00000000-0000-0000-0000-000000000000}"/>
          </ac:spMkLst>
        </pc:spChg>
        <pc:picChg chg="add mod">
          <ac:chgData name="Rosemary CARTER" userId="f5eb7cac-558e-48d4-978f-c6683c08957e" providerId="ADAL" clId="{1B307536-99D5-4237-BFC9-EDF335FC449B}" dt="2026-10-03T11:29:07.198" v="2"/>
          <ac:picMkLst>
            <pc:docMk/>
            <pc:sldMk cId="0" sldId="263"/>
            <ac:picMk id="12" creationId="{5E0CD25E-E1C6-EED5-B130-7DC527AC90B5}"/>
          </ac:picMkLst>
        </pc:picChg>
      </pc:sldChg>
      <pc:sldChg chg="ord">
        <pc:chgData name="Rosemary CARTER" userId="f5eb7cac-558e-48d4-978f-c6683c08957e" providerId="ADAL" clId="{1B307536-99D5-4237-BFC9-EDF335FC449B}" dt="2026-10-03T11:25:09.168" v="0"/>
        <pc:sldMkLst>
          <pc:docMk/>
          <pc:sldMk cId="4206786898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wYOghh03qQ4?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594360"/>
            <a:ext cx="1005840" cy="1005840"/>
          </a:xfrm>
          <a:prstGeom prst="ellipse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1417320"/>
            <a:ext cx="502920" cy="502920"/>
          </a:xfrm>
          <a:prstGeom prst="ellipse">
            <a:avLst/>
          </a:prstGeom>
          <a:solidFill>
            <a:srgbClr val="EFB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38360" y="1874519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52760" y="2240280"/>
            <a:ext cx="777240" cy="777240"/>
          </a:xfrm>
          <a:prstGeom prst="ellipse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7955279" cy="1325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UNDERSTANDING</a:t>
            </a:r>
            <a:br/>
            <a:r>
              <a:t>&amp; MANAGING 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77724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100" b="0">
                <a:solidFill>
                  <a:srgbClr val="CEE5E7"/>
                </a:solidFill>
                <a:latin typeface="Aptos"/>
              </a:defRPr>
            </a:pPr>
            <a:r>
              <a:t>Recognise it • Understand it • Respond to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44768"/>
            <a:ext cx="731520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100" b="0">
                <a:solidFill>
                  <a:srgbClr val="CEDAE4"/>
                </a:solidFill>
                <a:latin typeface="Aptos"/>
              </a:defRPr>
            </a:pPr>
            <a:r>
              <a:t>Health &amp; wellbeing | ReachOut Australia / ReachOut Schools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CEDAE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Learning intention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By the end of the lesson, you should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7772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500" b="1">
                <a:solidFill>
                  <a:srgbClr val="1F344F"/>
                </a:solidFill>
                <a:latin typeface="Aptos"/>
              </a:defRPr>
            </a:pPr>
            <a:r>
              <a:t>Understand what stress is and how it affects you as an individual.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71800"/>
            <a:ext cx="3429000" cy="20574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RECOGNISE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3063240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Explain when stress can help and when it can become unhelpful.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71800"/>
            <a:ext cx="3429000" cy="20574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93592"/>
            <a:ext cx="3063240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Identify physical, emotional and behavioural signs of stress.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971800"/>
            <a:ext cx="3429000" cy="20574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108960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593592"/>
            <a:ext cx="3063240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Identify strategies to manage stress and seek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You do not need to share personal experiences during this lesson.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What is stress?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Stress is a normal part of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10972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300" b="1">
                <a:solidFill>
                  <a:srgbClr val="1F344F"/>
                </a:solidFill>
                <a:latin typeface="Aptos"/>
              </a:defRPr>
            </a:pPr>
            <a:r>
              <a:t>Stress is the body’s response to a challenge or situation that requires us to respond.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132588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0915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SOME STRESS CAN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04872"/>
            <a:ext cx="4709159" cy="5760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It can increase focus, alertness, energy and motivation.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5074920" cy="1325880"/>
          </a:xfrm>
          <a:prstGeom prst="roundRect">
            <a:avLst/>
          </a:prstGeom>
          <a:solidFill>
            <a:srgbClr val="FCF3E4"/>
          </a:solidFill>
          <a:ln>
            <a:solidFill>
              <a:srgbClr val="FC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470915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STRESS CAN ALSO WORK AGAINST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05072"/>
            <a:ext cx="4709159" cy="5760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If it is too intense, happens too often or lasts too long, it can affect wellbeing.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000" b="1">
                <a:solidFill>
                  <a:srgbClr val="2A9191"/>
                </a:solidFill>
                <a:latin typeface="Aptos"/>
              </a:defRPr>
            </a:pPr>
            <a:r>
              <a:t>The goal is not to eliminate all stress — it is to recognise and manage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Activity 1: Stress brainstorm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5–10 minutes | Post-it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937760" cy="5486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100" b="1">
                <a:solidFill>
                  <a:srgbClr val="1F344F"/>
                </a:solidFill>
                <a:latin typeface="Aptos"/>
              </a:defRPr>
            </a:pPr>
            <a:r>
              <a:t>Write one word or short phrase on each 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937760" cy="25603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What does stress feel like?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What causes stress?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Where does pressure come from?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What might someone do when stressed?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What situations create pressure for teenagers?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74920" cy="132588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70915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THINGS I CAN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709159" cy="5760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Preparation • time management • asking for help • my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29000"/>
            <a:ext cx="507492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470915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THINGS I CAN’T ALWAYS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50791"/>
            <a:ext cx="4709159" cy="5760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Other people’s behaviour • unexpected events • past mistakes • some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Place your notes in the control circles on the board. You can keep examples general.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The stress bell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People experience stress differently.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520440" cy="292608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7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TOO LITTLE 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3154680" cy="21762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• Bored</a:t>
            </a:r>
            <a:br/>
            <a:r>
              <a:t>• Unmotivated</a:t>
            </a:r>
            <a:br/>
            <a:r>
              <a:t>• Disengaged</a:t>
            </a:r>
            <a:br/>
            <a:r>
              <a:t>• Not performing at your best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292608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7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A HELPFUL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96312"/>
            <a:ext cx="3154680" cy="21762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• Focused</a:t>
            </a:r>
            <a:br/>
            <a:r>
              <a:t>• Alert</a:t>
            </a:r>
            <a:br/>
            <a:r>
              <a:t>• Motivated</a:t>
            </a:r>
            <a:br/>
            <a:r>
              <a:t>• Ready to respond</a:t>
            </a:r>
            <a:br/>
            <a:r>
              <a:t>• Able to perform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874519"/>
            <a:ext cx="3520440" cy="2926080"/>
          </a:xfrm>
          <a:prstGeom prst="roundRect">
            <a:avLst/>
          </a:prstGeom>
          <a:solidFill>
            <a:srgbClr val="FCF3E4"/>
          </a:solidFill>
          <a:ln>
            <a:solidFill>
              <a:srgbClr val="FC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01167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TOO MUCH STRESS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496312"/>
            <a:ext cx="3154680" cy="21762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Overwhelmed</a:t>
            </a:r>
            <a:br/>
            <a:r>
              <a:t>• Anxious</a:t>
            </a:r>
            <a:br/>
            <a:r>
              <a:t>• Hard to concentrate</a:t>
            </a:r>
            <a:br/>
            <a:r>
              <a:t>• Exhausted</a:t>
            </a:r>
            <a:br/>
            <a:r>
              <a:t>• Poor sleep</a:t>
            </a:r>
            <a:br/>
            <a:r>
              <a:t>• Feeling unable to 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1">
                <a:solidFill>
                  <a:srgbClr val="2A9191"/>
                </a:solidFill>
                <a:latin typeface="Aptos"/>
              </a:defRPr>
            </a:pPr>
            <a:r>
              <a:t>A small amount of stress can help performance. Too much can make performance harder.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FBD4BF-7F2D-D16D-3022-21AA5683F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715" y="643467"/>
            <a:ext cx="784657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86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Think about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Pair discussion — you can use an example from sport, school or everyday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241280" cy="7315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400" b="1">
                <a:solidFill>
                  <a:srgbClr val="1F344F"/>
                </a:solidFill>
                <a:latin typeface="Aptos"/>
              </a:defRPr>
            </a:pPr>
            <a:r>
              <a:t>When might a small amount of stress help someone perform better?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846320" cy="18288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Preparing for a test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Playing sport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Performing on stage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Speaking in front of the class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Completing 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4983480" cy="164592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880360"/>
            <a:ext cx="46177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DISCUSS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64992"/>
            <a:ext cx="4617720" cy="8961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What might change if the stress became too intense or lasted too long?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Recognising stress overload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Stress can affect us physically, emotionally and behaviourally.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611880" cy="352044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04872"/>
            <a:ext cx="3246120" cy="27706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• Headaches or muscle tension</a:t>
            </a:r>
            <a:br/>
            <a:r>
              <a:t>• Upset stomach or nausea</a:t>
            </a:r>
            <a:br/>
            <a:r>
              <a:t>• Difficulty sleeping</a:t>
            </a:r>
            <a:br/>
            <a:r>
              <a:t>• Feeling shaky or exhausted</a:t>
            </a:r>
            <a:br/>
            <a:r>
              <a:t>• Getting sick more often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611880" cy="352044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EMOTIONAL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04872"/>
            <a:ext cx="3246120" cy="27706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• Feeling overwhelmed</a:t>
            </a:r>
            <a:br/>
            <a:r>
              <a:t>• Nervousness or anxiety</a:t>
            </a:r>
            <a:br/>
            <a:r>
              <a:t>• Irritability or mood changes</a:t>
            </a:r>
            <a:br/>
            <a:r>
              <a:t>• Feeling down</a:t>
            </a:r>
            <a:br/>
            <a:r>
              <a:t>• Negative thoughts</a:t>
            </a:r>
            <a:br/>
            <a:r>
              <a:t>• Difficulty relaxing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783080"/>
            <a:ext cx="3611880" cy="3520440"/>
          </a:xfrm>
          <a:prstGeom prst="roundRect">
            <a:avLst/>
          </a:prstGeom>
          <a:solidFill>
            <a:srgbClr val="FCF3E4"/>
          </a:solidFill>
          <a:ln>
            <a:solidFill>
              <a:srgbClr val="FC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59" y="1920240"/>
            <a:ext cx="324612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BEHAVIOURAL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404872"/>
            <a:ext cx="3246120" cy="27706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• Withdrawing from friends/family</a:t>
            </a:r>
            <a:br/>
            <a:r>
              <a:t>• Avoiding responsibilities</a:t>
            </a:r>
            <a:br/>
            <a:r>
              <a:t>• Forgetfulness or poor concentration</a:t>
            </a:r>
            <a:br/>
            <a:r>
              <a:t>• Nail biting or fidgeting</a:t>
            </a:r>
            <a:br/>
            <a:r>
              <a:t>• Losing interest in usual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500" b="1">
                <a:solidFill>
                  <a:srgbClr val="2A9191"/>
                </a:solidFill>
                <a:latin typeface="Aptos"/>
              </a:defRPr>
            </a:pPr>
            <a:r>
              <a:t>Recognising signs early gives you a chance to respond before stress becomes harder to manage.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Video: The Ups and Downs of Stress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2" name="Online Media 11" title="The Ups and Downs of Stress">
            <a:hlinkClick r:id="" action="ppaction://media"/>
            <a:extLst>
              <a:ext uri="{FF2B5EF4-FFF2-40B4-BE49-F238E27FC236}">
                <a16:creationId xmlns:a16="http://schemas.microsoft.com/office/drawing/2014/main" id="{5E0CD25E-E1C6-EED5-B130-7DC527AC90B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92708" y="1193053"/>
            <a:ext cx="9508565" cy="53723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What does stress do to the body?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The body releases stress hormones to prepare us to respond to a challenge.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141732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BRAIN &amp; NERVOUS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3154680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More alert; ongoing stress can mean worry, headaches and difficulty switching 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1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HEART &amp; BREATHING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59152"/>
            <a:ext cx="3154680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Faster heartbeat and breathing; blood pressure may rise.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37360"/>
            <a:ext cx="3520440" cy="1417320"/>
          </a:xfrm>
          <a:prstGeom prst="roundRect">
            <a:avLst/>
          </a:prstGeom>
          <a:solidFill>
            <a:srgbClr val="FCF3E4"/>
          </a:solidFill>
          <a:ln>
            <a:solidFill>
              <a:srgbClr val="FC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187451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DIGESTIVE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359152"/>
            <a:ext cx="3154680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Upset stomach, nausea and digestive discomfort.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3520440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1187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MUSCLES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96511"/>
            <a:ext cx="3154680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Tension can contribute to neck, shoulder and back pain, headaches and body aches.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520440" cy="141732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361187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IMMUNE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096511"/>
            <a:ext cx="3154680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Ongoing stress can affect immune function and recovery.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474720"/>
            <a:ext cx="3520440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3611879"/>
            <a:ext cx="315468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SKIN, HAIR &amp; SEXUAL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096511"/>
            <a:ext cx="3154680" cy="6675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Stress can contribute to skin changes, hair loss in some circumstances, and reduced sexual desire.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1">
                <a:solidFill>
                  <a:srgbClr val="2A9191"/>
                </a:solidFill>
                <a:latin typeface="Aptos"/>
              </a:defRPr>
            </a:pPr>
            <a:r>
              <a:t>Stress is designed to be a short-term response, not a constant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What can I control?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Focus your energy on what you can influence or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329184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THINGS I CAN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4800600" cy="25420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• How I prepare</a:t>
            </a:r>
            <a:br/>
            <a:r>
              <a:t>• How I organise my time</a:t>
            </a:r>
            <a:br/>
            <a:r>
              <a:t>• Whether I ask for help</a:t>
            </a:r>
            <a:br/>
            <a:r>
              <a:t>• How I respond</a:t>
            </a:r>
            <a:br/>
            <a:r>
              <a:t>• How I look after myself</a:t>
            </a:r>
            <a:br/>
            <a:r>
              <a:t>• The actions and choices I make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66360" cy="329184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THINGS I CAN’T ALWAYS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50592"/>
            <a:ext cx="4800600" cy="254203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• Other people’s behaviour or opinions</a:t>
            </a:r>
            <a:br/>
            <a:r>
              <a:t>• Unexpected events</a:t>
            </a:r>
            <a:br/>
            <a:r>
              <a:t>• What has already happened</a:t>
            </a:r>
            <a:br/>
            <a:r>
              <a:t>• Some outcomes</a:t>
            </a:r>
            <a:br/>
            <a:r>
              <a:t>• Things happening around 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000" b="1">
                <a:solidFill>
                  <a:srgbClr val="2A9191"/>
                </a:solidFill>
                <a:latin typeface="Aptos"/>
              </a:defRPr>
            </a:pPr>
            <a:r>
              <a:t>I can’t always control what happens, but I can often control how I respond.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Problem-solving: 8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Use this process when there is something you can do about the situation.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841248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1. 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13432"/>
            <a:ext cx="4800600" cy="91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What exactly is the problem?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691640"/>
            <a:ext cx="51663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828800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2. Set a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313432"/>
            <a:ext cx="4800600" cy="91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What would you like to happen?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15768"/>
            <a:ext cx="5166360" cy="841248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3. Brainstorm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4800600" cy="91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List possible solutions.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2715768"/>
            <a:ext cx="51663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852928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4. Rule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337560"/>
            <a:ext cx="4800600" cy="91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Remove unrealistic or unhelpful options.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39896"/>
            <a:ext cx="5166360" cy="841248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5. Consider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61688"/>
            <a:ext cx="4800600" cy="91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Think through the pros and cons.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739896"/>
            <a:ext cx="51663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59" y="3877056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6. Choose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361688"/>
            <a:ext cx="4800600" cy="91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Select a practical, helpful option.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64024"/>
            <a:ext cx="5166360" cy="841248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901184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7. Try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85816"/>
            <a:ext cx="4800600" cy="91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Put the solution into practice.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4764024"/>
            <a:ext cx="51663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4901184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8.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5385816"/>
            <a:ext cx="4800600" cy="914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300" b="0">
                <a:solidFill>
                  <a:srgbClr val="2D3741"/>
                </a:solidFill>
                <a:latin typeface="Aptos"/>
              </a:defRPr>
            </a:pPr>
            <a:r>
              <a:t>Did it work? If not, try another approach.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424160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200" b="0">
                <a:solidFill>
                  <a:srgbClr val="64707C"/>
                </a:solidFill>
                <a:latin typeface="Aptos"/>
              </a:defRPr>
            </a:pPr>
            <a:r>
              <a:t>Example: Three assignments are due in the same week. List deadlines, break tasks down, plan the order and ask for help if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Have a go: make a problem manageable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Work with a partner or think through the example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6858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300" b="1">
                <a:solidFill>
                  <a:srgbClr val="1F344F"/>
                </a:solidFill>
                <a:latin typeface="Aptos"/>
              </a:defRPr>
            </a:pPr>
            <a:r>
              <a:t>Scenario: You have three assignments due in the same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486400" cy="237744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What is the specific problem?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What is one realistic goal?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List three possible actions.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Which action would you try first?</a:t>
            </a:r>
          </a:p>
          <a:p>
            <a:pPr>
              <a:spcAft>
                <a:spcPts val="10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How would you review whether it helped?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743200"/>
            <a:ext cx="4434840" cy="18288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2880360"/>
            <a:ext cx="406907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364992"/>
            <a:ext cx="4069079" cy="10789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You do not need to solve everything at once. Start with one manageable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When I can’t control the situation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Sometimes there is no solution that can change what has happened.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424160" cy="6400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200" b="1">
                <a:solidFill>
                  <a:srgbClr val="1F344F"/>
                </a:solidFill>
                <a:latin typeface="Aptos"/>
              </a:defRPr>
            </a:pPr>
            <a:r>
              <a:t>Acceptance means recognising what is happening and focusing on what you can do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74720" cy="1965960"/>
          </a:xfrm>
          <a:prstGeom prst="roundRect">
            <a:avLst/>
          </a:prstGeom>
          <a:solidFill>
            <a:srgbClr val="FCF3E4"/>
          </a:solidFill>
          <a:ln>
            <a:solidFill>
              <a:srgbClr val="FC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10896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ACCEPTANCE IS NOT…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310896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• Agreeing with it</a:t>
            </a:r>
            <a:br/>
            <a:r>
              <a:t>• Thinking it is fair</a:t>
            </a:r>
            <a:br/>
            <a:r>
              <a:t>• Liking it</a:t>
            </a:r>
            <a:br/>
            <a:r>
              <a:t>• Giving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474720" cy="196596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310896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TREAT YOURSELF KINDLY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64992"/>
            <a:ext cx="310896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What would you say to a friend in the same situation?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43200"/>
            <a:ext cx="3474720" cy="196596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880360"/>
            <a:ext cx="310896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NOTICE YOUR THOUGHTS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64992"/>
            <a:ext cx="3108960" cy="1216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Thoughts are not always facts. Try: “I just had the thought that…”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424160" cy="5486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700" b="1">
                <a:solidFill>
                  <a:srgbClr val="2A9191"/>
                </a:solidFill>
                <a:latin typeface="Aptos"/>
              </a:defRPr>
            </a:pPr>
            <a:r>
              <a:t>Talking to a trusted person can also help you feel less alone and put things in perspective.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Managing exam stress: before the exam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Small practical steps can reduce unnecessary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34290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800600" cy="26791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• Prepare rather than cram</a:t>
            </a:r>
            <a:br/>
            <a:r>
              <a:t>• Organise your equipment</a:t>
            </a:r>
            <a:br/>
            <a:r>
              <a:t>• Manage your time</a:t>
            </a:r>
            <a:br/>
            <a:r>
              <a:t>• Break work into smaller tasks</a:t>
            </a:r>
            <a:br/>
            <a:r>
              <a:t>• Take regular breaks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342900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800600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LOOK AFTER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04872"/>
            <a:ext cx="4800600" cy="26791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800" b="0">
                <a:solidFill>
                  <a:srgbClr val="2D3741"/>
                </a:solidFill>
                <a:latin typeface="Aptos"/>
              </a:defRPr>
            </a:pPr>
            <a:r>
              <a:t>• Get enough sleep</a:t>
            </a:r>
            <a:br/>
            <a:r>
              <a:t>• Eat and drink appropriately</a:t>
            </a:r>
            <a:br/>
            <a:r>
              <a:t>• Use breathing or mindfulness</a:t>
            </a:r>
            <a:br/>
            <a:r>
              <a:t>• Use positive self-talk</a:t>
            </a:r>
            <a:br/>
            <a:r>
              <a:t>• Ask for help if you need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700" b="1">
                <a:solidFill>
                  <a:srgbClr val="2A9191"/>
                </a:solidFill>
                <a:latin typeface="Aptos"/>
              </a:defRPr>
            </a:pPr>
            <a:r>
              <a:t>Aim for steady preparation, not last-minute perfection.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Managing exam stress: during the exam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If you feel overwhelmed, focus on the next manageable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28957"/>
            <a:ext cx="10469880" cy="6858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19282"/>
            <a:ext cx="1010411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1. Pause and breathe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10104119" cy="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Take a slow breath in through your nose and gently breathe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43147"/>
            <a:ext cx="10469880" cy="68580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601573"/>
            <a:ext cx="1010411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2. Read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18104"/>
            <a:ext cx="10104119" cy="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t>Check what each question is asking.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46704"/>
            <a:ext cx="10469880" cy="6858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483864"/>
            <a:ext cx="1010411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3. Be your own coach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06725"/>
            <a:ext cx="10104119" cy="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rPr dirty="0"/>
              <a:t>“I can work through this one question at a time.”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99123"/>
            <a:ext cx="10469880" cy="685800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557549"/>
            <a:ext cx="1010411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rPr dirty="0"/>
              <a:t>4. Take a micro-break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27245"/>
            <a:ext cx="10104119" cy="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rPr dirty="0"/>
              <a:t>If permitted, stretch or take a sip of water.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30276"/>
            <a:ext cx="10469880" cy="6858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578069"/>
            <a:ext cx="1010411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rPr dirty="0"/>
              <a:t>5. Move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179664"/>
            <a:ext cx="10104119" cy="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2D3741"/>
                </a:solidFill>
                <a:latin typeface="Aptos"/>
              </a:defRPr>
            </a:pPr>
            <a:r>
              <a:rPr dirty="0"/>
              <a:t>If stuck, move on and return later if time allows.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Looking after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There is no single strategy that works for everyone.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486400" cy="356616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Get enough sleep</a:t>
            </a:r>
          </a:p>
          <a:p>
            <a:pPr>
              <a:spcAft>
                <a:spcPts val="9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Move your body regularly</a:t>
            </a:r>
          </a:p>
          <a:p>
            <a:pPr>
              <a:spcAft>
                <a:spcPts val="9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Take breaks and do things you enjoy</a:t>
            </a:r>
          </a:p>
          <a:p>
            <a:pPr>
              <a:spcAft>
                <a:spcPts val="9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Practise breathing or mindfulness</a:t>
            </a:r>
          </a:p>
          <a:p>
            <a:pPr>
              <a:spcAft>
                <a:spcPts val="9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Stay connected with friends and family</a:t>
            </a:r>
          </a:p>
          <a:p>
            <a:pPr>
              <a:spcAft>
                <a:spcPts val="9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Organise your time and break up big tasks</a:t>
            </a:r>
          </a:p>
          <a:p>
            <a:pPr>
              <a:spcAft>
                <a:spcPts val="9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Talk to someone you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331720"/>
            <a:ext cx="4389120" cy="205740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2468879"/>
            <a:ext cx="402335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ASK FOR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953512"/>
            <a:ext cx="4023359" cy="130759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700" b="0">
                <a:solidFill>
                  <a:srgbClr val="2D3741"/>
                </a:solidFill>
                <a:latin typeface="Aptos"/>
              </a:defRPr>
            </a:pPr>
            <a:r>
              <a:t>If stress is ongoing, overwhelming or affecting everyday life, talk with a trusted adult or health professional.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000" b="1">
                <a:solidFill>
                  <a:srgbClr val="2A9191"/>
                </a:solidFill>
                <a:latin typeface="Aptos"/>
              </a:defRPr>
            </a:pPr>
            <a:r>
              <a:t>You don’t have to manage everything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Reflection: one next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You can keep your response private — you do not need to share it with the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2100" b="1">
                <a:solidFill>
                  <a:srgbClr val="1F344F"/>
                </a:solidFill>
                <a:latin typeface="Aptos"/>
              </a:defRPr>
            </a:pPr>
            <a:r>
              <a:t>Think about a common source of stress for students (for example, deadlines or exams).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241280" cy="219456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What part of the situation might be within someone’s control?</a:t>
            </a:r>
          </a:p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What is one practical step they could take?</a:t>
            </a:r>
          </a:p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If it is outside their control, what might help them cope?</a:t>
            </a:r>
          </a:p>
          <a:p>
            <a:pPr>
              <a:spcAft>
                <a:spcPts val="1200"/>
              </a:spcAft>
              <a:defRPr sz="1800">
                <a:solidFill>
                  <a:srgbClr val="2D3741"/>
                </a:solidFill>
                <a:latin typeface="Aptos"/>
              </a:defRPr>
            </a:pPr>
            <a:r>
              <a:t>Who could they talk to if the stress became overwhelming?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700" b="1">
                <a:solidFill>
                  <a:srgbClr val="2A9191"/>
                </a:solidFill>
                <a:latin typeface="Aptos"/>
              </a:defRPr>
            </a:pPr>
            <a:r>
              <a:t>Key message: Recognise stress early, focus on what you can influence, and seek support when needed.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3000" b="1">
                <a:solidFill>
                  <a:srgbClr val="1F344F"/>
                </a:solidFill>
                <a:latin typeface="Aptos"/>
              </a:defRPr>
            </a:pPr>
            <a:r>
              <a:t>Sources and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60120" cy="54864"/>
          </a:xfrm>
          <a:prstGeom prst="rect">
            <a:avLst/>
          </a:prstGeom>
          <a:solidFill>
            <a:srgbClr val="2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400" b="0">
                <a:solidFill>
                  <a:srgbClr val="64707C"/>
                </a:solidFill>
                <a:latin typeface="Aptos"/>
              </a:defRPr>
            </a:pPr>
            <a:r>
              <a:t>Based on ReachOut Australia / ReachOut Schools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defRPr sz="900" b="0">
                <a:solidFill>
                  <a:srgbClr val="64707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29184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What is stress? https://schools.au.reachout.com/study-stress/what-is-stress</a:t>
            </a:r>
          </a:p>
          <a:p>
            <a:pPr>
              <a:spcAft>
                <a:spcPts val="12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What does stress do to the body? https://au.reachout.com/articles/what-does-stress-do-to-the-body</a:t>
            </a:r>
          </a:p>
          <a:p>
            <a:pPr>
              <a:spcAft>
                <a:spcPts val="12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A step-by-step guide to problem solving: https://au.reachout.com/articles/a-step-by-step-guide-to-problem-solving</a:t>
            </a:r>
          </a:p>
          <a:p>
            <a:pPr>
              <a:spcAft>
                <a:spcPts val="12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How acceptance can help you cope with things out of your control: https://au.reachout.com/articles/how-acceptance-can-help-you-cope-with-things-out-of-your-control</a:t>
            </a:r>
          </a:p>
          <a:p>
            <a:pPr>
              <a:spcAft>
                <a:spcPts val="12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t>The Ups and Downs of Stress video: https://www.youtube.com/watch?v=wYOghh03qQ4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66360"/>
            <a:ext cx="10469880" cy="822960"/>
          </a:xfrm>
          <a:prstGeom prst="roundRect">
            <a:avLst/>
          </a:prstGeom>
          <a:solidFill>
            <a:srgbClr val="EBF6F5"/>
          </a:solidFill>
          <a:ln>
            <a:solidFill>
              <a:srgbClr val="EBF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10104119" cy="384048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900" b="1">
                <a:solidFill>
                  <a:srgbClr val="1F344F"/>
                </a:solidFill>
                <a:latin typeface="Aptos"/>
              </a:defRPr>
            </a:pPr>
            <a:r>
              <a:t>NEED SUPPORT?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88152"/>
            <a:ext cx="10104119" cy="7315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>
              <a:defRPr sz="1500" b="0">
                <a:solidFill>
                  <a:srgbClr val="2D3741"/>
                </a:solidFill>
                <a:latin typeface="Aptos"/>
              </a:defRPr>
            </a:pPr>
            <a:r>
              <a:t>Speak with a trusted adult, parent/carer, teacher, school wellbeing staff member or health professional.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39A91C7086847A98671EDF19DF6A7" ma:contentTypeVersion="3" ma:contentTypeDescription="Create a new document." ma:contentTypeScope="" ma:versionID="1ac54db21b4203d299765f3564495803">
  <xsd:schema xmlns:xsd="http://www.w3.org/2001/XMLSchema" xmlns:xs="http://www.w3.org/2001/XMLSchema" xmlns:p="http://schemas.microsoft.com/office/2006/metadata/properties" xmlns:ns2="4f0bfc7f-89f7-4a8e-b4ce-697b04347147" targetNamespace="http://schemas.microsoft.com/office/2006/metadata/properties" ma:root="true" ma:fieldsID="5248034578c8672181713fe683e858fe" ns2:_="">
    <xsd:import namespace="4f0bfc7f-89f7-4a8e-b4ce-697b043471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bfc7f-89f7-4a8e-b4ce-697b043471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BDDCC3-9698-4A8C-9BBD-D2751F4610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0bfc7f-89f7-4a8e-b4ce-697b043471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FB49E3-5CE3-481C-ACBD-50E2E55ACE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D44D8F-B207-419C-BAFE-5CC1F214CF70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4f0bfc7f-89f7-4a8e-b4ce-697b04347147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2126</TotalTime>
  <Words>1627</Words>
  <Application>Microsoft Office PowerPoint</Application>
  <PresentationFormat>Widescreen</PresentationFormat>
  <Paragraphs>190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Rosemary CARTER</cp:lastModifiedBy>
  <cp:revision>2</cp:revision>
  <dcterms:created xsi:type="dcterms:W3CDTF">2013-01-27T09:14:16Z</dcterms:created>
  <dcterms:modified xsi:type="dcterms:W3CDTF">2026-10-03T11:33:24Z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0x01010038139A91C7086847A98671EDF19DF6A7</vt:lpwstr>
  </property>
</Properties>
</file>